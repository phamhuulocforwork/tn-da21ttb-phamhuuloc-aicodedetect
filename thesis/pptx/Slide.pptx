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9" r:id="rId1"/>
    <p:sldMasterId id="2147483670" r:id="rId2"/>
    <p:sldMasterId id="2147483672" r:id="rId3"/>
  </p:sldMasterIdLst>
  <p:notesMasterIdLst>
    <p:notesMasterId r:id="rId42"/>
  </p:notesMasterIdLst>
  <p:sldIdLst>
    <p:sldId id="291" r:id="rId4"/>
    <p:sldId id="292" r:id="rId5"/>
    <p:sldId id="293" r:id="rId6"/>
    <p:sldId id="294" r:id="rId7"/>
    <p:sldId id="296" r:id="rId8"/>
    <p:sldId id="298" r:id="rId9"/>
    <p:sldId id="299" r:id="rId10"/>
    <p:sldId id="302" r:id="rId11"/>
    <p:sldId id="300" r:id="rId12"/>
    <p:sldId id="304" r:id="rId13"/>
    <p:sldId id="305" r:id="rId14"/>
    <p:sldId id="303" r:id="rId15"/>
    <p:sldId id="307" r:id="rId16"/>
    <p:sldId id="308" r:id="rId17"/>
    <p:sldId id="306" r:id="rId18"/>
    <p:sldId id="309" r:id="rId19"/>
    <p:sldId id="311" r:id="rId20"/>
    <p:sldId id="323" r:id="rId21"/>
    <p:sldId id="324" r:id="rId22"/>
    <p:sldId id="312" r:id="rId23"/>
    <p:sldId id="314" r:id="rId24"/>
    <p:sldId id="313" r:id="rId25"/>
    <p:sldId id="315" r:id="rId26"/>
    <p:sldId id="326" r:id="rId27"/>
    <p:sldId id="325" r:id="rId28"/>
    <p:sldId id="327" r:id="rId29"/>
    <p:sldId id="330" r:id="rId30"/>
    <p:sldId id="329" r:id="rId31"/>
    <p:sldId id="328" r:id="rId32"/>
    <p:sldId id="301" r:id="rId33"/>
    <p:sldId id="320" r:id="rId34"/>
    <p:sldId id="321" r:id="rId35"/>
    <p:sldId id="316" r:id="rId36"/>
    <p:sldId id="317" r:id="rId37"/>
    <p:sldId id="318" r:id="rId38"/>
    <p:sldId id="331" r:id="rId39"/>
    <p:sldId id="322" r:id="rId40"/>
    <p:sldId id="319" r:id="rId41"/>
  </p:sldIdLst>
  <p:sldSz cx="12192000" cy="6858000"/>
  <p:notesSz cx="6858000" cy="9144000"/>
  <p:embeddedFontLst>
    <p:embeddedFont>
      <p:font typeface="Fz Poppins Black" pitchFamily="2" charset="0"/>
      <p:bold r:id="rId43"/>
      <p:boldItalic r:id="rId44"/>
    </p:embeddedFont>
    <p:embeddedFont>
      <p:font typeface="Fz Poppins ExtBd" pitchFamily="2" charset="0"/>
      <p:bold r:id="rId45"/>
      <p:boldItalic r:id="rId46"/>
    </p:embeddedFont>
    <p:embeddedFont>
      <p:font typeface="Fz Poppins Med" pitchFamily="2" charset="0"/>
      <p:regular r:id="rId47"/>
      <p:italic r:id="rId48"/>
    </p:embeddedFont>
    <p:embeddedFont>
      <p:font typeface="Fz Poppins SemBd" pitchFamily="2" charset="0"/>
      <p:bold r:id="rId49"/>
      <p:boldItalic r:id="rId50"/>
    </p:embeddedFont>
    <p:embeddedFont>
      <p:font typeface="Gadugi" panose="020B0502040204020203" pitchFamily="34" charset="0"/>
      <p:regular r:id="rId51"/>
      <p:bold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4E"/>
    <a:srgbClr val="0013C8"/>
    <a:srgbClr val="0012B8"/>
    <a:srgbClr val="0017F6"/>
    <a:srgbClr val="172CFF"/>
    <a:srgbClr val="03085D"/>
    <a:srgbClr val="4759FF"/>
    <a:srgbClr val="253AFF"/>
    <a:srgbClr val="0920FF"/>
    <a:srgbClr val="0017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52" autoAdjust="0"/>
    <p:restoredTop sz="94660"/>
  </p:normalViewPr>
  <p:slideViewPr>
    <p:cSldViewPr snapToGrid="0">
      <p:cViewPr varScale="1">
        <p:scale>
          <a:sx n="165" d="100"/>
          <a:sy n="165" d="100"/>
        </p:scale>
        <p:origin x="36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3.fntdata"/><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2.fntdata"/><Relationship Id="rId52" Type="http://schemas.openxmlformats.org/officeDocument/2006/relationships/font" Target="fonts/font10.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font" Target="fonts/font9.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4.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995FA0-B5A1-4165-B0FC-3489903EEB2B}" type="datetimeFigureOut">
              <a:rPr lang="en-US" smtClean="0"/>
              <a:t>9/4/2025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A9E51D-E113-4D59-89F5-45B54F17E448}" type="slidenum">
              <a:rPr lang="en-US" smtClean="0"/>
              <a:t>‹#›</a:t>
            </a:fld>
            <a:endParaRPr lang="en-US"/>
          </a:p>
        </p:txBody>
      </p:sp>
    </p:spTree>
    <p:extLst>
      <p:ext uri="{BB962C8B-B14F-4D97-AF65-F5344CB8AC3E}">
        <p14:creationId xmlns:p14="http://schemas.microsoft.com/office/powerpoint/2010/main" val="161637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FEA9-12F8-4F65-9632-53B2A94E07EE}"/>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dirty="0"/>
              <a:t>CLICK TO ADD TEXT</a:t>
            </a:r>
          </a:p>
        </p:txBody>
      </p:sp>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Tree>
    <p:extLst>
      <p:ext uri="{BB962C8B-B14F-4D97-AF65-F5344CB8AC3E}">
        <p14:creationId xmlns:p14="http://schemas.microsoft.com/office/powerpoint/2010/main" val="559989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40" name="Text Placeholder 13">
            <a:extLst>
              <a:ext uri="{FF2B5EF4-FFF2-40B4-BE49-F238E27FC236}">
                <a16:creationId xmlns:a16="http://schemas.microsoft.com/office/drawing/2014/main" id="{CF49FBAA-83B3-4C07-B033-5616E9D6C7AB}"/>
              </a:ext>
            </a:extLst>
          </p:cNvPr>
          <p:cNvSpPr>
            <a:spLocks noGrp="1"/>
          </p:cNvSpPr>
          <p:nvPr>
            <p:ph type="body" sz="quarter" idx="32" hasCustomPrompt="1"/>
          </p:nvPr>
        </p:nvSpPr>
        <p:spPr>
          <a:xfrm>
            <a:off x="4845657" y="1598275"/>
            <a:ext cx="2500686" cy="574721"/>
          </a:xfrm>
          <a:prstGeom prst="rect">
            <a:avLst/>
          </a:prstGeom>
        </p:spPr>
        <p:txBody>
          <a:bodyPr lIns="0" tIns="0" rIns="0" bIns="0" anchor="ctr"/>
          <a:lstStyle>
            <a:lvl1pPr marL="0" indent="0" algn="ctr">
              <a:buNone/>
              <a:defRPr sz="3600" b="0">
                <a:solidFill>
                  <a:schemeClr val="accent4"/>
                </a:solidFill>
                <a:latin typeface="Fz Poppins ExtBd" pitchFamily="2" charset="0"/>
                <a:ea typeface="Inter V Black" panose="02000503000000020004" pitchFamily="2" charset="0"/>
                <a:cs typeface="Fz Poppins ExtBd" pitchFamily="2" charset="0"/>
              </a:defRPr>
            </a:lvl1pPr>
          </a:lstStyle>
          <a:p>
            <a:pPr lvl="0"/>
            <a:r>
              <a:rPr lang="en-US"/>
              <a:t>00</a:t>
            </a:r>
            <a:endParaRPr lang="en-US" dirty="0"/>
          </a:p>
        </p:txBody>
      </p:sp>
      <p:sp>
        <p:nvSpPr>
          <p:cNvPr id="41" name="Text Placeholder 15">
            <a:extLst>
              <a:ext uri="{FF2B5EF4-FFF2-40B4-BE49-F238E27FC236}">
                <a16:creationId xmlns:a16="http://schemas.microsoft.com/office/drawing/2014/main" id="{82FCDA05-3F2E-4830-A125-EE3AF4CB6D78}"/>
              </a:ext>
            </a:extLst>
          </p:cNvPr>
          <p:cNvSpPr>
            <a:spLocks noGrp="1"/>
          </p:cNvSpPr>
          <p:nvPr>
            <p:ph type="body" sz="quarter" idx="33" hasCustomPrompt="1"/>
          </p:nvPr>
        </p:nvSpPr>
        <p:spPr>
          <a:xfrm>
            <a:off x="4845657" y="2189558"/>
            <a:ext cx="2500686" cy="1239442"/>
          </a:xfrm>
          <a:prstGeom prst="rect">
            <a:avLst/>
          </a:prstGeom>
        </p:spPr>
        <p:txBody>
          <a:bodyPr lIns="0" tIns="0" rIns="0" bIns="0" anchor="ctr"/>
          <a:lstStyle>
            <a:lvl1pPr marL="0" indent="0" algn="ctr">
              <a:lnSpc>
                <a:spcPct val="90000"/>
              </a:lnSpc>
              <a:spcBef>
                <a:spcPts val="1000"/>
              </a:spcBef>
              <a:spcAft>
                <a:spcPts val="0"/>
              </a:spcAft>
              <a:buNone/>
              <a:defRPr sz="1800" b="0">
                <a:solidFill>
                  <a:schemeClr val="tx2"/>
                </a:solidFill>
                <a:latin typeface="Fz Poppins ExtBd" pitchFamily="2" charset="0"/>
                <a:ea typeface="Inter Black" panose="02000A03000000020004" pitchFamily="50" charset="0"/>
                <a:cs typeface="Fz Poppins ExtBd"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TIÊU </a:t>
            </a:r>
            <a:r>
              <a:rPr lang="en-US"/>
              <a:t>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p:txBody>
      </p:sp>
      <p:sp>
        <p:nvSpPr>
          <p:cNvPr id="52" name="Text Placeholder 13">
            <a:extLst>
              <a:ext uri="{FF2B5EF4-FFF2-40B4-BE49-F238E27FC236}">
                <a16:creationId xmlns:a16="http://schemas.microsoft.com/office/drawing/2014/main" id="{0905D41D-FB0A-4D5F-953E-7B4725B96A14}"/>
              </a:ext>
            </a:extLst>
          </p:cNvPr>
          <p:cNvSpPr>
            <a:spLocks noGrp="1"/>
          </p:cNvSpPr>
          <p:nvPr>
            <p:ph type="body" sz="quarter" idx="34" hasCustomPrompt="1"/>
          </p:nvPr>
        </p:nvSpPr>
        <p:spPr>
          <a:xfrm>
            <a:off x="7674582" y="1598275"/>
            <a:ext cx="2500686" cy="574721"/>
          </a:xfrm>
          <a:prstGeom prst="rect">
            <a:avLst/>
          </a:prstGeom>
        </p:spPr>
        <p:txBody>
          <a:bodyPr lIns="0" tIns="0" rIns="0" bIns="0" anchor="ctr"/>
          <a:lstStyle>
            <a:lvl1pPr marL="0" indent="0" algn="ctr">
              <a:buNone/>
              <a:defRPr sz="3600" b="0">
                <a:solidFill>
                  <a:schemeClr val="accent4"/>
                </a:solidFill>
                <a:latin typeface="Fz Poppins ExtBd" pitchFamily="2" charset="0"/>
                <a:ea typeface="Inter V Black" panose="02000503000000020004" pitchFamily="2" charset="0"/>
                <a:cs typeface="Fz Poppins ExtBd" pitchFamily="2" charset="0"/>
              </a:defRPr>
            </a:lvl1pPr>
          </a:lstStyle>
          <a:p>
            <a:pPr lvl="0"/>
            <a:r>
              <a:rPr lang="en-US"/>
              <a:t>00</a:t>
            </a:r>
            <a:endParaRPr lang="en-US" dirty="0"/>
          </a:p>
        </p:txBody>
      </p:sp>
      <p:sp>
        <p:nvSpPr>
          <p:cNvPr id="53" name="Text Placeholder 15">
            <a:extLst>
              <a:ext uri="{FF2B5EF4-FFF2-40B4-BE49-F238E27FC236}">
                <a16:creationId xmlns:a16="http://schemas.microsoft.com/office/drawing/2014/main" id="{59280621-3A9A-47C9-B1C3-58DB9EA531B0}"/>
              </a:ext>
            </a:extLst>
          </p:cNvPr>
          <p:cNvSpPr>
            <a:spLocks noGrp="1"/>
          </p:cNvSpPr>
          <p:nvPr>
            <p:ph type="body" sz="quarter" idx="35" hasCustomPrompt="1"/>
          </p:nvPr>
        </p:nvSpPr>
        <p:spPr>
          <a:xfrm>
            <a:off x="7674582" y="2189558"/>
            <a:ext cx="2500686" cy="1239442"/>
          </a:xfrm>
          <a:prstGeom prst="rect">
            <a:avLst/>
          </a:prstGeom>
        </p:spPr>
        <p:txBody>
          <a:bodyPr lIns="0" tIns="0" rIns="0" bIns="0" anchor="ctr"/>
          <a:lstStyle>
            <a:lvl1pPr marL="0" indent="0" algn="ctr">
              <a:lnSpc>
                <a:spcPct val="90000"/>
              </a:lnSpc>
              <a:spcBef>
                <a:spcPts val="1000"/>
              </a:spcBef>
              <a:spcAft>
                <a:spcPts val="0"/>
              </a:spcAft>
              <a:buNone/>
              <a:defRPr sz="1800" b="0">
                <a:solidFill>
                  <a:schemeClr val="tx2"/>
                </a:solidFill>
                <a:latin typeface="Fz Poppins ExtBd" pitchFamily="2" charset="0"/>
                <a:ea typeface="Inter Black" panose="02000A03000000020004" pitchFamily="50" charset="0"/>
                <a:cs typeface="Fz Poppins ExtBd"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TIÊU </a:t>
            </a:r>
            <a:r>
              <a:rPr lang="en-US"/>
              <a:t>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p:txBody>
      </p:sp>
      <p:sp>
        <p:nvSpPr>
          <p:cNvPr id="54" name="Text Placeholder 13">
            <a:extLst>
              <a:ext uri="{FF2B5EF4-FFF2-40B4-BE49-F238E27FC236}">
                <a16:creationId xmlns:a16="http://schemas.microsoft.com/office/drawing/2014/main" id="{D9E9EED5-1887-4E5B-8D7B-E03CF7D44050}"/>
              </a:ext>
            </a:extLst>
          </p:cNvPr>
          <p:cNvSpPr>
            <a:spLocks noGrp="1"/>
          </p:cNvSpPr>
          <p:nvPr>
            <p:ph type="body" sz="quarter" idx="36" hasCustomPrompt="1"/>
          </p:nvPr>
        </p:nvSpPr>
        <p:spPr>
          <a:xfrm>
            <a:off x="2016732" y="1598275"/>
            <a:ext cx="2500686" cy="574721"/>
          </a:xfrm>
          <a:prstGeom prst="rect">
            <a:avLst/>
          </a:prstGeom>
        </p:spPr>
        <p:txBody>
          <a:bodyPr lIns="0" tIns="0" rIns="0" bIns="0" anchor="ctr"/>
          <a:lstStyle>
            <a:lvl1pPr marL="0" indent="0" algn="ctr">
              <a:buNone/>
              <a:defRPr sz="3600" b="0">
                <a:solidFill>
                  <a:schemeClr val="accent4"/>
                </a:solidFill>
                <a:latin typeface="Fz Poppins ExtBd" pitchFamily="2" charset="0"/>
                <a:ea typeface="Inter V Black" panose="02000503000000020004" pitchFamily="2" charset="0"/>
                <a:cs typeface="Fz Poppins ExtBd" pitchFamily="2" charset="0"/>
              </a:defRPr>
            </a:lvl1pPr>
          </a:lstStyle>
          <a:p>
            <a:pPr lvl="0"/>
            <a:r>
              <a:rPr lang="en-US"/>
              <a:t>00</a:t>
            </a:r>
            <a:endParaRPr lang="en-US" dirty="0"/>
          </a:p>
        </p:txBody>
      </p:sp>
      <p:sp>
        <p:nvSpPr>
          <p:cNvPr id="55" name="Text Placeholder 15">
            <a:extLst>
              <a:ext uri="{FF2B5EF4-FFF2-40B4-BE49-F238E27FC236}">
                <a16:creationId xmlns:a16="http://schemas.microsoft.com/office/drawing/2014/main" id="{26A2D2E2-401C-4E5F-935C-400DD21CCAA6}"/>
              </a:ext>
            </a:extLst>
          </p:cNvPr>
          <p:cNvSpPr>
            <a:spLocks noGrp="1"/>
          </p:cNvSpPr>
          <p:nvPr>
            <p:ph type="body" sz="quarter" idx="37" hasCustomPrompt="1"/>
          </p:nvPr>
        </p:nvSpPr>
        <p:spPr>
          <a:xfrm>
            <a:off x="2016732" y="2189558"/>
            <a:ext cx="2500686" cy="1239442"/>
          </a:xfrm>
          <a:prstGeom prst="rect">
            <a:avLst/>
          </a:prstGeom>
        </p:spPr>
        <p:txBody>
          <a:bodyPr lIns="0" tIns="0" rIns="0" bIns="0" anchor="ctr"/>
          <a:lstStyle>
            <a:lvl1pPr marL="0" indent="0" algn="ctr">
              <a:lnSpc>
                <a:spcPct val="90000"/>
              </a:lnSpc>
              <a:spcBef>
                <a:spcPts val="1000"/>
              </a:spcBef>
              <a:spcAft>
                <a:spcPts val="0"/>
              </a:spcAft>
              <a:buNone/>
              <a:defRPr sz="1800" b="0">
                <a:solidFill>
                  <a:schemeClr val="tx2"/>
                </a:solidFill>
                <a:latin typeface="Fz Poppins ExtBd" pitchFamily="2" charset="0"/>
                <a:ea typeface="Inter Black" panose="02000A03000000020004" pitchFamily="50" charset="0"/>
                <a:cs typeface="Fz Poppins ExtBd"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TIÊU </a:t>
            </a:r>
            <a:r>
              <a:rPr lang="en-US"/>
              <a:t>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p:txBody>
      </p:sp>
      <p:sp>
        <p:nvSpPr>
          <p:cNvPr id="56" name="Text Placeholder 13">
            <a:extLst>
              <a:ext uri="{FF2B5EF4-FFF2-40B4-BE49-F238E27FC236}">
                <a16:creationId xmlns:a16="http://schemas.microsoft.com/office/drawing/2014/main" id="{2C236382-A0CB-4EDC-A0C2-21D2DAE21F3C}"/>
              </a:ext>
            </a:extLst>
          </p:cNvPr>
          <p:cNvSpPr>
            <a:spLocks noGrp="1"/>
          </p:cNvSpPr>
          <p:nvPr>
            <p:ph type="body" sz="quarter" idx="38" hasCustomPrompt="1"/>
          </p:nvPr>
        </p:nvSpPr>
        <p:spPr>
          <a:xfrm>
            <a:off x="4845657" y="3689951"/>
            <a:ext cx="2500686" cy="574721"/>
          </a:xfrm>
          <a:prstGeom prst="rect">
            <a:avLst/>
          </a:prstGeom>
        </p:spPr>
        <p:txBody>
          <a:bodyPr lIns="0" tIns="0" rIns="0" bIns="0" anchor="ctr"/>
          <a:lstStyle>
            <a:lvl1pPr marL="0" indent="0" algn="ctr">
              <a:buNone/>
              <a:defRPr sz="3600" b="0">
                <a:solidFill>
                  <a:schemeClr val="accent4"/>
                </a:solidFill>
                <a:latin typeface="Fz Poppins ExtBd" pitchFamily="2" charset="0"/>
                <a:ea typeface="Inter V Black" panose="02000503000000020004" pitchFamily="2" charset="0"/>
                <a:cs typeface="Fz Poppins ExtBd" pitchFamily="2" charset="0"/>
              </a:defRPr>
            </a:lvl1pPr>
          </a:lstStyle>
          <a:p>
            <a:pPr lvl="0"/>
            <a:r>
              <a:rPr lang="en-US"/>
              <a:t>00</a:t>
            </a:r>
            <a:endParaRPr lang="en-US" dirty="0"/>
          </a:p>
        </p:txBody>
      </p:sp>
      <p:sp>
        <p:nvSpPr>
          <p:cNvPr id="57" name="Text Placeholder 15">
            <a:extLst>
              <a:ext uri="{FF2B5EF4-FFF2-40B4-BE49-F238E27FC236}">
                <a16:creationId xmlns:a16="http://schemas.microsoft.com/office/drawing/2014/main" id="{014FCBBA-87D6-478C-9391-8B030AFB8809}"/>
              </a:ext>
            </a:extLst>
          </p:cNvPr>
          <p:cNvSpPr>
            <a:spLocks noGrp="1"/>
          </p:cNvSpPr>
          <p:nvPr>
            <p:ph type="body" sz="quarter" idx="39" hasCustomPrompt="1"/>
          </p:nvPr>
        </p:nvSpPr>
        <p:spPr>
          <a:xfrm>
            <a:off x="4845657" y="4281234"/>
            <a:ext cx="2500686" cy="1239442"/>
          </a:xfrm>
          <a:prstGeom prst="rect">
            <a:avLst/>
          </a:prstGeom>
        </p:spPr>
        <p:txBody>
          <a:bodyPr lIns="0" tIns="0" rIns="0" bIns="0" anchor="ctr"/>
          <a:lstStyle>
            <a:lvl1pPr marL="0" indent="0" algn="ctr">
              <a:lnSpc>
                <a:spcPct val="90000"/>
              </a:lnSpc>
              <a:spcBef>
                <a:spcPts val="1000"/>
              </a:spcBef>
              <a:spcAft>
                <a:spcPts val="0"/>
              </a:spcAft>
              <a:buNone/>
              <a:defRPr sz="1800" b="0">
                <a:solidFill>
                  <a:schemeClr val="tx2"/>
                </a:solidFill>
                <a:latin typeface="Fz Poppins ExtBd" pitchFamily="2" charset="0"/>
                <a:ea typeface="Inter Black" panose="02000A03000000020004" pitchFamily="50" charset="0"/>
                <a:cs typeface="Fz Poppins ExtBd"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TIÊU </a:t>
            </a:r>
            <a:r>
              <a:rPr lang="en-US"/>
              <a:t>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p:txBody>
      </p:sp>
      <p:sp>
        <p:nvSpPr>
          <p:cNvPr id="58" name="Text Placeholder 13">
            <a:extLst>
              <a:ext uri="{FF2B5EF4-FFF2-40B4-BE49-F238E27FC236}">
                <a16:creationId xmlns:a16="http://schemas.microsoft.com/office/drawing/2014/main" id="{12248DBE-9F37-48B9-B66D-6D1ECB40C7FC}"/>
              </a:ext>
            </a:extLst>
          </p:cNvPr>
          <p:cNvSpPr>
            <a:spLocks noGrp="1"/>
          </p:cNvSpPr>
          <p:nvPr>
            <p:ph type="body" sz="quarter" idx="40" hasCustomPrompt="1"/>
          </p:nvPr>
        </p:nvSpPr>
        <p:spPr>
          <a:xfrm>
            <a:off x="7674582" y="3689951"/>
            <a:ext cx="2500686" cy="574721"/>
          </a:xfrm>
          <a:prstGeom prst="rect">
            <a:avLst/>
          </a:prstGeom>
        </p:spPr>
        <p:txBody>
          <a:bodyPr lIns="0" tIns="0" rIns="0" bIns="0" anchor="ctr"/>
          <a:lstStyle>
            <a:lvl1pPr marL="0" indent="0" algn="ctr">
              <a:buNone/>
              <a:defRPr sz="3600" b="0">
                <a:solidFill>
                  <a:schemeClr val="accent4"/>
                </a:solidFill>
                <a:latin typeface="Fz Poppins ExtBd" pitchFamily="2" charset="0"/>
                <a:ea typeface="Inter V Black" panose="02000503000000020004" pitchFamily="2" charset="0"/>
                <a:cs typeface="Fz Poppins ExtBd" pitchFamily="2" charset="0"/>
              </a:defRPr>
            </a:lvl1pPr>
          </a:lstStyle>
          <a:p>
            <a:pPr lvl="0"/>
            <a:r>
              <a:rPr lang="en-US"/>
              <a:t>00</a:t>
            </a:r>
            <a:endParaRPr lang="en-US" dirty="0"/>
          </a:p>
        </p:txBody>
      </p:sp>
      <p:sp>
        <p:nvSpPr>
          <p:cNvPr id="59" name="Text Placeholder 15">
            <a:extLst>
              <a:ext uri="{FF2B5EF4-FFF2-40B4-BE49-F238E27FC236}">
                <a16:creationId xmlns:a16="http://schemas.microsoft.com/office/drawing/2014/main" id="{83EFAEF3-0C74-40D2-B1CD-BF9997C95B03}"/>
              </a:ext>
            </a:extLst>
          </p:cNvPr>
          <p:cNvSpPr>
            <a:spLocks noGrp="1"/>
          </p:cNvSpPr>
          <p:nvPr>
            <p:ph type="body" sz="quarter" idx="41" hasCustomPrompt="1"/>
          </p:nvPr>
        </p:nvSpPr>
        <p:spPr>
          <a:xfrm>
            <a:off x="7674582" y="4281234"/>
            <a:ext cx="2500686" cy="1239442"/>
          </a:xfrm>
          <a:prstGeom prst="rect">
            <a:avLst/>
          </a:prstGeom>
        </p:spPr>
        <p:txBody>
          <a:bodyPr lIns="0" tIns="0" rIns="0" bIns="0" anchor="ctr"/>
          <a:lstStyle>
            <a:lvl1pPr marL="0" indent="0" algn="ctr">
              <a:lnSpc>
                <a:spcPct val="90000"/>
              </a:lnSpc>
              <a:spcBef>
                <a:spcPts val="1000"/>
              </a:spcBef>
              <a:spcAft>
                <a:spcPts val="0"/>
              </a:spcAft>
              <a:buNone/>
              <a:defRPr sz="1800" b="0">
                <a:solidFill>
                  <a:schemeClr val="tx2"/>
                </a:solidFill>
                <a:latin typeface="Fz Poppins ExtBd" pitchFamily="2" charset="0"/>
                <a:ea typeface="Inter Black" panose="02000A03000000020004" pitchFamily="50" charset="0"/>
                <a:cs typeface="Fz Poppins ExtBd"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TIÊU </a:t>
            </a:r>
            <a:r>
              <a:rPr lang="en-US"/>
              <a:t>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p:txBody>
      </p:sp>
      <p:sp>
        <p:nvSpPr>
          <p:cNvPr id="60" name="Text Placeholder 13">
            <a:extLst>
              <a:ext uri="{FF2B5EF4-FFF2-40B4-BE49-F238E27FC236}">
                <a16:creationId xmlns:a16="http://schemas.microsoft.com/office/drawing/2014/main" id="{986FA829-5A68-429D-BC55-64A0A9CD9DAE}"/>
              </a:ext>
            </a:extLst>
          </p:cNvPr>
          <p:cNvSpPr>
            <a:spLocks noGrp="1"/>
          </p:cNvSpPr>
          <p:nvPr>
            <p:ph type="body" sz="quarter" idx="42" hasCustomPrompt="1"/>
          </p:nvPr>
        </p:nvSpPr>
        <p:spPr>
          <a:xfrm>
            <a:off x="2016732" y="3689951"/>
            <a:ext cx="2500686" cy="574721"/>
          </a:xfrm>
          <a:prstGeom prst="rect">
            <a:avLst/>
          </a:prstGeom>
        </p:spPr>
        <p:txBody>
          <a:bodyPr lIns="0" tIns="0" rIns="0" bIns="0" anchor="ctr"/>
          <a:lstStyle>
            <a:lvl1pPr marL="0" indent="0" algn="ctr">
              <a:buNone/>
              <a:defRPr sz="3600" b="0">
                <a:solidFill>
                  <a:schemeClr val="accent4"/>
                </a:solidFill>
                <a:latin typeface="Fz Poppins ExtBd" pitchFamily="2" charset="0"/>
                <a:ea typeface="Inter V Black" panose="02000503000000020004" pitchFamily="2" charset="0"/>
                <a:cs typeface="Fz Poppins ExtBd" pitchFamily="2" charset="0"/>
              </a:defRPr>
            </a:lvl1pPr>
          </a:lstStyle>
          <a:p>
            <a:pPr lvl="0"/>
            <a:r>
              <a:rPr lang="en-US"/>
              <a:t>00</a:t>
            </a:r>
            <a:endParaRPr lang="en-US" dirty="0"/>
          </a:p>
        </p:txBody>
      </p:sp>
      <p:sp>
        <p:nvSpPr>
          <p:cNvPr id="61" name="Text Placeholder 15">
            <a:extLst>
              <a:ext uri="{FF2B5EF4-FFF2-40B4-BE49-F238E27FC236}">
                <a16:creationId xmlns:a16="http://schemas.microsoft.com/office/drawing/2014/main" id="{37BF5CF3-48C2-4CF8-88B6-0201BC99EABE}"/>
              </a:ext>
            </a:extLst>
          </p:cNvPr>
          <p:cNvSpPr>
            <a:spLocks noGrp="1"/>
          </p:cNvSpPr>
          <p:nvPr>
            <p:ph type="body" sz="quarter" idx="43" hasCustomPrompt="1"/>
          </p:nvPr>
        </p:nvSpPr>
        <p:spPr>
          <a:xfrm>
            <a:off x="2016732" y="4281234"/>
            <a:ext cx="2500686" cy="1239442"/>
          </a:xfrm>
          <a:prstGeom prst="rect">
            <a:avLst/>
          </a:prstGeom>
        </p:spPr>
        <p:txBody>
          <a:bodyPr lIns="0" tIns="0" rIns="0" bIns="0" anchor="ctr"/>
          <a:lstStyle>
            <a:lvl1pPr marL="0" indent="0" algn="ctr">
              <a:lnSpc>
                <a:spcPct val="90000"/>
              </a:lnSpc>
              <a:spcBef>
                <a:spcPts val="1000"/>
              </a:spcBef>
              <a:spcAft>
                <a:spcPts val="0"/>
              </a:spcAft>
              <a:buNone/>
              <a:defRPr sz="1800" b="0">
                <a:solidFill>
                  <a:schemeClr val="tx2"/>
                </a:solidFill>
                <a:latin typeface="Fz Poppins ExtBd" pitchFamily="2" charset="0"/>
                <a:ea typeface="Inter Black" panose="02000A03000000020004" pitchFamily="50" charset="0"/>
                <a:cs typeface="Fz Poppins ExtBd"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TIÊU </a:t>
            </a:r>
            <a:r>
              <a:rPr lang="en-US"/>
              <a:t>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TIÊU ĐỀ CHƯƠNG</a:t>
            </a:r>
          </a:p>
        </p:txBody>
      </p:sp>
      <p:sp>
        <p:nvSpPr>
          <p:cNvPr id="16" name="Title 1">
            <a:extLst>
              <a:ext uri="{FF2B5EF4-FFF2-40B4-BE49-F238E27FC236}">
                <a16:creationId xmlns:a16="http://schemas.microsoft.com/office/drawing/2014/main" id="{B55E132F-9D8C-4196-A0C0-967D6CCA3C80}"/>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Tree>
    <p:extLst>
      <p:ext uri="{BB962C8B-B14F-4D97-AF65-F5344CB8AC3E}">
        <p14:creationId xmlns:p14="http://schemas.microsoft.com/office/powerpoint/2010/main" val="384754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5" name="Text Placeholder 4">
            <a:extLst>
              <a:ext uri="{FF2B5EF4-FFF2-40B4-BE49-F238E27FC236}">
                <a16:creationId xmlns:a16="http://schemas.microsoft.com/office/drawing/2014/main" id="{78E9FEB7-46B0-42F5-A21B-D1211B930A1B}"/>
              </a:ext>
            </a:extLst>
          </p:cNvPr>
          <p:cNvSpPr>
            <a:spLocks noGrp="1"/>
          </p:cNvSpPr>
          <p:nvPr>
            <p:ph type="body" sz="quarter" idx="11" hasCustomPrompt="1"/>
          </p:nvPr>
        </p:nvSpPr>
        <p:spPr>
          <a:xfrm>
            <a:off x="838200" y="1497013"/>
            <a:ext cx="10515600" cy="895350"/>
          </a:xfrm>
          <a:prstGeom prst="rect">
            <a:avLst/>
          </a:prstGeom>
        </p:spPr>
        <p:txBody>
          <a:bodyPr lIns="0" tIns="0" rIns="0" bIns="0" anchor="ctr" anchorCtr="0"/>
          <a:lstStyle>
            <a:lvl1pPr marL="0" indent="0" algn="ctr">
              <a:spcBef>
                <a:spcPts val="0"/>
              </a:spcBef>
              <a:buNone/>
              <a:defRPr sz="7200">
                <a:solidFill>
                  <a:schemeClr val="accent4"/>
                </a:solidFill>
                <a:latin typeface="Fz Poppins ExtBd" pitchFamily="2" charset="0"/>
                <a:cs typeface="Fz Poppins ExtBd" pitchFamily="2" charset="0"/>
              </a:defRPr>
            </a:lvl1pPr>
          </a:lstStyle>
          <a:p>
            <a:pPr lvl="0"/>
            <a:r>
              <a:rPr lang="en-US"/>
              <a:t>00</a:t>
            </a:r>
          </a:p>
        </p:txBody>
      </p:sp>
      <p:sp>
        <p:nvSpPr>
          <p:cNvPr id="6" name="Text Placeholder 4">
            <a:extLst>
              <a:ext uri="{FF2B5EF4-FFF2-40B4-BE49-F238E27FC236}">
                <a16:creationId xmlns:a16="http://schemas.microsoft.com/office/drawing/2014/main" id="{35C96E0B-3D6D-4128-850F-4758C59F8249}"/>
              </a:ext>
            </a:extLst>
          </p:cNvPr>
          <p:cNvSpPr>
            <a:spLocks noGrp="1"/>
          </p:cNvSpPr>
          <p:nvPr>
            <p:ph type="body" sz="quarter" idx="12" hasCustomPrompt="1"/>
          </p:nvPr>
        </p:nvSpPr>
        <p:spPr>
          <a:xfrm>
            <a:off x="838200" y="2392363"/>
            <a:ext cx="10515600" cy="1343025"/>
          </a:xfrm>
          <a:prstGeom prst="rect">
            <a:avLst/>
          </a:prstGeom>
        </p:spPr>
        <p:txBody>
          <a:bodyPr lIns="0" tIns="0" rIns="0" bIns="0" anchor="ctr" anchorCtr="0"/>
          <a:lstStyle>
            <a:lvl1pPr marL="0" indent="0" algn="ctr">
              <a:spcBef>
                <a:spcPts val="0"/>
              </a:spcBef>
              <a:buNone/>
              <a:defRPr sz="6400" spc="50">
                <a:solidFill>
                  <a:schemeClr val="tx2"/>
                </a:solidFill>
                <a:latin typeface="Fz Poppins ExtBd" pitchFamily="2" charset="0"/>
                <a:cs typeface="Fz Poppins ExtBd" pitchFamily="2" charset="0"/>
              </a:defRPr>
            </a:lvl1pPr>
          </a:lstStyle>
          <a:p>
            <a:pPr lvl="0"/>
            <a:r>
              <a:rPr lang="en-US"/>
              <a:t>CLICK TO ADD TEXT</a:t>
            </a:r>
          </a:p>
        </p:txBody>
      </p:sp>
      <p:sp>
        <p:nvSpPr>
          <p:cNvPr id="7" name="Title 1">
            <a:extLst>
              <a:ext uri="{FF2B5EF4-FFF2-40B4-BE49-F238E27FC236}">
                <a16:creationId xmlns:a16="http://schemas.microsoft.com/office/drawing/2014/main" id="{7C930B81-3145-47A4-82B7-56B5FB1CFC7A}"/>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
        <p:nvSpPr>
          <p:cNvPr id="8" name="Text Placeholder 4">
            <a:extLst>
              <a:ext uri="{FF2B5EF4-FFF2-40B4-BE49-F238E27FC236}">
                <a16:creationId xmlns:a16="http://schemas.microsoft.com/office/drawing/2014/main" id="{82915AD9-A755-49AA-9CC3-659DEA95675B}"/>
              </a:ext>
            </a:extLst>
          </p:cNvPr>
          <p:cNvSpPr>
            <a:spLocks noGrp="1"/>
          </p:cNvSpPr>
          <p:nvPr>
            <p:ph type="body" sz="quarter" idx="13"/>
          </p:nvPr>
        </p:nvSpPr>
        <p:spPr>
          <a:xfrm>
            <a:off x="838200" y="3735387"/>
            <a:ext cx="10515600" cy="1862137"/>
          </a:xfrm>
          <a:prstGeom prst="rect">
            <a:avLst/>
          </a:prstGeom>
        </p:spPr>
        <p:txBody>
          <a:bodyPr/>
          <a:lstStyle>
            <a:lvl1pPr marL="0" indent="0">
              <a:lnSpc>
                <a:spcPct val="150000"/>
              </a:lnSpc>
              <a:spcBef>
                <a:spcPts val="1000"/>
              </a:spcBef>
              <a:spcAft>
                <a:spcPts val="0"/>
              </a:spcAft>
              <a:buNone/>
              <a:defRPr sz="1600" spc="0">
                <a:solidFill>
                  <a:schemeClr val="tx2"/>
                </a:solidFill>
                <a:latin typeface="Fz Poppins Med" pitchFamily="2" charset="0"/>
                <a:cs typeface="Fz Poppins Med" pitchFamily="2" charset="0"/>
              </a:defRPr>
            </a:lvl1pPr>
          </a:lstStyle>
          <a:p>
            <a:pPr lvl="0"/>
            <a:endParaRPr lang="en-US"/>
          </a:p>
        </p:txBody>
      </p:sp>
    </p:spTree>
    <p:extLst>
      <p:ext uri="{BB962C8B-B14F-4D97-AF65-F5344CB8AC3E}">
        <p14:creationId xmlns:p14="http://schemas.microsoft.com/office/powerpoint/2010/main" val="1284641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title and describ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5" name="Text Placeholder 4">
            <a:extLst>
              <a:ext uri="{FF2B5EF4-FFF2-40B4-BE49-F238E27FC236}">
                <a16:creationId xmlns:a16="http://schemas.microsoft.com/office/drawing/2014/main" id="{78E9FEB7-46B0-42F5-A21B-D1211B930A1B}"/>
              </a:ext>
            </a:extLst>
          </p:cNvPr>
          <p:cNvSpPr>
            <a:spLocks noGrp="1"/>
          </p:cNvSpPr>
          <p:nvPr>
            <p:ph type="body" sz="quarter" idx="11" hasCustomPrompt="1"/>
          </p:nvPr>
        </p:nvSpPr>
        <p:spPr>
          <a:xfrm>
            <a:off x="838200" y="1862138"/>
            <a:ext cx="10515600" cy="895350"/>
          </a:xfrm>
          <a:prstGeom prst="rect">
            <a:avLst/>
          </a:prstGeom>
        </p:spPr>
        <p:txBody>
          <a:bodyPr lIns="0" tIns="0" rIns="0" bIns="0" anchor="ctr" anchorCtr="0"/>
          <a:lstStyle>
            <a:lvl1pPr marL="0" indent="0" algn="ctr">
              <a:spcBef>
                <a:spcPts val="0"/>
              </a:spcBef>
              <a:buNone/>
              <a:defRPr sz="7200">
                <a:solidFill>
                  <a:schemeClr val="accent4"/>
                </a:solidFill>
                <a:latin typeface="Fz Poppins ExtBd" pitchFamily="2" charset="0"/>
                <a:cs typeface="Fz Poppins ExtBd" pitchFamily="2" charset="0"/>
              </a:defRPr>
            </a:lvl1pPr>
          </a:lstStyle>
          <a:p>
            <a:pPr lvl="0"/>
            <a:r>
              <a:rPr lang="en-US"/>
              <a:t>00</a:t>
            </a:r>
          </a:p>
        </p:txBody>
      </p:sp>
      <p:sp>
        <p:nvSpPr>
          <p:cNvPr id="6" name="Text Placeholder 4">
            <a:extLst>
              <a:ext uri="{FF2B5EF4-FFF2-40B4-BE49-F238E27FC236}">
                <a16:creationId xmlns:a16="http://schemas.microsoft.com/office/drawing/2014/main" id="{35C96E0B-3D6D-4128-850F-4758C59F8249}"/>
              </a:ext>
            </a:extLst>
          </p:cNvPr>
          <p:cNvSpPr>
            <a:spLocks noGrp="1"/>
          </p:cNvSpPr>
          <p:nvPr>
            <p:ph type="body" sz="quarter" idx="12" hasCustomPrompt="1"/>
          </p:nvPr>
        </p:nvSpPr>
        <p:spPr>
          <a:xfrm>
            <a:off x="838200" y="2757488"/>
            <a:ext cx="10515600" cy="1343025"/>
          </a:xfrm>
          <a:prstGeom prst="rect">
            <a:avLst/>
          </a:prstGeom>
        </p:spPr>
        <p:txBody>
          <a:bodyPr lIns="0" tIns="0" rIns="0" bIns="0" anchor="ctr" anchorCtr="0"/>
          <a:lstStyle>
            <a:lvl1pPr marL="0" indent="0" algn="ctr">
              <a:spcBef>
                <a:spcPts val="0"/>
              </a:spcBef>
              <a:buNone/>
              <a:defRPr sz="6400" spc="50">
                <a:solidFill>
                  <a:schemeClr val="tx2"/>
                </a:solidFill>
                <a:latin typeface="Fz Poppins ExtBd" pitchFamily="2" charset="0"/>
                <a:cs typeface="Fz Poppins ExtBd" pitchFamily="2" charset="0"/>
              </a:defRPr>
            </a:lvl1pPr>
          </a:lstStyle>
          <a:p>
            <a:pPr lvl="0"/>
            <a:r>
              <a:rPr lang="en-US"/>
              <a:t>CLICK TO ADD TEXT</a:t>
            </a:r>
          </a:p>
        </p:txBody>
      </p:sp>
      <p:sp>
        <p:nvSpPr>
          <p:cNvPr id="7" name="Title 1">
            <a:extLst>
              <a:ext uri="{FF2B5EF4-FFF2-40B4-BE49-F238E27FC236}">
                <a16:creationId xmlns:a16="http://schemas.microsoft.com/office/drawing/2014/main" id="{7C930B81-3145-47A4-82B7-56B5FB1CFC7A}"/>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Tree>
    <p:extLst>
      <p:ext uri="{BB962C8B-B14F-4D97-AF65-F5344CB8AC3E}">
        <p14:creationId xmlns:p14="http://schemas.microsoft.com/office/powerpoint/2010/main" val="293179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aster title,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6" name="Text Placeholder 4">
            <a:extLst>
              <a:ext uri="{FF2B5EF4-FFF2-40B4-BE49-F238E27FC236}">
                <a16:creationId xmlns:a16="http://schemas.microsoft.com/office/drawing/2014/main" id="{A8F8CB00-40DE-433E-927A-ABBFF099B758}"/>
              </a:ext>
            </a:extLst>
          </p:cNvPr>
          <p:cNvSpPr>
            <a:spLocks noGrp="1"/>
          </p:cNvSpPr>
          <p:nvPr>
            <p:ph type="body" sz="quarter" idx="12"/>
          </p:nvPr>
        </p:nvSpPr>
        <p:spPr>
          <a:xfrm>
            <a:off x="838200" y="1338470"/>
            <a:ext cx="10515600" cy="4624180"/>
          </a:xfrm>
          <a:prstGeom prst="rect">
            <a:avLst/>
          </a:prstGeom>
        </p:spPr>
        <p:txBody>
          <a:bodyPr/>
          <a:lstStyle>
            <a:lvl1pPr marL="0" indent="0">
              <a:lnSpc>
                <a:spcPct val="150000"/>
              </a:lnSpc>
              <a:spcBef>
                <a:spcPts val="1000"/>
              </a:spcBef>
              <a:spcAft>
                <a:spcPts val="0"/>
              </a:spcAft>
              <a:buNone/>
              <a:defRPr sz="1600" spc="0">
                <a:solidFill>
                  <a:schemeClr val="tx2"/>
                </a:solidFill>
                <a:latin typeface="Fz Poppins Med" pitchFamily="2" charset="0"/>
                <a:cs typeface="Fz Poppins Med" pitchFamily="2" charset="0"/>
              </a:defRPr>
            </a:lvl1pPr>
          </a:lstStyle>
          <a:p>
            <a:pPr lvl="0"/>
            <a:endParaRPr lang="en-US"/>
          </a:p>
        </p:txBody>
      </p:sp>
      <p:sp>
        <p:nvSpPr>
          <p:cNvPr id="7" name="Title 1">
            <a:extLst>
              <a:ext uri="{FF2B5EF4-FFF2-40B4-BE49-F238E27FC236}">
                <a16:creationId xmlns:a16="http://schemas.microsoft.com/office/drawing/2014/main" id="{60A828BC-5936-41C1-BEB6-56272D992702}"/>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Tree>
    <p:extLst>
      <p:ext uri="{BB962C8B-B14F-4D97-AF65-F5344CB8AC3E}">
        <p14:creationId xmlns:p14="http://schemas.microsoft.com/office/powerpoint/2010/main" val="2174614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ster title, subtitle,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5" name="Text Placeholder 4">
            <a:extLst>
              <a:ext uri="{FF2B5EF4-FFF2-40B4-BE49-F238E27FC236}">
                <a16:creationId xmlns:a16="http://schemas.microsoft.com/office/drawing/2014/main" id="{0E5FBB39-CC2B-4FE0-AB59-CAE0050C35A8}"/>
              </a:ext>
            </a:extLst>
          </p:cNvPr>
          <p:cNvSpPr>
            <a:spLocks noGrp="1"/>
          </p:cNvSpPr>
          <p:nvPr>
            <p:ph type="body" sz="quarter" idx="11" hasCustomPrompt="1"/>
          </p:nvPr>
        </p:nvSpPr>
        <p:spPr>
          <a:xfrm>
            <a:off x="838200" y="1304925"/>
            <a:ext cx="10515600" cy="295275"/>
          </a:xfrm>
          <a:prstGeom prst="rect">
            <a:avLst/>
          </a:prstGeom>
        </p:spPr>
        <p:txBody>
          <a:bodyPr/>
          <a:lstStyle>
            <a:lvl1pPr marL="0" indent="0">
              <a:buFont typeface="+mj-lt"/>
              <a:buNone/>
              <a:defRPr sz="1800">
                <a:solidFill>
                  <a:schemeClr val="accent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TITLE</a:t>
            </a:r>
            <a:endParaRPr lang="en-US"/>
          </a:p>
        </p:txBody>
      </p:sp>
      <p:sp>
        <p:nvSpPr>
          <p:cNvPr id="6" name="Text Placeholder 4">
            <a:extLst>
              <a:ext uri="{FF2B5EF4-FFF2-40B4-BE49-F238E27FC236}">
                <a16:creationId xmlns:a16="http://schemas.microsoft.com/office/drawing/2014/main" id="{2BAF13C7-1306-4D55-AD55-B81B920C02B5}"/>
              </a:ext>
            </a:extLst>
          </p:cNvPr>
          <p:cNvSpPr>
            <a:spLocks noGrp="1"/>
          </p:cNvSpPr>
          <p:nvPr>
            <p:ph type="body" sz="quarter" idx="12"/>
          </p:nvPr>
        </p:nvSpPr>
        <p:spPr>
          <a:xfrm>
            <a:off x="838200" y="2093843"/>
            <a:ext cx="10515600" cy="3868807"/>
          </a:xfrm>
          <a:prstGeom prst="rect">
            <a:avLst/>
          </a:prstGeom>
        </p:spPr>
        <p:txBody>
          <a:bodyPr/>
          <a:lstStyle>
            <a:lvl1pPr marL="0" indent="0">
              <a:lnSpc>
                <a:spcPct val="150000"/>
              </a:lnSpc>
              <a:spcBef>
                <a:spcPts val="1000"/>
              </a:spcBef>
              <a:spcAft>
                <a:spcPts val="0"/>
              </a:spcAft>
              <a:buNone/>
              <a:defRPr sz="1600" spc="0">
                <a:solidFill>
                  <a:schemeClr val="tx2"/>
                </a:solidFill>
                <a:latin typeface="Fz Poppins Med" pitchFamily="2" charset="0"/>
                <a:cs typeface="Fz Poppins Med" pitchFamily="2" charset="0"/>
              </a:defRPr>
            </a:lvl1pPr>
          </a:lstStyle>
          <a:p>
            <a:pPr lvl="0"/>
            <a:endParaRPr lang="en-US"/>
          </a:p>
        </p:txBody>
      </p:sp>
      <p:sp>
        <p:nvSpPr>
          <p:cNvPr id="7" name="Text Placeholder 4">
            <a:extLst>
              <a:ext uri="{FF2B5EF4-FFF2-40B4-BE49-F238E27FC236}">
                <a16:creationId xmlns:a16="http://schemas.microsoft.com/office/drawing/2014/main" id="{D2A5A524-D650-4CC2-8A27-8806B91901C6}"/>
              </a:ext>
            </a:extLst>
          </p:cNvPr>
          <p:cNvSpPr>
            <a:spLocks noGrp="1"/>
          </p:cNvSpPr>
          <p:nvPr>
            <p:ph type="body" sz="quarter" idx="13" hasCustomPrompt="1"/>
          </p:nvPr>
        </p:nvSpPr>
        <p:spPr>
          <a:xfrm>
            <a:off x="838200" y="1649413"/>
            <a:ext cx="10515600" cy="295275"/>
          </a:xfrm>
          <a:prstGeom prst="rect">
            <a:avLst/>
          </a:prstGeom>
        </p:spPr>
        <p:txBody>
          <a:bodyPr/>
          <a:lstStyle>
            <a:lvl1pPr marL="0" indent="0">
              <a:buFont typeface="+mj-lt"/>
              <a:buNone/>
              <a:defRPr sz="1600" b="1">
                <a:solidFill>
                  <a:schemeClr val="tx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SUBTITLE</a:t>
            </a:r>
            <a:endParaRPr lang="en-US"/>
          </a:p>
        </p:txBody>
      </p:sp>
      <p:sp>
        <p:nvSpPr>
          <p:cNvPr id="9" name="Title 1">
            <a:extLst>
              <a:ext uri="{FF2B5EF4-FFF2-40B4-BE49-F238E27FC236}">
                <a16:creationId xmlns:a16="http://schemas.microsoft.com/office/drawing/2014/main" id="{7434EB5D-70B0-4CA4-B705-424FC9BABB32}"/>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Tree>
    <p:extLst>
      <p:ext uri="{BB962C8B-B14F-4D97-AF65-F5344CB8AC3E}">
        <p14:creationId xmlns:p14="http://schemas.microsoft.com/office/powerpoint/2010/main" val="935297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aster title, subtitle, tex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FEA9-12F8-4F65-9632-53B2A94E07EE}"/>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7" name="Text Placeholder 4">
            <a:extLst>
              <a:ext uri="{FF2B5EF4-FFF2-40B4-BE49-F238E27FC236}">
                <a16:creationId xmlns:a16="http://schemas.microsoft.com/office/drawing/2014/main" id="{A4FDFBC7-924F-400D-9EA1-05C5BF94705F}"/>
              </a:ext>
            </a:extLst>
          </p:cNvPr>
          <p:cNvSpPr>
            <a:spLocks noGrp="1"/>
          </p:cNvSpPr>
          <p:nvPr>
            <p:ph type="body" sz="quarter" idx="11" hasCustomPrompt="1"/>
          </p:nvPr>
        </p:nvSpPr>
        <p:spPr>
          <a:xfrm>
            <a:off x="838200" y="1304925"/>
            <a:ext cx="10515600" cy="295275"/>
          </a:xfrm>
          <a:prstGeom prst="rect">
            <a:avLst/>
          </a:prstGeom>
        </p:spPr>
        <p:txBody>
          <a:bodyPr/>
          <a:lstStyle>
            <a:lvl1pPr marL="0" indent="0">
              <a:buFont typeface="+mj-lt"/>
              <a:buNone/>
              <a:defRPr sz="1800">
                <a:solidFill>
                  <a:schemeClr val="accent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TITLE</a:t>
            </a:r>
            <a:endParaRPr lang="en-US"/>
          </a:p>
        </p:txBody>
      </p:sp>
      <p:sp>
        <p:nvSpPr>
          <p:cNvPr id="8" name="Text Placeholder 4">
            <a:extLst>
              <a:ext uri="{FF2B5EF4-FFF2-40B4-BE49-F238E27FC236}">
                <a16:creationId xmlns:a16="http://schemas.microsoft.com/office/drawing/2014/main" id="{0C7BC623-3545-48EF-83F4-D4CBCB9AD516}"/>
              </a:ext>
            </a:extLst>
          </p:cNvPr>
          <p:cNvSpPr>
            <a:spLocks noGrp="1"/>
          </p:cNvSpPr>
          <p:nvPr>
            <p:ph type="body" sz="quarter" idx="12"/>
          </p:nvPr>
        </p:nvSpPr>
        <p:spPr>
          <a:xfrm>
            <a:off x="838200" y="2093843"/>
            <a:ext cx="5257800" cy="3868807"/>
          </a:xfrm>
          <a:prstGeom prst="rect">
            <a:avLst/>
          </a:prstGeom>
        </p:spPr>
        <p:txBody>
          <a:bodyPr/>
          <a:lstStyle>
            <a:lvl1pPr marL="0" indent="0">
              <a:lnSpc>
                <a:spcPct val="150000"/>
              </a:lnSpc>
              <a:spcBef>
                <a:spcPts val="1000"/>
              </a:spcBef>
              <a:spcAft>
                <a:spcPts val="0"/>
              </a:spcAft>
              <a:buNone/>
              <a:defRPr sz="1600" spc="0">
                <a:solidFill>
                  <a:schemeClr val="tx2"/>
                </a:solidFill>
                <a:latin typeface="Fz Poppins Med" pitchFamily="2" charset="0"/>
                <a:cs typeface="Fz Poppins Med" pitchFamily="2" charset="0"/>
              </a:defRPr>
            </a:lvl1pPr>
          </a:lstStyle>
          <a:p>
            <a:pPr lvl="0"/>
            <a:endParaRPr lang="en-US"/>
          </a:p>
        </p:txBody>
      </p:sp>
      <p:sp>
        <p:nvSpPr>
          <p:cNvPr id="9" name="Text Placeholder 4">
            <a:extLst>
              <a:ext uri="{FF2B5EF4-FFF2-40B4-BE49-F238E27FC236}">
                <a16:creationId xmlns:a16="http://schemas.microsoft.com/office/drawing/2014/main" id="{04C172AF-FF03-453A-AB84-F8833BAA7BD8}"/>
              </a:ext>
            </a:extLst>
          </p:cNvPr>
          <p:cNvSpPr>
            <a:spLocks noGrp="1"/>
          </p:cNvSpPr>
          <p:nvPr>
            <p:ph type="body" sz="quarter" idx="13" hasCustomPrompt="1"/>
          </p:nvPr>
        </p:nvSpPr>
        <p:spPr>
          <a:xfrm>
            <a:off x="838200" y="1649413"/>
            <a:ext cx="10515600" cy="295275"/>
          </a:xfrm>
          <a:prstGeom prst="rect">
            <a:avLst/>
          </a:prstGeom>
        </p:spPr>
        <p:txBody>
          <a:bodyPr/>
          <a:lstStyle>
            <a:lvl1pPr marL="0" indent="0">
              <a:buFont typeface="+mj-lt"/>
              <a:buNone/>
              <a:defRPr sz="1600" b="1">
                <a:solidFill>
                  <a:schemeClr val="tx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SUBTITLE</a:t>
            </a:r>
            <a:endParaRPr lang="en-US"/>
          </a:p>
        </p:txBody>
      </p:sp>
    </p:spTree>
    <p:extLst>
      <p:ext uri="{BB962C8B-B14F-4D97-AF65-F5344CB8AC3E}">
        <p14:creationId xmlns:p14="http://schemas.microsoft.com/office/powerpoint/2010/main" val="324600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ster title, subtitle, text 3">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7" name="Text Placeholder 4">
            <a:extLst>
              <a:ext uri="{FF2B5EF4-FFF2-40B4-BE49-F238E27FC236}">
                <a16:creationId xmlns:a16="http://schemas.microsoft.com/office/drawing/2014/main" id="{C0B934BD-DE58-460D-9A18-13A7E6529E96}"/>
              </a:ext>
            </a:extLst>
          </p:cNvPr>
          <p:cNvSpPr>
            <a:spLocks noGrp="1"/>
          </p:cNvSpPr>
          <p:nvPr>
            <p:ph type="body" sz="quarter" idx="11" hasCustomPrompt="1"/>
          </p:nvPr>
        </p:nvSpPr>
        <p:spPr>
          <a:xfrm>
            <a:off x="838200" y="1304925"/>
            <a:ext cx="10515600" cy="295275"/>
          </a:xfrm>
          <a:prstGeom prst="rect">
            <a:avLst/>
          </a:prstGeom>
        </p:spPr>
        <p:txBody>
          <a:bodyPr/>
          <a:lstStyle>
            <a:lvl1pPr marL="0" indent="0">
              <a:buFont typeface="+mj-lt"/>
              <a:buNone/>
              <a:defRPr sz="1800">
                <a:solidFill>
                  <a:schemeClr val="accent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TITLE</a:t>
            </a:r>
            <a:endParaRPr lang="en-US"/>
          </a:p>
        </p:txBody>
      </p:sp>
      <p:sp>
        <p:nvSpPr>
          <p:cNvPr id="8" name="Text Placeholder 4">
            <a:extLst>
              <a:ext uri="{FF2B5EF4-FFF2-40B4-BE49-F238E27FC236}">
                <a16:creationId xmlns:a16="http://schemas.microsoft.com/office/drawing/2014/main" id="{2507AE5D-0832-4D6D-B043-8B2D8B4D90DD}"/>
              </a:ext>
            </a:extLst>
          </p:cNvPr>
          <p:cNvSpPr>
            <a:spLocks noGrp="1"/>
          </p:cNvSpPr>
          <p:nvPr>
            <p:ph type="body" sz="quarter" idx="12"/>
          </p:nvPr>
        </p:nvSpPr>
        <p:spPr>
          <a:xfrm>
            <a:off x="6096000" y="2093843"/>
            <a:ext cx="5257800" cy="3868807"/>
          </a:xfrm>
          <a:prstGeom prst="rect">
            <a:avLst/>
          </a:prstGeom>
        </p:spPr>
        <p:txBody>
          <a:bodyPr/>
          <a:lstStyle>
            <a:lvl1pPr marL="0" indent="0">
              <a:lnSpc>
                <a:spcPct val="150000"/>
              </a:lnSpc>
              <a:spcBef>
                <a:spcPts val="1000"/>
              </a:spcBef>
              <a:spcAft>
                <a:spcPts val="0"/>
              </a:spcAft>
              <a:buNone/>
              <a:defRPr sz="1600" spc="0">
                <a:solidFill>
                  <a:schemeClr val="tx2"/>
                </a:solidFill>
                <a:latin typeface="Fz Poppins Med" pitchFamily="2" charset="0"/>
                <a:cs typeface="Fz Poppins Med" pitchFamily="2" charset="0"/>
              </a:defRPr>
            </a:lvl1pPr>
          </a:lstStyle>
          <a:p>
            <a:pPr lvl="0"/>
            <a:endParaRPr lang="en-US"/>
          </a:p>
        </p:txBody>
      </p:sp>
      <p:sp>
        <p:nvSpPr>
          <p:cNvPr id="9" name="Text Placeholder 4">
            <a:extLst>
              <a:ext uri="{FF2B5EF4-FFF2-40B4-BE49-F238E27FC236}">
                <a16:creationId xmlns:a16="http://schemas.microsoft.com/office/drawing/2014/main" id="{C731F015-2D57-472F-AACB-A5FBD3BC4CD0}"/>
              </a:ext>
            </a:extLst>
          </p:cNvPr>
          <p:cNvSpPr>
            <a:spLocks noGrp="1"/>
          </p:cNvSpPr>
          <p:nvPr>
            <p:ph type="body" sz="quarter" idx="13" hasCustomPrompt="1"/>
          </p:nvPr>
        </p:nvSpPr>
        <p:spPr>
          <a:xfrm>
            <a:off x="838200" y="1649413"/>
            <a:ext cx="10515600" cy="295275"/>
          </a:xfrm>
          <a:prstGeom prst="rect">
            <a:avLst/>
          </a:prstGeom>
        </p:spPr>
        <p:txBody>
          <a:bodyPr/>
          <a:lstStyle>
            <a:lvl1pPr marL="0" indent="0">
              <a:buFont typeface="+mj-lt"/>
              <a:buNone/>
              <a:defRPr sz="1600" b="1">
                <a:solidFill>
                  <a:schemeClr val="tx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SUBTITLE</a:t>
            </a:r>
            <a:endParaRPr lang="en-US"/>
          </a:p>
        </p:txBody>
      </p:sp>
      <p:sp>
        <p:nvSpPr>
          <p:cNvPr id="11" name="Title 1">
            <a:extLst>
              <a:ext uri="{FF2B5EF4-FFF2-40B4-BE49-F238E27FC236}">
                <a16:creationId xmlns:a16="http://schemas.microsoft.com/office/drawing/2014/main" id="{7E530FE1-05F8-4F56-A918-62A7BFE3844E}"/>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Tree>
    <p:extLst>
      <p:ext uri="{BB962C8B-B14F-4D97-AF65-F5344CB8AC3E}">
        <p14:creationId xmlns:p14="http://schemas.microsoft.com/office/powerpoint/2010/main" val="2163801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Master title, subtitle, 2 cols of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
        <p:nvSpPr>
          <p:cNvPr id="7" name="Text Placeholder 4">
            <a:extLst>
              <a:ext uri="{FF2B5EF4-FFF2-40B4-BE49-F238E27FC236}">
                <a16:creationId xmlns:a16="http://schemas.microsoft.com/office/drawing/2014/main" id="{C0B934BD-DE58-460D-9A18-13A7E6529E96}"/>
              </a:ext>
            </a:extLst>
          </p:cNvPr>
          <p:cNvSpPr>
            <a:spLocks noGrp="1"/>
          </p:cNvSpPr>
          <p:nvPr>
            <p:ph type="body" sz="quarter" idx="11" hasCustomPrompt="1"/>
          </p:nvPr>
        </p:nvSpPr>
        <p:spPr>
          <a:xfrm>
            <a:off x="838200" y="1304925"/>
            <a:ext cx="10515600" cy="295275"/>
          </a:xfrm>
          <a:prstGeom prst="rect">
            <a:avLst/>
          </a:prstGeom>
        </p:spPr>
        <p:txBody>
          <a:bodyPr/>
          <a:lstStyle>
            <a:lvl1pPr marL="0" indent="0">
              <a:buFont typeface="+mj-lt"/>
              <a:buNone/>
              <a:defRPr sz="1800">
                <a:solidFill>
                  <a:schemeClr val="accent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TITLE</a:t>
            </a:r>
            <a:endParaRPr lang="en-US"/>
          </a:p>
        </p:txBody>
      </p:sp>
      <p:sp>
        <p:nvSpPr>
          <p:cNvPr id="8" name="Text Placeholder 4">
            <a:extLst>
              <a:ext uri="{FF2B5EF4-FFF2-40B4-BE49-F238E27FC236}">
                <a16:creationId xmlns:a16="http://schemas.microsoft.com/office/drawing/2014/main" id="{2507AE5D-0832-4D6D-B043-8B2D8B4D90DD}"/>
              </a:ext>
            </a:extLst>
          </p:cNvPr>
          <p:cNvSpPr>
            <a:spLocks noGrp="1"/>
          </p:cNvSpPr>
          <p:nvPr>
            <p:ph type="body" sz="quarter" idx="12"/>
          </p:nvPr>
        </p:nvSpPr>
        <p:spPr>
          <a:xfrm>
            <a:off x="6336482" y="2093843"/>
            <a:ext cx="5017317" cy="3868807"/>
          </a:xfrm>
          <a:prstGeom prst="rect">
            <a:avLst/>
          </a:prstGeom>
        </p:spPr>
        <p:txBody>
          <a:bodyPr/>
          <a:lstStyle>
            <a:lvl1pPr marL="0" indent="0">
              <a:lnSpc>
                <a:spcPct val="150000"/>
              </a:lnSpc>
              <a:spcBef>
                <a:spcPts val="1000"/>
              </a:spcBef>
              <a:spcAft>
                <a:spcPts val="0"/>
              </a:spcAft>
              <a:buNone/>
              <a:defRPr sz="1600" spc="0">
                <a:solidFill>
                  <a:schemeClr val="tx2"/>
                </a:solidFill>
                <a:latin typeface="Fz Poppins Med" pitchFamily="2" charset="0"/>
                <a:cs typeface="Fz Poppins Med" pitchFamily="2" charset="0"/>
              </a:defRPr>
            </a:lvl1pPr>
          </a:lstStyle>
          <a:p>
            <a:pPr lvl="0"/>
            <a:endParaRPr lang="en-US"/>
          </a:p>
        </p:txBody>
      </p:sp>
      <p:sp>
        <p:nvSpPr>
          <p:cNvPr id="9" name="Text Placeholder 4">
            <a:extLst>
              <a:ext uri="{FF2B5EF4-FFF2-40B4-BE49-F238E27FC236}">
                <a16:creationId xmlns:a16="http://schemas.microsoft.com/office/drawing/2014/main" id="{C731F015-2D57-472F-AACB-A5FBD3BC4CD0}"/>
              </a:ext>
            </a:extLst>
          </p:cNvPr>
          <p:cNvSpPr>
            <a:spLocks noGrp="1"/>
          </p:cNvSpPr>
          <p:nvPr>
            <p:ph type="body" sz="quarter" idx="13" hasCustomPrompt="1"/>
          </p:nvPr>
        </p:nvSpPr>
        <p:spPr>
          <a:xfrm>
            <a:off x="838200" y="1649413"/>
            <a:ext cx="10515600" cy="295275"/>
          </a:xfrm>
          <a:prstGeom prst="rect">
            <a:avLst/>
          </a:prstGeom>
        </p:spPr>
        <p:txBody>
          <a:bodyPr/>
          <a:lstStyle>
            <a:lvl1pPr marL="0" indent="0">
              <a:buFont typeface="+mj-lt"/>
              <a:buNone/>
              <a:defRPr sz="1600" b="1">
                <a:solidFill>
                  <a:schemeClr val="tx2"/>
                </a:solidFill>
                <a:latin typeface="Fz Poppins ExtBd" pitchFamily="2" charset="0"/>
                <a:cs typeface="Fz Poppins ExtBd" pitchFamily="2" charset="0"/>
              </a:defRPr>
            </a:lvl1pPr>
          </a:lstStyle>
          <a:p>
            <a:pPr lvl="0"/>
            <a:r>
              <a:rPr lang="en-US">
                <a:latin typeface="Fz Poppins SemBd" pitchFamily="2" charset="0"/>
                <a:cs typeface="Fz Poppins SemBd" pitchFamily="2" charset="0"/>
              </a:rPr>
              <a:t>CLICK TO SET SUBTITLE</a:t>
            </a:r>
            <a:endParaRPr lang="en-US"/>
          </a:p>
        </p:txBody>
      </p:sp>
      <p:sp>
        <p:nvSpPr>
          <p:cNvPr id="11" name="Title 1">
            <a:extLst>
              <a:ext uri="{FF2B5EF4-FFF2-40B4-BE49-F238E27FC236}">
                <a16:creationId xmlns:a16="http://schemas.microsoft.com/office/drawing/2014/main" id="{7E530FE1-05F8-4F56-A918-62A7BFE3844E}"/>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a:t>CLICK TO ADD TEXT</a:t>
            </a:r>
          </a:p>
        </p:txBody>
      </p:sp>
      <p:sp>
        <p:nvSpPr>
          <p:cNvPr id="10" name="Text Placeholder 4">
            <a:extLst>
              <a:ext uri="{FF2B5EF4-FFF2-40B4-BE49-F238E27FC236}">
                <a16:creationId xmlns:a16="http://schemas.microsoft.com/office/drawing/2014/main" id="{7F560A19-5F66-49E4-847D-0615F0C1C0DA}"/>
              </a:ext>
            </a:extLst>
          </p:cNvPr>
          <p:cNvSpPr>
            <a:spLocks noGrp="1"/>
          </p:cNvSpPr>
          <p:nvPr>
            <p:ph type="body" sz="quarter" idx="14"/>
          </p:nvPr>
        </p:nvSpPr>
        <p:spPr>
          <a:xfrm>
            <a:off x="838200" y="2093843"/>
            <a:ext cx="5017316" cy="3868807"/>
          </a:xfrm>
          <a:prstGeom prst="rect">
            <a:avLst/>
          </a:prstGeom>
        </p:spPr>
        <p:txBody>
          <a:bodyPr/>
          <a:lstStyle>
            <a:lvl1pPr marL="0" indent="0">
              <a:lnSpc>
                <a:spcPct val="150000"/>
              </a:lnSpc>
              <a:spcBef>
                <a:spcPts val="1000"/>
              </a:spcBef>
              <a:spcAft>
                <a:spcPts val="0"/>
              </a:spcAft>
              <a:buNone/>
              <a:defRPr sz="1600" spc="0">
                <a:solidFill>
                  <a:schemeClr val="tx2"/>
                </a:solidFill>
                <a:latin typeface="Fz Poppins Med" pitchFamily="2" charset="0"/>
                <a:cs typeface="Fz Poppins Med" pitchFamily="2" charset="0"/>
              </a:defRPr>
            </a:lvl1pPr>
          </a:lstStyle>
          <a:p>
            <a:pPr lvl="0"/>
            <a:endParaRPr lang="en-US"/>
          </a:p>
        </p:txBody>
      </p:sp>
      <p:cxnSp>
        <p:nvCxnSpPr>
          <p:cNvPr id="4" name="Straight Connector 3">
            <a:extLst>
              <a:ext uri="{FF2B5EF4-FFF2-40B4-BE49-F238E27FC236}">
                <a16:creationId xmlns:a16="http://schemas.microsoft.com/office/drawing/2014/main" id="{DBD6EC96-9549-4D34-8478-73CC03FCD3CD}"/>
              </a:ext>
            </a:extLst>
          </p:cNvPr>
          <p:cNvCxnSpPr/>
          <p:nvPr userDrawn="1"/>
        </p:nvCxnSpPr>
        <p:spPr>
          <a:xfrm>
            <a:off x="6096000" y="2826251"/>
            <a:ext cx="0" cy="2181138"/>
          </a:xfrm>
          <a:prstGeom prst="line">
            <a:avLst/>
          </a:prstGeom>
          <a:ln w="28575" cap="rnd">
            <a:round/>
            <a:headEnd type="diamond"/>
            <a:tailEnd type="diamo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067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ster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FEA9-12F8-4F65-9632-53B2A94E07EE}"/>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dirty="0"/>
              <a:t>CLICK TO ADD TEXT</a:t>
            </a:r>
          </a:p>
        </p:txBody>
      </p:sp>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Tree>
    <p:extLst>
      <p:ext uri="{BB962C8B-B14F-4D97-AF65-F5344CB8AC3E}">
        <p14:creationId xmlns:p14="http://schemas.microsoft.com/office/powerpoint/2010/main" val="2020682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aster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FEA9-12F8-4F65-9632-53B2A94E07EE}"/>
              </a:ext>
            </a:extLst>
          </p:cNvPr>
          <p:cNvSpPr>
            <a:spLocks noGrp="1"/>
          </p:cNvSpPr>
          <p:nvPr>
            <p:ph type="title" hasCustomPrompt="1"/>
          </p:nvPr>
        </p:nvSpPr>
        <p:spPr>
          <a:xfrm>
            <a:off x="838200" y="285750"/>
            <a:ext cx="10515600" cy="752476"/>
          </a:xfrm>
          <a:prstGeom prst="rect">
            <a:avLst/>
          </a:prstGeom>
        </p:spPr>
        <p:txBody>
          <a:bodyPr lIns="0" tIns="0" rIns="0" bIns="0" anchor="ctr"/>
          <a:lstStyle>
            <a:lvl1pPr algn="ctr">
              <a:defRPr sz="2400" spc="50">
                <a:solidFill>
                  <a:schemeClr val="tx2"/>
                </a:solidFill>
                <a:latin typeface="Fz Poppins ExtBd" pitchFamily="2" charset="0"/>
                <a:cs typeface="Fz Poppins ExtBd" pitchFamily="2" charset="0"/>
              </a:defRPr>
            </a:lvl1pPr>
          </a:lstStyle>
          <a:p>
            <a:r>
              <a:rPr lang="en-US" dirty="0"/>
              <a:t>CLICK TO ADD TEXT</a:t>
            </a:r>
          </a:p>
        </p:txBody>
      </p:sp>
      <p:sp>
        <p:nvSpPr>
          <p:cNvPr id="3" name="Slide Number Placeholder 2">
            <a:extLst>
              <a:ext uri="{FF2B5EF4-FFF2-40B4-BE49-F238E27FC236}">
                <a16:creationId xmlns:a16="http://schemas.microsoft.com/office/drawing/2014/main" id="{F1AACD49-7355-464B-AA0C-D01221A67E3E}"/>
              </a:ext>
            </a:extLst>
          </p:cNvPr>
          <p:cNvSpPr>
            <a:spLocks noGrp="1"/>
          </p:cNvSpPr>
          <p:nvPr>
            <p:ph type="sldNum" sz="quarter" idx="10"/>
          </p:nvPr>
        </p:nvSpPr>
        <p:spPr/>
        <p:txBody>
          <a:bodyPr/>
          <a:lstStyle>
            <a:lvl1pPr>
              <a:defRPr>
                <a:solidFill>
                  <a:schemeClr val="tx2"/>
                </a:solidFill>
              </a:defRPr>
            </a:lvl1pPr>
          </a:lstStyle>
          <a:p>
            <a:fld id="{A8929BE4-9460-4FFC-82AB-40FA3E28D9A3}" type="slidenum">
              <a:rPr lang="en-US" smtClean="0"/>
              <a:pPr/>
              <a:t>‹#›</a:t>
            </a:fld>
            <a:endParaRPr lang="en-US"/>
          </a:p>
        </p:txBody>
      </p:sp>
    </p:spTree>
    <p:extLst>
      <p:ext uri="{BB962C8B-B14F-4D97-AF65-F5344CB8AC3E}">
        <p14:creationId xmlns:p14="http://schemas.microsoft.com/office/powerpoint/2010/main" val="214155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0.xml"/><Relationship Id="rId4"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C565781-2D79-4D45-A7A2-C57001A02D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2"/>
                </a:solidFill>
                <a:latin typeface="Fz Poppins ExtBd" pitchFamily="2" charset="0"/>
                <a:cs typeface="Fz Poppins ExtBd" pitchFamily="2" charset="0"/>
              </a:defRPr>
            </a:lvl1pPr>
          </a:lstStyle>
          <a:p>
            <a:fld id="{A8929BE4-9460-4FFC-82AB-40FA3E28D9A3}" type="slidenum">
              <a:rPr lang="en-US" smtClean="0"/>
              <a:pPr/>
              <a:t>‹#›</a:t>
            </a:fld>
            <a:endParaRPr lang="en-US"/>
          </a:p>
        </p:txBody>
      </p:sp>
      <p:cxnSp>
        <p:nvCxnSpPr>
          <p:cNvPr id="8" name="Straight Connector 7">
            <a:extLst>
              <a:ext uri="{FF2B5EF4-FFF2-40B4-BE49-F238E27FC236}">
                <a16:creationId xmlns:a16="http://schemas.microsoft.com/office/drawing/2014/main" id="{18DD9DBA-58BA-4005-8053-2D968DD578F0}"/>
              </a:ext>
            </a:extLst>
          </p:cNvPr>
          <p:cNvCxnSpPr>
            <a:cxnSpLocks/>
          </p:cNvCxnSpPr>
          <p:nvPr userDrawn="1"/>
        </p:nvCxnSpPr>
        <p:spPr>
          <a:xfrm>
            <a:off x="785813" y="1157288"/>
            <a:ext cx="106203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280576B-DB13-449C-8DC8-D014DE94F2CF}"/>
              </a:ext>
            </a:extLst>
          </p:cNvPr>
          <p:cNvCxnSpPr>
            <a:cxnSpLocks/>
          </p:cNvCxnSpPr>
          <p:nvPr userDrawn="1"/>
        </p:nvCxnSpPr>
        <p:spPr>
          <a:xfrm>
            <a:off x="785813" y="6148388"/>
            <a:ext cx="106203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212685EB-AF8C-44A8-97EC-478556DEFBD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641902" y="1974902"/>
            <a:ext cx="2908195" cy="2908195"/>
          </a:xfrm>
          <a:prstGeom prst="rect">
            <a:avLst/>
          </a:prstGeom>
        </p:spPr>
      </p:pic>
    </p:spTree>
    <p:extLst>
      <p:ext uri="{BB962C8B-B14F-4D97-AF65-F5344CB8AC3E}">
        <p14:creationId xmlns:p14="http://schemas.microsoft.com/office/powerpoint/2010/main" val="4214531602"/>
      </p:ext>
    </p:extLst>
  </p:cSld>
  <p:clrMap bg1="lt1" tx1="dk1" bg2="lt2" tx2="dk2" accent1="accent1" accent2="accent2" accent3="accent3" accent4="accent4" accent5="accent5" accent6="accent6" hlink="hlink" folHlink="folHlink"/>
  <p:sldLayoutIdLst>
    <p:sldLayoutId id="2147483661" r:id="rId1"/>
    <p:sldLayoutId id="2147483666" r:id="rId2"/>
    <p:sldLayoutId id="2147483667" r:id="rId3"/>
    <p:sldLayoutId id="2147483668" r:id="rId4"/>
    <p:sldLayoutId id="2147483662" r:id="rId5"/>
    <p:sldLayoutId id="2147483663" r:id="rId6"/>
    <p:sldLayoutId id="2147483664" r:id="rId7"/>
    <p:sldLayoutId id="2147483665" r:id="rId8"/>
    <p:sldLayoutId id="2147483669"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C565781-2D79-4D45-A7A2-C57001A02D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2"/>
                </a:solidFill>
                <a:latin typeface="Fz Poppins ExtBd" pitchFamily="2" charset="0"/>
                <a:cs typeface="Fz Poppins ExtBd" pitchFamily="2" charset="0"/>
              </a:defRPr>
            </a:lvl1pPr>
          </a:lstStyle>
          <a:p>
            <a:fld id="{A8929BE4-9460-4FFC-82AB-40FA3E28D9A3}" type="slidenum">
              <a:rPr lang="en-US" smtClean="0"/>
              <a:pPr/>
              <a:t>‹#›</a:t>
            </a:fld>
            <a:endParaRPr lang="en-US"/>
          </a:p>
        </p:txBody>
      </p:sp>
      <p:cxnSp>
        <p:nvCxnSpPr>
          <p:cNvPr id="8" name="Straight Connector 7">
            <a:extLst>
              <a:ext uri="{FF2B5EF4-FFF2-40B4-BE49-F238E27FC236}">
                <a16:creationId xmlns:a16="http://schemas.microsoft.com/office/drawing/2014/main" id="{18DD9DBA-58BA-4005-8053-2D968DD578F0}"/>
              </a:ext>
            </a:extLst>
          </p:cNvPr>
          <p:cNvCxnSpPr>
            <a:cxnSpLocks/>
          </p:cNvCxnSpPr>
          <p:nvPr userDrawn="1"/>
        </p:nvCxnSpPr>
        <p:spPr>
          <a:xfrm>
            <a:off x="785813" y="1157288"/>
            <a:ext cx="106203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280576B-DB13-449C-8DC8-D014DE94F2CF}"/>
              </a:ext>
            </a:extLst>
          </p:cNvPr>
          <p:cNvCxnSpPr>
            <a:cxnSpLocks/>
          </p:cNvCxnSpPr>
          <p:nvPr userDrawn="1"/>
        </p:nvCxnSpPr>
        <p:spPr>
          <a:xfrm>
            <a:off x="785813" y="6148388"/>
            <a:ext cx="106203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212685EB-AF8C-44A8-97EC-478556DEFBD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41902" y="1974902"/>
            <a:ext cx="2908195" cy="2908195"/>
          </a:xfrm>
          <a:prstGeom prst="rect">
            <a:avLst/>
          </a:prstGeom>
        </p:spPr>
      </p:pic>
    </p:spTree>
    <p:extLst>
      <p:ext uri="{BB962C8B-B14F-4D97-AF65-F5344CB8AC3E}">
        <p14:creationId xmlns:p14="http://schemas.microsoft.com/office/powerpoint/2010/main" val="2918097395"/>
      </p:ext>
    </p:extLst>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C565781-2D79-4D45-A7A2-C57001A02D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2"/>
                </a:solidFill>
                <a:latin typeface="Fz Poppins ExtBd" pitchFamily="2" charset="0"/>
                <a:cs typeface="Fz Poppins ExtBd" pitchFamily="2" charset="0"/>
              </a:defRPr>
            </a:lvl1pPr>
          </a:lstStyle>
          <a:p>
            <a:fld id="{A8929BE4-9460-4FFC-82AB-40FA3E28D9A3}" type="slidenum">
              <a:rPr lang="en-US" smtClean="0"/>
              <a:pPr/>
              <a:t>‹#›</a:t>
            </a:fld>
            <a:endParaRPr lang="en-US"/>
          </a:p>
        </p:txBody>
      </p:sp>
      <p:cxnSp>
        <p:nvCxnSpPr>
          <p:cNvPr id="8" name="Straight Connector 7">
            <a:extLst>
              <a:ext uri="{FF2B5EF4-FFF2-40B4-BE49-F238E27FC236}">
                <a16:creationId xmlns:a16="http://schemas.microsoft.com/office/drawing/2014/main" id="{18DD9DBA-58BA-4005-8053-2D968DD578F0}"/>
              </a:ext>
            </a:extLst>
          </p:cNvPr>
          <p:cNvCxnSpPr>
            <a:cxnSpLocks/>
          </p:cNvCxnSpPr>
          <p:nvPr userDrawn="1"/>
        </p:nvCxnSpPr>
        <p:spPr>
          <a:xfrm>
            <a:off x="785813" y="1157288"/>
            <a:ext cx="106203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280576B-DB13-449C-8DC8-D014DE94F2CF}"/>
              </a:ext>
            </a:extLst>
          </p:cNvPr>
          <p:cNvCxnSpPr>
            <a:cxnSpLocks/>
          </p:cNvCxnSpPr>
          <p:nvPr userDrawn="1"/>
        </p:nvCxnSpPr>
        <p:spPr>
          <a:xfrm>
            <a:off x="785813" y="6148388"/>
            <a:ext cx="106203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824956"/>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8" Type="http://schemas.openxmlformats.org/officeDocument/2006/relationships/hyperlink" Target="https://fastapi.tiangolo.com/tutorial/bigger-applications/" TargetMode="External"/><Relationship Id="rId3" Type="http://schemas.openxmlformats.org/officeDocument/2006/relationships/hyperlink" Target="https://en.wikipedia.org/wiki/Abstract_syntax_tree" TargetMode="External"/><Relationship Id="rId7" Type="http://schemas.openxmlformats.org/officeDocument/2006/relationships/hyperlink" Target="https://uptrace.dev/blog/python-fastapi" TargetMode="External"/><Relationship Id="rId2" Type="http://schemas.openxmlformats.org/officeDocument/2006/relationships/hyperlink" Target="https://github.com/vercel/next.js" TargetMode="External"/><Relationship Id="rId1" Type="http://schemas.openxmlformats.org/officeDocument/2006/relationships/slideLayout" Target="../slideLayouts/slideLayout7.xml"/><Relationship Id="rId6" Type="http://schemas.openxmlformats.org/officeDocument/2006/relationships/hyperlink" Target="https://www.geeksforgeeks.org/python/fastapi-architecture/" TargetMode="External"/><Relationship Id="rId5" Type="http://schemas.openxmlformats.org/officeDocument/2006/relationships/hyperlink" Target="https://en.wikipedia.org/wiki/Heuristic_(computer_science)" TargetMode="External"/><Relationship Id="rId4" Type="http://schemas.openxmlformats.org/officeDocument/2006/relationships/hyperlink" Target="https://viblo.asia/p/phan-tich-source-code-voi-shiftleft-ng-sast-yMnKM8nN57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61C49FC-B6AB-CC41-2C6C-1BA56123122E}"/>
              </a:ext>
            </a:extLst>
          </p:cNvPr>
          <p:cNvSpPr>
            <a:spLocks noGrp="1"/>
          </p:cNvSpPr>
          <p:nvPr>
            <p:ph type="sldNum" sz="quarter" idx="10"/>
          </p:nvPr>
        </p:nvSpPr>
        <p:spPr/>
        <p:txBody>
          <a:bodyPr/>
          <a:lstStyle/>
          <a:p>
            <a:fld id="{A8929BE4-9460-4FFC-82AB-40FA3E28D9A3}" type="slidenum">
              <a:rPr lang="en-US" smtClean="0"/>
              <a:pPr/>
              <a:t>1</a:t>
            </a:fld>
            <a:endParaRPr lang="en-US"/>
          </a:p>
        </p:txBody>
      </p:sp>
      <p:pic>
        <p:nvPicPr>
          <p:cNvPr id="4" name="Graphic 3">
            <a:extLst>
              <a:ext uri="{FF2B5EF4-FFF2-40B4-BE49-F238E27FC236}">
                <a16:creationId xmlns:a16="http://schemas.microsoft.com/office/drawing/2014/main" id="{99533B86-B754-4A0B-5BF0-1633C51604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7078" y="244821"/>
            <a:ext cx="5217481" cy="830810"/>
          </a:xfrm>
          <a:prstGeom prst="rect">
            <a:avLst/>
          </a:prstGeom>
        </p:spPr>
      </p:pic>
      <p:cxnSp>
        <p:nvCxnSpPr>
          <p:cNvPr id="5" name="Google Shape;346;p36">
            <a:extLst>
              <a:ext uri="{FF2B5EF4-FFF2-40B4-BE49-F238E27FC236}">
                <a16:creationId xmlns:a16="http://schemas.microsoft.com/office/drawing/2014/main" id="{87C260DB-954C-667A-6ABB-999753263BAE}"/>
              </a:ext>
            </a:extLst>
          </p:cNvPr>
          <p:cNvCxnSpPr>
            <a:cxnSpLocks/>
          </p:cNvCxnSpPr>
          <p:nvPr/>
        </p:nvCxnSpPr>
        <p:spPr>
          <a:xfrm>
            <a:off x="1249425" y="5162291"/>
            <a:ext cx="3966301" cy="0"/>
          </a:xfrm>
          <a:prstGeom prst="straightConnector1">
            <a:avLst/>
          </a:prstGeom>
          <a:noFill/>
          <a:ln w="19050" cap="flat" cmpd="sng">
            <a:solidFill>
              <a:schemeClr val="tx2"/>
            </a:solidFill>
            <a:prstDash val="solid"/>
            <a:round/>
            <a:headEnd type="none" w="med" len="med"/>
            <a:tailEnd type="none" w="med" len="med"/>
          </a:ln>
        </p:spPr>
      </p:cxnSp>
      <p:sp>
        <p:nvSpPr>
          <p:cNvPr id="6" name="Text Placeholder 38">
            <a:extLst>
              <a:ext uri="{FF2B5EF4-FFF2-40B4-BE49-F238E27FC236}">
                <a16:creationId xmlns:a16="http://schemas.microsoft.com/office/drawing/2014/main" id="{0D7DC595-293C-6579-1442-28CB226A195A}"/>
              </a:ext>
            </a:extLst>
          </p:cNvPr>
          <p:cNvSpPr txBox="1">
            <a:spLocks/>
          </p:cNvSpPr>
          <p:nvPr/>
        </p:nvSpPr>
        <p:spPr>
          <a:xfrm>
            <a:off x="1249425" y="5592194"/>
            <a:ext cx="1927495" cy="178627"/>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solidFill>
                <a:latin typeface="Inter Medium" panose="02000603000000020004" pitchFamily="50" charset="0"/>
                <a:ea typeface="Inter Medium" panose="02000603000000020004" pitchFamily="50" charset="0"/>
                <a:cs typeface="Inter Medium" panose="02000603000000020004" pitchFamily="5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dirty="0" err="1">
                <a:solidFill>
                  <a:schemeClr val="tx2"/>
                </a:solidFill>
                <a:latin typeface="Fz Poppins SemBd" pitchFamily="2" charset="0"/>
                <a:cs typeface="Fz Poppins SemBd" pitchFamily="2" charset="0"/>
              </a:rPr>
              <a:t>Phạm</a:t>
            </a:r>
            <a:r>
              <a:rPr lang="en-US" dirty="0">
                <a:solidFill>
                  <a:schemeClr val="tx2"/>
                </a:solidFill>
                <a:latin typeface="Fz Poppins SemBd" pitchFamily="2" charset="0"/>
                <a:cs typeface="Fz Poppins SemBd" pitchFamily="2" charset="0"/>
              </a:rPr>
              <a:t> </a:t>
            </a:r>
            <a:r>
              <a:rPr lang="en-US" dirty="0" err="1">
                <a:solidFill>
                  <a:schemeClr val="tx2"/>
                </a:solidFill>
                <a:latin typeface="Fz Poppins SemBd" pitchFamily="2" charset="0"/>
                <a:cs typeface="Fz Poppins SemBd" pitchFamily="2" charset="0"/>
              </a:rPr>
              <a:t>Hữu</a:t>
            </a:r>
            <a:r>
              <a:rPr lang="en-US" dirty="0">
                <a:solidFill>
                  <a:schemeClr val="tx2"/>
                </a:solidFill>
                <a:latin typeface="Fz Poppins SemBd" pitchFamily="2" charset="0"/>
                <a:cs typeface="Fz Poppins SemBd" pitchFamily="2" charset="0"/>
              </a:rPr>
              <a:t> </a:t>
            </a:r>
            <a:r>
              <a:rPr lang="en-US" dirty="0" err="1">
                <a:solidFill>
                  <a:schemeClr val="tx2"/>
                </a:solidFill>
                <a:latin typeface="Fz Poppins SemBd" pitchFamily="2" charset="0"/>
                <a:cs typeface="Fz Poppins SemBd" pitchFamily="2" charset="0"/>
              </a:rPr>
              <a:t>Lộc</a:t>
            </a:r>
            <a:endParaRPr lang="en-US" dirty="0">
              <a:solidFill>
                <a:schemeClr val="tx2"/>
              </a:solidFill>
              <a:latin typeface="Fz Poppins SemBd" pitchFamily="2" charset="0"/>
              <a:cs typeface="Fz Poppins SemBd" pitchFamily="2" charset="0"/>
            </a:endParaRPr>
          </a:p>
        </p:txBody>
      </p:sp>
      <p:sp>
        <p:nvSpPr>
          <p:cNvPr id="7" name="Text Placeholder 38">
            <a:extLst>
              <a:ext uri="{FF2B5EF4-FFF2-40B4-BE49-F238E27FC236}">
                <a16:creationId xmlns:a16="http://schemas.microsoft.com/office/drawing/2014/main" id="{29FE28B2-A1B9-BFA5-8C60-2E79AB03633E}"/>
              </a:ext>
            </a:extLst>
          </p:cNvPr>
          <p:cNvSpPr txBox="1">
            <a:spLocks/>
          </p:cNvSpPr>
          <p:nvPr/>
        </p:nvSpPr>
        <p:spPr>
          <a:xfrm>
            <a:off x="3179116" y="5590462"/>
            <a:ext cx="2036610" cy="180359"/>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solidFill>
                <a:latin typeface="Inter Medium" panose="02000603000000020004" pitchFamily="50" charset="0"/>
                <a:ea typeface="Inter Medium" panose="02000603000000020004" pitchFamily="50" charset="0"/>
                <a:cs typeface="Inter Medium" panose="02000603000000020004" pitchFamily="5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dirty="0">
                <a:solidFill>
                  <a:schemeClr val="tx2"/>
                </a:solidFill>
                <a:latin typeface="Fz Poppins SemBd" pitchFamily="2" charset="0"/>
                <a:cs typeface="Fz Poppins SemBd" pitchFamily="2" charset="0"/>
              </a:rPr>
              <a:t>TS. </a:t>
            </a:r>
            <a:r>
              <a:rPr lang="en-US" dirty="0" err="1">
                <a:solidFill>
                  <a:schemeClr val="tx2"/>
                </a:solidFill>
                <a:latin typeface="Fz Poppins SemBd" pitchFamily="2" charset="0"/>
                <a:cs typeface="Fz Poppins SemBd" pitchFamily="2" charset="0"/>
              </a:rPr>
              <a:t>Nguyễn</a:t>
            </a:r>
            <a:r>
              <a:rPr lang="en-US" dirty="0">
                <a:solidFill>
                  <a:schemeClr val="tx2"/>
                </a:solidFill>
                <a:latin typeface="Fz Poppins SemBd" pitchFamily="2" charset="0"/>
                <a:cs typeface="Fz Poppins SemBd" pitchFamily="2" charset="0"/>
              </a:rPr>
              <a:t> </a:t>
            </a:r>
            <a:r>
              <a:rPr lang="en-US" dirty="0" err="1">
                <a:solidFill>
                  <a:schemeClr val="tx2"/>
                </a:solidFill>
                <a:latin typeface="Fz Poppins SemBd" pitchFamily="2" charset="0"/>
                <a:cs typeface="Fz Poppins SemBd" pitchFamily="2" charset="0"/>
              </a:rPr>
              <a:t>Bảo</a:t>
            </a:r>
            <a:r>
              <a:rPr lang="en-US" dirty="0">
                <a:solidFill>
                  <a:schemeClr val="tx2"/>
                </a:solidFill>
                <a:latin typeface="Fz Poppins SemBd" pitchFamily="2" charset="0"/>
                <a:cs typeface="Fz Poppins SemBd" pitchFamily="2" charset="0"/>
              </a:rPr>
              <a:t> </a:t>
            </a:r>
            <a:r>
              <a:rPr lang="en-US" dirty="0" err="1">
                <a:solidFill>
                  <a:schemeClr val="tx2"/>
                </a:solidFill>
                <a:latin typeface="Fz Poppins SemBd" pitchFamily="2" charset="0"/>
                <a:cs typeface="Fz Poppins SemBd" pitchFamily="2" charset="0"/>
              </a:rPr>
              <a:t>Ân</a:t>
            </a:r>
            <a:endParaRPr lang="en-US" dirty="0">
              <a:solidFill>
                <a:schemeClr val="tx2"/>
              </a:solidFill>
              <a:latin typeface="Fz Poppins SemBd" pitchFamily="2" charset="0"/>
              <a:cs typeface="Fz Poppins SemBd" pitchFamily="2" charset="0"/>
            </a:endParaRPr>
          </a:p>
        </p:txBody>
      </p:sp>
      <p:sp>
        <p:nvSpPr>
          <p:cNvPr id="8" name="Text Placeholder 38">
            <a:extLst>
              <a:ext uri="{FF2B5EF4-FFF2-40B4-BE49-F238E27FC236}">
                <a16:creationId xmlns:a16="http://schemas.microsoft.com/office/drawing/2014/main" id="{39D11A3B-3EBF-ED58-7461-F9F923BD1616}"/>
              </a:ext>
            </a:extLst>
          </p:cNvPr>
          <p:cNvSpPr txBox="1">
            <a:spLocks/>
          </p:cNvSpPr>
          <p:nvPr/>
        </p:nvSpPr>
        <p:spPr>
          <a:xfrm>
            <a:off x="1249425" y="5345923"/>
            <a:ext cx="1927495" cy="180359"/>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1200" b="0" kern="1200">
                <a:solidFill>
                  <a:schemeClr val="tx1"/>
                </a:solidFill>
                <a:latin typeface="Inter V Extra Bold" panose="02000503000000020004" pitchFamily="2" charset="0"/>
                <a:ea typeface="Inter V Extra Bold" panose="02000503000000020004" pitchFamily="2" charset="0"/>
                <a:cs typeface="Inter V Extra Bold"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a:solidFill>
                  <a:schemeClr val="tx2"/>
                </a:solidFill>
                <a:latin typeface="Fz Poppins ExtBd" pitchFamily="2" charset="0"/>
                <a:cs typeface="Fz Poppins ExtBd" pitchFamily="2" charset="0"/>
              </a:rPr>
              <a:t>Sinh viên thực hiện:</a:t>
            </a:r>
            <a:endParaRPr lang="en-US" dirty="0">
              <a:solidFill>
                <a:schemeClr val="tx2"/>
              </a:solidFill>
              <a:latin typeface="Fz Poppins ExtBd" pitchFamily="2" charset="0"/>
              <a:cs typeface="Fz Poppins ExtBd" pitchFamily="2" charset="0"/>
            </a:endParaRPr>
          </a:p>
        </p:txBody>
      </p:sp>
      <p:sp>
        <p:nvSpPr>
          <p:cNvPr id="9" name="Text Placeholder 38">
            <a:extLst>
              <a:ext uri="{FF2B5EF4-FFF2-40B4-BE49-F238E27FC236}">
                <a16:creationId xmlns:a16="http://schemas.microsoft.com/office/drawing/2014/main" id="{4F8B007C-31D4-3C0E-D2A3-D494D1196F45}"/>
              </a:ext>
            </a:extLst>
          </p:cNvPr>
          <p:cNvSpPr txBox="1">
            <a:spLocks/>
          </p:cNvSpPr>
          <p:nvPr/>
        </p:nvSpPr>
        <p:spPr>
          <a:xfrm>
            <a:off x="3173891" y="5345923"/>
            <a:ext cx="2043166" cy="180359"/>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1200" b="0" kern="1200" baseline="0">
                <a:solidFill>
                  <a:schemeClr val="tx1"/>
                </a:solidFill>
                <a:latin typeface="Inter V Extra Bold" panose="02000503000000020004" pitchFamily="2" charset="0"/>
                <a:ea typeface="Inter V Extra Bold" panose="02000503000000020004" pitchFamily="2" charset="0"/>
                <a:cs typeface="Inter V Extra Bold"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dirty="0" err="1">
                <a:solidFill>
                  <a:schemeClr val="tx2"/>
                </a:solidFill>
                <a:latin typeface="Fz Poppins ExtBd" pitchFamily="2" charset="0"/>
                <a:cs typeface="Fz Poppins ExtBd" pitchFamily="2" charset="0"/>
              </a:rPr>
              <a:t>Giáo</a:t>
            </a:r>
            <a:r>
              <a:rPr lang="en-US" dirty="0">
                <a:solidFill>
                  <a:schemeClr val="tx2"/>
                </a:solidFill>
                <a:latin typeface="Fz Poppins ExtBd" pitchFamily="2" charset="0"/>
                <a:cs typeface="Fz Poppins ExtBd" pitchFamily="2" charset="0"/>
              </a:rPr>
              <a:t> </a:t>
            </a:r>
            <a:r>
              <a:rPr lang="en-US" dirty="0" err="1">
                <a:solidFill>
                  <a:schemeClr val="tx2"/>
                </a:solidFill>
                <a:latin typeface="Fz Poppins ExtBd" pitchFamily="2" charset="0"/>
                <a:cs typeface="Fz Poppins ExtBd" pitchFamily="2" charset="0"/>
              </a:rPr>
              <a:t>viên</a:t>
            </a:r>
            <a:r>
              <a:rPr lang="en-US" dirty="0">
                <a:solidFill>
                  <a:schemeClr val="tx2"/>
                </a:solidFill>
                <a:latin typeface="Fz Poppins ExtBd" pitchFamily="2" charset="0"/>
                <a:cs typeface="Fz Poppins ExtBd" pitchFamily="2" charset="0"/>
              </a:rPr>
              <a:t> </a:t>
            </a:r>
            <a:r>
              <a:rPr lang="en-US" dirty="0" err="1">
                <a:solidFill>
                  <a:schemeClr val="tx2"/>
                </a:solidFill>
                <a:latin typeface="Fz Poppins ExtBd" pitchFamily="2" charset="0"/>
                <a:cs typeface="Fz Poppins ExtBd" pitchFamily="2" charset="0"/>
              </a:rPr>
              <a:t>hướng</a:t>
            </a:r>
            <a:r>
              <a:rPr lang="en-US" dirty="0">
                <a:solidFill>
                  <a:schemeClr val="tx2"/>
                </a:solidFill>
                <a:latin typeface="Fz Poppins ExtBd" pitchFamily="2" charset="0"/>
                <a:cs typeface="Fz Poppins ExtBd" pitchFamily="2" charset="0"/>
              </a:rPr>
              <a:t> </a:t>
            </a:r>
            <a:r>
              <a:rPr lang="en-US" dirty="0" err="1">
                <a:solidFill>
                  <a:schemeClr val="tx2"/>
                </a:solidFill>
                <a:latin typeface="Fz Poppins ExtBd" pitchFamily="2" charset="0"/>
                <a:cs typeface="Fz Poppins ExtBd" pitchFamily="2" charset="0"/>
              </a:rPr>
              <a:t>dẫn</a:t>
            </a:r>
            <a:r>
              <a:rPr lang="en-US" dirty="0">
                <a:solidFill>
                  <a:schemeClr val="tx2"/>
                </a:solidFill>
                <a:latin typeface="Fz Poppins ExtBd" pitchFamily="2" charset="0"/>
                <a:cs typeface="Fz Poppins ExtBd" pitchFamily="2" charset="0"/>
              </a:rPr>
              <a:t>:</a:t>
            </a:r>
          </a:p>
        </p:txBody>
      </p:sp>
      <p:sp>
        <p:nvSpPr>
          <p:cNvPr id="10" name="Google Shape;344;p36">
            <a:extLst>
              <a:ext uri="{FF2B5EF4-FFF2-40B4-BE49-F238E27FC236}">
                <a16:creationId xmlns:a16="http://schemas.microsoft.com/office/drawing/2014/main" id="{4C25D500-8BF9-F09D-E52F-E5EE771AEA21}"/>
              </a:ext>
            </a:extLst>
          </p:cNvPr>
          <p:cNvSpPr txBox="1">
            <a:spLocks/>
          </p:cNvSpPr>
          <p:nvPr/>
        </p:nvSpPr>
        <p:spPr>
          <a:xfrm>
            <a:off x="787078" y="2834896"/>
            <a:ext cx="10566722" cy="1188208"/>
          </a:xfrm>
          <a:prstGeom prst="rect">
            <a:avLst/>
          </a:prstGeom>
        </p:spPr>
        <p:txBody>
          <a:bodyPr spcFirstLastPara="1" wrap="square" lIns="0" tIns="0" rIns="0" bIns="0" anchor="b" anchorCtr="0">
            <a:noAutofit/>
          </a:bodyPr>
          <a:lstStyle>
            <a:lvl1pPr algn="ctr" defTabSz="914400" rtl="0" eaLnBrk="1" latinLnBrk="0" hangingPunct="1">
              <a:lnSpc>
                <a:spcPct val="90000"/>
              </a:lnSpc>
              <a:spcBef>
                <a:spcPct val="0"/>
              </a:spcBef>
              <a:buNone/>
              <a:defRPr sz="3600" b="1" kern="1200" spc="50" baseline="0">
                <a:solidFill>
                  <a:schemeClr val="tx1"/>
                </a:solidFill>
                <a:latin typeface="Inter Black" panose="02000A03000000020004" pitchFamily="50" charset="0"/>
                <a:ea typeface="Inter Black" panose="02000A03000000020004" pitchFamily="50" charset="0"/>
                <a:cs typeface="Inter Black" panose="02000A03000000020004" pitchFamily="50" charset="0"/>
              </a:defRPr>
            </a:lvl1pPr>
          </a:lstStyle>
          <a:p>
            <a:pPr>
              <a:lnSpc>
                <a:spcPct val="120000"/>
              </a:lnSpc>
              <a:spcBef>
                <a:spcPts val="0"/>
              </a:spcBef>
            </a:pPr>
            <a:r>
              <a:rPr lang="vi-VN" sz="3200" spc="100" dirty="0">
                <a:solidFill>
                  <a:schemeClr val="tx2"/>
                </a:solidFill>
                <a:latin typeface="Fz Poppins Black" pitchFamily="2" charset="0"/>
                <a:cs typeface="Fz Poppins Black" pitchFamily="2" charset="0"/>
              </a:rPr>
              <a:t>XÂY DỰNG CƠ CHẾ PHÁT HIỆN AI-GENERATED </a:t>
            </a:r>
          </a:p>
          <a:p>
            <a:pPr>
              <a:lnSpc>
                <a:spcPct val="120000"/>
              </a:lnSpc>
              <a:spcBef>
                <a:spcPts val="0"/>
              </a:spcBef>
            </a:pPr>
            <a:r>
              <a:rPr lang="vi-VN" sz="3200" spc="100" dirty="0">
                <a:solidFill>
                  <a:schemeClr val="tx2"/>
                </a:solidFill>
                <a:latin typeface="Fz Poppins Black" pitchFamily="2" charset="0"/>
                <a:cs typeface="Fz Poppins Black" pitchFamily="2" charset="0"/>
              </a:rPr>
              <a:t>CODE TRONG BÀI TẬP LẬP TRÌNH SINH VIÊN</a:t>
            </a:r>
            <a:endParaRPr lang="en-US" sz="3200" spc="100" dirty="0">
              <a:solidFill>
                <a:schemeClr val="tx2"/>
              </a:solidFill>
              <a:latin typeface="Fz Poppins Black" pitchFamily="2" charset="0"/>
              <a:cs typeface="Fz Poppins Black" pitchFamily="2" charset="0"/>
            </a:endParaRPr>
          </a:p>
        </p:txBody>
      </p:sp>
      <p:sp>
        <p:nvSpPr>
          <p:cNvPr id="11" name="TextBox 10">
            <a:extLst>
              <a:ext uri="{FF2B5EF4-FFF2-40B4-BE49-F238E27FC236}">
                <a16:creationId xmlns:a16="http://schemas.microsoft.com/office/drawing/2014/main" id="{9B107AF2-753D-724B-996C-B869F7EF00AE}"/>
              </a:ext>
            </a:extLst>
          </p:cNvPr>
          <p:cNvSpPr txBox="1"/>
          <p:nvPr/>
        </p:nvSpPr>
        <p:spPr>
          <a:xfrm>
            <a:off x="8061402" y="367839"/>
            <a:ext cx="3343520" cy="584775"/>
          </a:xfrm>
          <a:prstGeom prst="rect">
            <a:avLst/>
          </a:prstGeom>
          <a:noFill/>
        </p:spPr>
        <p:txBody>
          <a:bodyPr wrap="square">
            <a:spAutoFit/>
          </a:bodyPr>
          <a:lstStyle/>
          <a:p>
            <a:pPr algn="r"/>
            <a:r>
              <a:rPr lang="en-US" sz="1600" b="1" dirty="0">
                <a:solidFill>
                  <a:schemeClr val="tx2"/>
                </a:solidFill>
                <a:latin typeface="Fz Poppins ExtBd" pitchFamily="2" charset="0"/>
                <a:cs typeface="Fz Poppins ExtBd" pitchFamily="2" charset="0"/>
              </a:rPr>
              <a:t>KHOÁ LUẬN TỐT NGHIỆP</a:t>
            </a:r>
            <a:br>
              <a:rPr lang="en-US" sz="1600" b="1" dirty="0">
                <a:solidFill>
                  <a:schemeClr val="tx2"/>
                </a:solidFill>
                <a:latin typeface="Fz Poppins ExtBd" pitchFamily="2" charset="0"/>
                <a:cs typeface="Fz Poppins ExtBd" pitchFamily="2" charset="0"/>
              </a:rPr>
            </a:br>
            <a:r>
              <a:rPr lang="en-US" sz="1600" b="1" dirty="0">
                <a:solidFill>
                  <a:schemeClr val="tx2"/>
                </a:solidFill>
                <a:latin typeface="Fz Poppins ExtBd" pitchFamily="2" charset="0"/>
                <a:cs typeface="Fz Poppins ExtBd" pitchFamily="2" charset="0"/>
              </a:rPr>
              <a:t>KHOÁ 2021</a:t>
            </a:r>
            <a:endParaRPr lang="en-US" sz="1600" dirty="0">
              <a:solidFill>
                <a:schemeClr val="tx2"/>
              </a:solidFill>
            </a:endParaRPr>
          </a:p>
        </p:txBody>
      </p:sp>
      <p:sp>
        <p:nvSpPr>
          <p:cNvPr id="12" name="TextBox 11">
            <a:extLst>
              <a:ext uri="{FF2B5EF4-FFF2-40B4-BE49-F238E27FC236}">
                <a16:creationId xmlns:a16="http://schemas.microsoft.com/office/drawing/2014/main" id="{5AD2C376-538E-8F56-7D2E-C1AEC6629F3A}"/>
              </a:ext>
            </a:extLst>
          </p:cNvPr>
          <p:cNvSpPr txBox="1"/>
          <p:nvPr/>
        </p:nvSpPr>
        <p:spPr>
          <a:xfrm>
            <a:off x="5467783" y="2251311"/>
            <a:ext cx="1256434" cy="461665"/>
          </a:xfrm>
          <a:prstGeom prst="rect">
            <a:avLst/>
          </a:prstGeom>
          <a:noFill/>
        </p:spPr>
        <p:txBody>
          <a:bodyPr wrap="none" rtlCol="0">
            <a:spAutoFit/>
          </a:bodyPr>
          <a:lstStyle/>
          <a:p>
            <a:r>
              <a:rPr lang="en-US" sz="2400" spc="120" dirty="0">
                <a:solidFill>
                  <a:schemeClr val="tx2"/>
                </a:solidFill>
                <a:latin typeface="Fz Poppins Black" pitchFamily="2" charset="0"/>
                <a:cs typeface="Fz Poppins Black" pitchFamily="2" charset="0"/>
              </a:rPr>
              <a:t>ĐỀ TÀI</a:t>
            </a:r>
          </a:p>
        </p:txBody>
      </p:sp>
    </p:spTree>
    <p:extLst>
      <p:ext uri="{BB962C8B-B14F-4D97-AF65-F5344CB8AC3E}">
        <p14:creationId xmlns:p14="http://schemas.microsoft.com/office/powerpoint/2010/main" val="3169509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5F8CCC-C067-E031-E393-89E60B4E2CAD}"/>
              </a:ext>
            </a:extLst>
          </p:cNvPr>
          <p:cNvSpPr>
            <a:spLocks noGrp="1"/>
          </p:cNvSpPr>
          <p:nvPr>
            <p:ph type="sldNum" sz="quarter" idx="10"/>
          </p:nvPr>
        </p:nvSpPr>
        <p:spPr/>
        <p:txBody>
          <a:bodyPr/>
          <a:lstStyle/>
          <a:p>
            <a:fld id="{A8929BE4-9460-4FFC-82AB-40FA3E28D9A3}" type="slidenum">
              <a:rPr lang="en-US" smtClean="0"/>
              <a:pPr/>
              <a:t>2</a:t>
            </a:fld>
            <a:endParaRPr lang="en-US"/>
          </a:p>
        </p:txBody>
      </p:sp>
      <p:sp>
        <p:nvSpPr>
          <p:cNvPr id="3" name="Text Placeholder 2">
            <a:extLst>
              <a:ext uri="{FF2B5EF4-FFF2-40B4-BE49-F238E27FC236}">
                <a16:creationId xmlns:a16="http://schemas.microsoft.com/office/drawing/2014/main" id="{C1F1AA62-D896-6F98-C310-323534963717}"/>
              </a:ext>
            </a:extLst>
          </p:cNvPr>
          <p:cNvSpPr>
            <a:spLocks noGrp="1"/>
          </p:cNvSpPr>
          <p:nvPr>
            <p:ph type="body" sz="quarter" idx="32"/>
          </p:nvPr>
        </p:nvSpPr>
        <p:spPr/>
        <p:txBody>
          <a:bodyPr/>
          <a:lstStyle/>
          <a:p>
            <a:r>
              <a:rPr lang="en-US" dirty="0"/>
              <a:t>02</a:t>
            </a:r>
          </a:p>
        </p:txBody>
      </p:sp>
      <p:sp>
        <p:nvSpPr>
          <p:cNvPr id="4" name="Text Placeholder 3">
            <a:extLst>
              <a:ext uri="{FF2B5EF4-FFF2-40B4-BE49-F238E27FC236}">
                <a16:creationId xmlns:a16="http://schemas.microsoft.com/office/drawing/2014/main" id="{089A8922-60DD-6384-283E-38E1CE6F65A3}"/>
              </a:ext>
            </a:extLst>
          </p:cNvPr>
          <p:cNvSpPr>
            <a:spLocks noGrp="1"/>
          </p:cNvSpPr>
          <p:nvPr>
            <p:ph type="body" sz="quarter" idx="33"/>
          </p:nvPr>
        </p:nvSpPr>
        <p:spPr/>
        <p:txBody>
          <a:bodyPr/>
          <a:lstStyle/>
          <a:p>
            <a:r>
              <a:rPr lang="en-US" spc="50" dirty="0"/>
              <a:t>CƠ SỞ LÝ THUYẾT</a:t>
            </a:r>
          </a:p>
        </p:txBody>
      </p:sp>
      <p:sp>
        <p:nvSpPr>
          <p:cNvPr id="5" name="Text Placeholder 4">
            <a:extLst>
              <a:ext uri="{FF2B5EF4-FFF2-40B4-BE49-F238E27FC236}">
                <a16:creationId xmlns:a16="http://schemas.microsoft.com/office/drawing/2014/main" id="{E0B0D57B-4520-4D1A-843E-B87F6A820BBB}"/>
              </a:ext>
            </a:extLst>
          </p:cNvPr>
          <p:cNvSpPr>
            <a:spLocks noGrp="1"/>
          </p:cNvSpPr>
          <p:nvPr>
            <p:ph type="body" sz="quarter" idx="34"/>
          </p:nvPr>
        </p:nvSpPr>
        <p:spPr/>
        <p:txBody>
          <a:bodyPr/>
          <a:lstStyle/>
          <a:p>
            <a:r>
              <a:rPr lang="en-US" dirty="0"/>
              <a:t>03</a:t>
            </a:r>
          </a:p>
        </p:txBody>
      </p:sp>
      <p:sp>
        <p:nvSpPr>
          <p:cNvPr id="6" name="Text Placeholder 5">
            <a:extLst>
              <a:ext uri="{FF2B5EF4-FFF2-40B4-BE49-F238E27FC236}">
                <a16:creationId xmlns:a16="http://schemas.microsoft.com/office/drawing/2014/main" id="{9707FB48-1A9B-8118-164B-B3E15715091A}"/>
              </a:ext>
            </a:extLst>
          </p:cNvPr>
          <p:cNvSpPr>
            <a:spLocks noGrp="1"/>
          </p:cNvSpPr>
          <p:nvPr>
            <p:ph type="body" sz="quarter" idx="35"/>
          </p:nvPr>
        </p:nvSpPr>
        <p:spPr/>
        <p:txBody>
          <a:bodyPr/>
          <a:lstStyle/>
          <a:p>
            <a:r>
              <a:rPr lang="en-US" spc="50" dirty="0"/>
              <a:t>THỰC HIỆN HÓA NGHIÊN CỨU</a:t>
            </a:r>
          </a:p>
        </p:txBody>
      </p:sp>
      <p:sp>
        <p:nvSpPr>
          <p:cNvPr id="7" name="Text Placeholder 6">
            <a:extLst>
              <a:ext uri="{FF2B5EF4-FFF2-40B4-BE49-F238E27FC236}">
                <a16:creationId xmlns:a16="http://schemas.microsoft.com/office/drawing/2014/main" id="{887A8102-362D-A70F-3416-8E17EDB54566}"/>
              </a:ext>
            </a:extLst>
          </p:cNvPr>
          <p:cNvSpPr>
            <a:spLocks noGrp="1"/>
          </p:cNvSpPr>
          <p:nvPr>
            <p:ph type="body" sz="quarter" idx="36"/>
          </p:nvPr>
        </p:nvSpPr>
        <p:spPr/>
        <p:txBody>
          <a:bodyPr/>
          <a:lstStyle/>
          <a:p>
            <a:r>
              <a:rPr lang="en-US" dirty="0"/>
              <a:t>01</a:t>
            </a:r>
          </a:p>
        </p:txBody>
      </p:sp>
      <p:sp>
        <p:nvSpPr>
          <p:cNvPr id="8" name="Text Placeholder 7">
            <a:extLst>
              <a:ext uri="{FF2B5EF4-FFF2-40B4-BE49-F238E27FC236}">
                <a16:creationId xmlns:a16="http://schemas.microsoft.com/office/drawing/2014/main" id="{F89B9F37-1C5E-CD22-F344-D00F0621DE7D}"/>
              </a:ext>
            </a:extLst>
          </p:cNvPr>
          <p:cNvSpPr>
            <a:spLocks noGrp="1"/>
          </p:cNvSpPr>
          <p:nvPr>
            <p:ph type="body" sz="quarter" idx="37"/>
          </p:nvPr>
        </p:nvSpPr>
        <p:spPr/>
        <p:txBody>
          <a:bodyPr/>
          <a:lstStyle/>
          <a:p>
            <a:r>
              <a:rPr lang="en-US" spc="50" dirty="0"/>
              <a:t>ĐẶT VẤN ĐỀ</a:t>
            </a:r>
          </a:p>
        </p:txBody>
      </p:sp>
      <p:sp>
        <p:nvSpPr>
          <p:cNvPr id="9" name="Text Placeholder 8">
            <a:extLst>
              <a:ext uri="{FF2B5EF4-FFF2-40B4-BE49-F238E27FC236}">
                <a16:creationId xmlns:a16="http://schemas.microsoft.com/office/drawing/2014/main" id="{B4B2813D-B6B1-8CC6-BF15-CEBA18C8DF5A}"/>
              </a:ext>
            </a:extLst>
          </p:cNvPr>
          <p:cNvSpPr>
            <a:spLocks noGrp="1"/>
          </p:cNvSpPr>
          <p:nvPr>
            <p:ph type="body" sz="quarter" idx="38"/>
          </p:nvPr>
        </p:nvSpPr>
        <p:spPr/>
        <p:txBody>
          <a:bodyPr/>
          <a:lstStyle/>
          <a:p>
            <a:r>
              <a:rPr lang="en-US" dirty="0"/>
              <a:t>05</a:t>
            </a:r>
          </a:p>
        </p:txBody>
      </p:sp>
      <p:sp>
        <p:nvSpPr>
          <p:cNvPr id="10" name="Text Placeholder 9">
            <a:extLst>
              <a:ext uri="{FF2B5EF4-FFF2-40B4-BE49-F238E27FC236}">
                <a16:creationId xmlns:a16="http://schemas.microsoft.com/office/drawing/2014/main" id="{9FB4E4AA-290D-5000-865A-EB0CFE5D0B0C}"/>
              </a:ext>
            </a:extLst>
          </p:cNvPr>
          <p:cNvSpPr>
            <a:spLocks noGrp="1"/>
          </p:cNvSpPr>
          <p:nvPr>
            <p:ph type="body" sz="quarter" idx="39"/>
          </p:nvPr>
        </p:nvSpPr>
        <p:spPr/>
        <p:txBody>
          <a:bodyPr/>
          <a:lstStyle/>
          <a:p>
            <a:r>
              <a:rPr lang="en-US" spc="50" dirty="0"/>
              <a:t>KẾT LUẬN VÀ</a:t>
            </a:r>
            <a:br>
              <a:rPr lang="en-US" spc="50" dirty="0"/>
            </a:br>
            <a:r>
              <a:rPr lang="en-US" spc="50" dirty="0"/>
              <a:t>HƯỚNG PHÁT TRIỂN</a:t>
            </a:r>
          </a:p>
        </p:txBody>
      </p:sp>
      <p:sp>
        <p:nvSpPr>
          <p:cNvPr id="11" name="Text Placeholder 10">
            <a:extLst>
              <a:ext uri="{FF2B5EF4-FFF2-40B4-BE49-F238E27FC236}">
                <a16:creationId xmlns:a16="http://schemas.microsoft.com/office/drawing/2014/main" id="{A0A1C702-0A78-1BB5-7141-B664E1AF9652}"/>
              </a:ext>
            </a:extLst>
          </p:cNvPr>
          <p:cNvSpPr>
            <a:spLocks noGrp="1"/>
          </p:cNvSpPr>
          <p:nvPr>
            <p:ph type="body" sz="quarter" idx="40"/>
          </p:nvPr>
        </p:nvSpPr>
        <p:spPr/>
        <p:txBody>
          <a:bodyPr/>
          <a:lstStyle/>
          <a:p>
            <a:r>
              <a:rPr lang="en-US" dirty="0"/>
              <a:t>06</a:t>
            </a:r>
          </a:p>
        </p:txBody>
      </p:sp>
      <p:sp>
        <p:nvSpPr>
          <p:cNvPr id="12" name="Text Placeholder 11">
            <a:extLst>
              <a:ext uri="{FF2B5EF4-FFF2-40B4-BE49-F238E27FC236}">
                <a16:creationId xmlns:a16="http://schemas.microsoft.com/office/drawing/2014/main" id="{30E2362E-7118-56D4-7233-013D706F1A38}"/>
              </a:ext>
            </a:extLst>
          </p:cNvPr>
          <p:cNvSpPr>
            <a:spLocks noGrp="1"/>
          </p:cNvSpPr>
          <p:nvPr>
            <p:ph type="body" sz="quarter" idx="41"/>
          </p:nvPr>
        </p:nvSpPr>
        <p:spPr/>
        <p:txBody>
          <a:bodyPr/>
          <a:lstStyle/>
          <a:p>
            <a:r>
              <a:rPr lang="en-US" spc="50" dirty="0"/>
              <a:t>DEMO</a:t>
            </a:r>
          </a:p>
        </p:txBody>
      </p:sp>
      <p:sp>
        <p:nvSpPr>
          <p:cNvPr id="13" name="Text Placeholder 12">
            <a:extLst>
              <a:ext uri="{FF2B5EF4-FFF2-40B4-BE49-F238E27FC236}">
                <a16:creationId xmlns:a16="http://schemas.microsoft.com/office/drawing/2014/main" id="{FB2D71C3-9F5E-90B1-08EF-C31BAAA584B0}"/>
              </a:ext>
            </a:extLst>
          </p:cNvPr>
          <p:cNvSpPr>
            <a:spLocks noGrp="1"/>
          </p:cNvSpPr>
          <p:nvPr>
            <p:ph type="body" sz="quarter" idx="42"/>
          </p:nvPr>
        </p:nvSpPr>
        <p:spPr/>
        <p:txBody>
          <a:bodyPr/>
          <a:lstStyle/>
          <a:p>
            <a:r>
              <a:rPr lang="en-US" dirty="0"/>
              <a:t>04</a:t>
            </a:r>
          </a:p>
        </p:txBody>
      </p:sp>
      <p:sp>
        <p:nvSpPr>
          <p:cNvPr id="14" name="Text Placeholder 13">
            <a:extLst>
              <a:ext uri="{FF2B5EF4-FFF2-40B4-BE49-F238E27FC236}">
                <a16:creationId xmlns:a16="http://schemas.microsoft.com/office/drawing/2014/main" id="{8A60C579-CF1F-4683-E59F-BE1517114AA9}"/>
              </a:ext>
            </a:extLst>
          </p:cNvPr>
          <p:cNvSpPr>
            <a:spLocks noGrp="1"/>
          </p:cNvSpPr>
          <p:nvPr>
            <p:ph type="body" sz="quarter" idx="43"/>
          </p:nvPr>
        </p:nvSpPr>
        <p:spPr/>
        <p:txBody>
          <a:bodyPr/>
          <a:lstStyle/>
          <a:p>
            <a:r>
              <a:rPr lang="en-US" spc="50" dirty="0"/>
              <a:t> KẾT QUẢ</a:t>
            </a:r>
            <a:br>
              <a:rPr lang="en-US" spc="50" dirty="0"/>
            </a:br>
            <a:r>
              <a:rPr lang="en-US" spc="50" dirty="0"/>
              <a:t>NGHIÊN CỨU</a:t>
            </a:r>
          </a:p>
        </p:txBody>
      </p:sp>
      <p:sp>
        <p:nvSpPr>
          <p:cNvPr id="15" name="Title 14">
            <a:extLst>
              <a:ext uri="{FF2B5EF4-FFF2-40B4-BE49-F238E27FC236}">
                <a16:creationId xmlns:a16="http://schemas.microsoft.com/office/drawing/2014/main" id="{69C2B72F-99C9-B9DE-ABBF-8BDB71C42357}"/>
              </a:ext>
            </a:extLst>
          </p:cNvPr>
          <p:cNvSpPr>
            <a:spLocks noGrp="1"/>
          </p:cNvSpPr>
          <p:nvPr>
            <p:ph type="title"/>
          </p:nvPr>
        </p:nvSpPr>
        <p:spPr/>
        <p:txBody>
          <a:bodyPr/>
          <a:lstStyle/>
          <a:p>
            <a:r>
              <a:rPr lang="en-US" dirty="0"/>
              <a:t>TÓM TẮT NỘI DUNG</a:t>
            </a:r>
          </a:p>
        </p:txBody>
      </p:sp>
    </p:spTree>
    <p:extLst>
      <p:ext uri="{BB962C8B-B14F-4D97-AF65-F5344CB8AC3E}">
        <p14:creationId xmlns:p14="http://schemas.microsoft.com/office/powerpoint/2010/main" val="413208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1B4723-F15F-B0DC-094E-C31828469AC8}"/>
              </a:ext>
            </a:extLst>
          </p:cNvPr>
          <p:cNvSpPr>
            <a:spLocks noGrp="1"/>
          </p:cNvSpPr>
          <p:nvPr>
            <p:ph type="sldNum" sz="quarter" idx="10"/>
          </p:nvPr>
        </p:nvSpPr>
        <p:spPr/>
        <p:txBody>
          <a:bodyPr/>
          <a:lstStyle/>
          <a:p>
            <a:fld id="{A8929BE4-9460-4FFC-82AB-40FA3E28D9A3}" type="slidenum">
              <a:rPr lang="en-US" smtClean="0"/>
              <a:pPr/>
              <a:t>3</a:t>
            </a:fld>
            <a:endParaRPr lang="en-US"/>
          </a:p>
        </p:txBody>
      </p:sp>
      <p:sp>
        <p:nvSpPr>
          <p:cNvPr id="3" name="Text Placeholder 2">
            <a:extLst>
              <a:ext uri="{FF2B5EF4-FFF2-40B4-BE49-F238E27FC236}">
                <a16:creationId xmlns:a16="http://schemas.microsoft.com/office/drawing/2014/main" id="{205B3754-07D4-B7A6-9692-D86654E04B6C}"/>
              </a:ext>
            </a:extLst>
          </p:cNvPr>
          <p:cNvSpPr>
            <a:spLocks noGrp="1"/>
          </p:cNvSpPr>
          <p:nvPr>
            <p:ph type="body" sz="quarter" idx="11"/>
          </p:nvPr>
        </p:nvSpPr>
        <p:spPr/>
        <p:txBody>
          <a:bodyPr/>
          <a:lstStyle/>
          <a:p>
            <a:r>
              <a:rPr lang="en-US" dirty="0"/>
              <a:t>01</a:t>
            </a:r>
          </a:p>
        </p:txBody>
      </p:sp>
      <p:sp>
        <p:nvSpPr>
          <p:cNvPr id="4" name="Text Placeholder 3">
            <a:extLst>
              <a:ext uri="{FF2B5EF4-FFF2-40B4-BE49-F238E27FC236}">
                <a16:creationId xmlns:a16="http://schemas.microsoft.com/office/drawing/2014/main" id="{2EAE002A-7FC1-0EA2-17B2-5FF54F42E28A}"/>
              </a:ext>
            </a:extLst>
          </p:cNvPr>
          <p:cNvSpPr>
            <a:spLocks noGrp="1"/>
          </p:cNvSpPr>
          <p:nvPr>
            <p:ph type="body" sz="quarter" idx="12"/>
          </p:nvPr>
        </p:nvSpPr>
        <p:spPr/>
        <p:txBody>
          <a:bodyPr/>
          <a:lstStyle/>
          <a:p>
            <a:r>
              <a:rPr lang="en-US" dirty="0"/>
              <a:t>ĐẶT VẤN ĐỀ</a:t>
            </a:r>
          </a:p>
        </p:txBody>
      </p:sp>
      <p:sp>
        <p:nvSpPr>
          <p:cNvPr id="5" name="Title 4">
            <a:extLst>
              <a:ext uri="{FF2B5EF4-FFF2-40B4-BE49-F238E27FC236}">
                <a16:creationId xmlns:a16="http://schemas.microsoft.com/office/drawing/2014/main" id="{D1B2F9DA-C6A8-C811-386B-07209B90EFEE}"/>
              </a:ext>
            </a:extLst>
          </p:cNvPr>
          <p:cNvSpPr>
            <a:spLocks noGrp="1"/>
          </p:cNvSpPr>
          <p:nvPr>
            <p:ph type="title"/>
          </p:nvPr>
        </p:nvSpPr>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1081077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E3C679-F013-CE82-3ED6-21B84D5CD314}"/>
              </a:ext>
            </a:extLst>
          </p:cNvPr>
          <p:cNvSpPr>
            <a:spLocks noGrp="1"/>
          </p:cNvSpPr>
          <p:nvPr>
            <p:ph type="sldNum" sz="quarter" idx="10"/>
          </p:nvPr>
        </p:nvSpPr>
        <p:spPr/>
        <p:txBody>
          <a:bodyPr/>
          <a:lstStyle/>
          <a:p>
            <a:fld id="{A8929BE4-9460-4FFC-82AB-40FA3E28D9A3}" type="slidenum">
              <a:rPr lang="en-US" smtClean="0"/>
              <a:pPr/>
              <a:t>4</a:t>
            </a:fld>
            <a:endParaRPr lang="en-US"/>
          </a:p>
        </p:txBody>
      </p:sp>
      <p:sp>
        <p:nvSpPr>
          <p:cNvPr id="4" name="Text Placeholder 3">
            <a:extLst>
              <a:ext uri="{FF2B5EF4-FFF2-40B4-BE49-F238E27FC236}">
                <a16:creationId xmlns:a16="http://schemas.microsoft.com/office/drawing/2014/main" id="{4E3BD92B-5FAF-4E61-55FE-CC0E14DD4111}"/>
              </a:ext>
            </a:extLst>
          </p:cNvPr>
          <p:cNvSpPr>
            <a:spLocks noGrp="1"/>
          </p:cNvSpPr>
          <p:nvPr>
            <p:ph type="body" sz="quarter" idx="11"/>
          </p:nvPr>
        </p:nvSpPr>
        <p:spPr/>
        <p:txBody>
          <a:bodyPr/>
          <a:lstStyle/>
          <a:p>
            <a:r>
              <a:rPr lang="en-US" dirty="0"/>
              <a:t>I. ĐẶT VẤN ĐỀ</a:t>
            </a:r>
          </a:p>
        </p:txBody>
      </p:sp>
      <p:sp>
        <p:nvSpPr>
          <p:cNvPr id="5" name="Text Placeholder 4">
            <a:extLst>
              <a:ext uri="{FF2B5EF4-FFF2-40B4-BE49-F238E27FC236}">
                <a16:creationId xmlns:a16="http://schemas.microsoft.com/office/drawing/2014/main" id="{DF1FF040-8722-7BF3-FCD5-C8D3A872F4B6}"/>
              </a:ext>
            </a:extLst>
          </p:cNvPr>
          <p:cNvSpPr>
            <a:spLocks noGrp="1"/>
          </p:cNvSpPr>
          <p:nvPr>
            <p:ph type="body" sz="quarter" idx="12"/>
          </p:nvPr>
        </p:nvSpPr>
        <p:spPr>
          <a:xfrm>
            <a:off x="838200" y="2093843"/>
            <a:ext cx="5534904" cy="3868807"/>
          </a:xfrm>
        </p:spPr>
        <p:txBody>
          <a:bodyPr/>
          <a:lstStyle/>
          <a:p>
            <a:pPr algn="just"/>
            <a:r>
              <a:rPr lang="vi-VN" dirty="0"/>
              <a:t>Trong bối cảnh công nghệ trí tuệ nhân tạo phát triển mạnh mẽ và ngày càng đóng vai trò quan trọng trong lĩnh vực lập trình, việc sử dụng các công cụ hỗ trợ tạo mã nguồn như</a:t>
            </a:r>
            <a:r>
              <a:rPr lang="vi-VN" b="1" dirty="0"/>
              <a:t> </a:t>
            </a:r>
            <a:r>
              <a:rPr lang="vi-VN" b="1" dirty="0" err="1">
                <a:solidFill>
                  <a:schemeClr val="accent5"/>
                </a:solidFill>
                <a:ea typeface="Gadugi" panose="020B0502040204020203" pitchFamily="34" charset="0"/>
                <a:cs typeface="Fz Poppins SemBd" pitchFamily="2" charset="0"/>
              </a:rPr>
              <a:t>GitHub</a:t>
            </a:r>
            <a:r>
              <a:rPr lang="vi-VN" b="1" dirty="0">
                <a:solidFill>
                  <a:schemeClr val="accent5"/>
                </a:solidFill>
                <a:ea typeface="Gadugi" panose="020B0502040204020203" pitchFamily="34" charset="0"/>
                <a:cs typeface="Fz Poppins SemBd" pitchFamily="2" charset="0"/>
              </a:rPr>
              <a:t> </a:t>
            </a:r>
            <a:r>
              <a:rPr lang="vi-VN" b="1" dirty="0" err="1">
                <a:solidFill>
                  <a:schemeClr val="accent5"/>
                </a:solidFill>
                <a:ea typeface="Gadugi" panose="020B0502040204020203" pitchFamily="34" charset="0"/>
                <a:cs typeface="Fz Poppins SemBd" pitchFamily="2" charset="0"/>
              </a:rPr>
              <a:t>Copilot</a:t>
            </a:r>
            <a:r>
              <a:rPr lang="vi-VN" b="1" dirty="0">
                <a:solidFill>
                  <a:schemeClr val="accent5"/>
                </a:solidFill>
                <a:ea typeface="Gadugi" panose="020B0502040204020203" pitchFamily="34" charset="0"/>
                <a:cs typeface="Fz Poppins SemBd" pitchFamily="2" charset="0"/>
              </a:rPr>
              <a:t>, </a:t>
            </a:r>
            <a:r>
              <a:rPr lang="vi-VN" b="1" dirty="0" err="1">
                <a:solidFill>
                  <a:schemeClr val="accent5"/>
                </a:solidFill>
                <a:ea typeface="Gadugi" panose="020B0502040204020203" pitchFamily="34" charset="0"/>
                <a:cs typeface="Fz Poppins SemBd" pitchFamily="2" charset="0"/>
              </a:rPr>
              <a:t>ChatGPT</a:t>
            </a:r>
            <a:r>
              <a:rPr lang="vi-VN" b="1" dirty="0">
                <a:solidFill>
                  <a:schemeClr val="accent5"/>
                </a:solidFill>
                <a:ea typeface="Gadugi" panose="020B0502040204020203" pitchFamily="34" charset="0"/>
                <a:cs typeface="Fz Poppins SemBd" pitchFamily="2" charset="0"/>
              </a:rPr>
              <a:t>, </a:t>
            </a:r>
            <a:r>
              <a:rPr lang="vi-VN" b="1" dirty="0" err="1">
                <a:solidFill>
                  <a:schemeClr val="accent5"/>
                </a:solidFill>
                <a:ea typeface="Gadugi" panose="020B0502040204020203" pitchFamily="34" charset="0"/>
                <a:cs typeface="Fz Poppins SemBd" pitchFamily="2" charset="0"/>
              </a:rPr>
              <a:t>Claude</a:t>
            </a:r>
            <a:r>
              <a:rPr lang="vi-VN" dirty="0"/>
              <a:t> đã trở thành xu hướng phổ biến và mang lại hiệu quả cao cho lập trình viên. Tuy nhiên, sự phát triển này cũng đặt ra những thách thức mới, đặc biệt trong việc đảm bảo tính toàn vẹn học thuật và đánh giá năng lực thực sự của sinh viên.</a:t>
            </a:r>
          </a:p>
        </p:txBody>
      </p:sp>
      <p:sp>
        <p:nvSpPr>
          <p:cNvPr id="6" name="Text Placeholder 5">
            <a:extLst>
              <a:ext uri="{FF2B5EF4-FFF2-40B4-BE49-F238E27FC236}">
                <a16:creationId xmlns:a16="http://schemas.microsoft.com/office/drawing/2014/main" id="{0668F58B-1786-E5F3-69E5-F011CC9352CB}"/>
              </a:ext>
            </a:extLst>
          </p:cNvPr>
          <p:cNvSpPr>
            <a:spLocks noGrp="1"/>
          </p:cNvSpPr>
          <p:nvPr>
            <p:ph type="body" sz="quarter" idx="13"/>
          </p:nvPr>
        </p:nvSpPr>
        <p:spPr/>
        <p:txBody>
          <a:bodyPr/>
          <a:lstStyle/>
          <a:p>
            <a:r>
              <a:rPr lang="en-US" dirty="0"/>
              <a:t>1.1 Lý do </a:t>
            </a:r>
            <a:r>
              <a:rPr lang="en-US" dirty="0" err="1"/>
              <a:t>lựa</a:t>
            </a:r>
            <a:r>
              <a:rPr lang="en-US" dirty="0"/>
              <a:t> </a:t>
            </a:r>
            <a:r>
              <a:rPr lang="en-US" dirty="0" err="1"/>
              <a:t>chọn</a:t>
            </a:r>
            <a:r>
              <a:rPr lang="en-US" dirty="0"/>
              <a:t> </a:t>
            </a:r>
            <a:r>
              <a:rPr lang="en-US" dirty="0" err="1"/>
              <a:t>đề</a:t>
            </a:r>
            <a:r>
              <a:rPr lang="en-US" dirty="0"/>
              <a:t> </a:t>
            </a:r>
            <a:r>
              <a:rPr lang="en-US" dirty="0" err="1"/>
              <a:t>tài</a:t>
            </a:r>
            <a:endParaRPr lang="en-US" dirty="0"/>
          </a:p>
        </p:txBody>
      </p:sp>
      <p:sp>
        <p:nvSpPr>
          <p:cNvPr id="9" name="Title 4">
            <a:extLst>
              <a:ext uri="{FF2B5EF4-FFF2-40B4-BE49-F238E27FC236}">
                <a16:creationId xmlns:a16="http://schemas.microsoft.com/office/drawing/2014/main" id="{62DD6C4C-472E-71CD-26D5-EF178AEAA831}"/>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12" name="Graphic 11">
            <a:extLst>
              <a:ext uri="{FF2B5EF4-FFF2-40B4-BE49-F238E27FC236}">
                <a16:creationId xmlns:a16="http://schemas.microsoft.com/office/drawing/2014/main" id="{B8B63922-88B2-3272-B9E7-BB936FED5A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33353" y="3600212"/>
            <a:ext cx="1805080" cy="1812131"/>
          </a:xfrm>
          <a:prstGeom prst="rect">
            <a:avLst/>
          </a:prstGeom>
        </p:spPr>
      </p:pic>
      <p:pic>
        <p:nvPicPr>
          <p:cNvPr id="14" name="Graphic 13">
            <a:extLst>
              <a:ext uri="{FF2B5EF4-FFF2-40B4-BE49-F238E27FC236}">
                <a16:creationId xmlns:a16="http://schemas.microsoft.com/office/drawing/2014/main" id="{84FA5B10-24C6-C400-1040-21E6F5867F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73296" y="2339420"/>
            <a:ext cx="934916" cy="759619"/>
          </a:xfrm>
          <a:prstGeom prst="rect">
            <a:avLst/>
          </a:prstGeom>
        </p:spPr>
      </p:pic>
      <p:pic>
        <p:nvPicPr>
          <p:cNvPr id="16" name="Graphic 15">
            <a:extLst>
              <a:ext uri="{FF2B5EF4-FFF2-40B4-BE49-F238E27FC236}">
                <a16:creationId xmlns:a16="http://schemas.microsoft.com/office/drawing/2014/main" id="{76E58946-51A7-9B4B-636A-953C9456AC2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27709" y="3429000"/>
            <a:ext cx="1899139" cy="1928813"/>
          </a:xfrm>
          <a:prstGeom prst="rect">
            <a:avLst/>
          </a:prstGeom>
        </p:spPr>
      </p:pic>
      <p:pic>
        <p:nvPicPr>
          <p:cNvPr id="18" name="Graphic 17">
            <a:extLst>
              <a:ext uri="{FF2B5EF4-FFF2-40B4-BE49-F238E27FC236}">
                <a16:creationId xmlns:a16="http://schemas.microsoft.com/office/drawing/2014/main" id="{3C77643B-06FC-4E08-EC2C-C55DBAF381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682" y="1581365"/>
            <a:ext cx="850877" cy="856626"/>
          </a:xfrm>
          <a:prstGeom prst="rect">
            <a:avLst/>
          </a:prstGeom>
        </p:spPr>
      </p:pic>
      <p:pic>
        <p:nvPicPr>
          <p:cNvPr id="20" name="Graphic 19">
            <a:extLst>
              <a:ext uri="{FF2B5EF4-FFF2-40B4-BE49-F238E27FC236}">
                <a16:creationId xmlns:a16="http://schemas.microsoft.com/office/drawing/2014/main" id="{9BC7DC25-9168-E695-E7C6-6BE32E72A18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16949" y="2043033"/>
            <a:ext cx="1596098" cy="1596098"/>
          </a:xfrm>
          <a:prstGeom prst="rect">
            <a:avLst/>
          </a:prstGeom>
        </p:spPr>
      </p:pic>
    </p:spTree>
    <p:extLst>
      <p:ext uri="{BB962C8B-B14F-4D97-AF65-F5344CB8AC3E}">
        <p14:creationId xmlns:p14="http://schemas.microsoft.com/office/powerpoint/2010/main" val="330102434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50"/>
                                            <p:tgtEl>
                                              <p:spTgt spid="5"/>
                                            </p:tgtEl>
                                          </p:cBhvr>
                                        </p:animEffect>
                                      </p:childTnLst>
                                    </p:cTn>
                                  </p:par>
                                  <p:par>
                                    <p:cTn id="18" presetID="42" presetClass="path" presetSubtype="0" decel="100000" fill="hold" grpId="1" nodeType="withEffect">
                                      <p:stCondLst>
                                        <p:cond delay="0"/>
                                      </p:stCondLst>
                                      <p:childTnLst>
                                        <p:animMotion origin="layout" path="M -0.01719 -0.00023 L -1.25E-6 1.85185E-6 " pathEditMode="relative" rAng="0" ptsTypes="AA">
                                          <p:cBhvr>
                                            <p:cTn id="19" dur="500" fill="hold"/>
                                            <p:tgtEl>
                                              <p:spTgt spid="5"/>
                                            </p:tgtEl>
                                            <p:attrNameLst>
                                              <p:attrName>ppt_x</p:attrName>
                                              <p:attrName>ppt_y</p:attrName>
                                            </p:attrNameLst>
                                          </p:cBhvr>
                                          <p:rCtr x="859" y="0"/>
                                        </p:animMotion>
                                      </p:childTnLst>
                                    </p:cTn>
                                  </p:par>
                                </p:childTnLst>
                              </p:cTn>
                            </p:par>
                            <p:par>
                              <p:cTn id="20" fill="hold">
                                <p:stCondLst>
                                  <p:cond delay="500"/>
                                </p:stCondLst>
                                <p:childTnLst>
                                  <p:par>
                                    <p:cTn id="21" presetID="23" presetClass="entr" presetSubtype="16"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200" fill="hold"/>
                                            <p:tgtEl>
                                              <p:spTgt spid="20"/>
                                            </p:tgtEl>
                                            <p:attrNameLst>
                                              <p:attrName>ppt_w</p:attrName>
                                            </p:attrNameLst>
                                          </p:cBhvr>
                                          <p:tavLst>
                                            <p:tav tm="0">
                                              <p:val>
                                                <p:fltVal val="0"/>
                                              </p:val>
                                            </p:tav>
                                            <p:tav tm="100000">
                                              <p:val>
                                                <p:strVal val="#ppt_w"/>
                                              </p:val>
                                            </p:tav>
                                          </p:tavLst>
                                        </p:anim>
                                        <p:anim calcmode="lin" valueType="num">
                                          <p:cBhvr>
                                            <p:cTn id="24" dur="200" fill="hold"/>
                                            <p:tgtEl>
                                              <p:spTgt spid="20"/>
                                            </p:tgtEl>
                                            <p:attrNameLst>
                                              <p:attrName>ppt_h</p:attrName>
                                            </p:attrNameLst>
                                          </p:cBhvr>
                                          <p:tavLst>
                                            <p:tav tm="0">
                                              <p:val>
                                                <p:fltVal val="0"/>
                                              </p:val>
                                            </p:tav>
                                            <p:tav tm="100000">
                                              <p:val>
                                                <p:strVal val="#ppt_h"/>
                                              </p:val>
                                            </p:tav>
                                          </p:tavLst>
                                        </p:anim>
                                      </p:childTnLst>
                                    </p:cTn>
                                  </p:par>
                                  <p:par>
                                    <p:cTn id="25" presetID="6" presetClass="emph" presetSubtype="0" fill="hold" nodeType="withEffect" p14:presetBounceEnd="99000">
                                      <p:stCondLst>
                                        <p:cond delay="0"/>
                                      </p:stCondLst>
                                      <p:childTnLst>
                                        <p:animScale p14:bounceEnd="99000">
                                          <p:cBhvr>
                                            <p:cTn id="26" dur="750" fill="hold"/>
                                            <p:tgtEl>
                                              <p:spTgt spid="20"/>
                                            </p:tgtEl>
                                          </p:cBhvr>
                                          <p:by x="110000" y="110000"/>
                                        </p:animScale>
                                      </p:childTnLst>
                                    </p:cTn>
                                  </p:par>
                                  <p:par>
                                    <p:cTn id="27" presetID="6" presetClass="emph" presetSubtype="0" accel="50000" decel="50000" fill="hold" nodeType="withEffect">
                                      <p:stCondLst>
                                        <p:cond delay="0"/>
                                      </p:stCondLst>
                                      <p:childTnLst>
                                        <p:animScale>
                                          <p:cBhvr>
                                            <p:cTn id="28" dur="250" fill="hold"/>
                                            <p:tgtEl>
                                              <p:spTgt spid="20"/>
                                            </p:tgtEl>
                                          </p:cBhvr>
                                          <p:by x="91000" y="91000"/>
                                        </p:animScale>
                                      </p:childTnLst>
                                    </p:cTn>
                                  </p:par>
                                </p:childTnLst>
                              </p:cTn>
                            </p:par>
                            <p:par>
                              <p:cTn id="29" fill="hold">
                                <p:stCondLst>
                                  <p:cond delay="1250"/>
                                </p:stCondLst>
                                <p:childTnLst>
                                  <p:par>
                                    <p:cTn id="30" presetID="23" presetClass="entr" presetSubtype="16"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200" fill="hold"/>
                                            <p:tgtEl>
                                              <p:spTgt spid="16"/>
                                            </p:tgtEl>
                                            <p:attrNameLst>
                                              <p:attrName>ppt_w</p:attrName>
                                            </p:attrNameLst>
                                          </p:cBhvr>
                                          <p:tavLst>
                                            <p:tav tm="0">
                                              <p:val>
                                                <p:fltVal val="0"/>
                                              </p:val>
                                            </p:tav>
                                            <p:tav tm="100000">
                                              <p:val>
                                                <p:strVal val="#ppt_w"/>
                                              </p:val>
                                            </p:tav>
                                          </p:tavLst>
                                        </p:anim>
                                        <p:anim calcmode="lin" valueType="num">
                                          <p:cBhvr>
                                            <p:cTn id="33" dur="200" fill="hold"/>
                                            <p:tgtEl>
                                              <p:spTgt spid="16"/>
                                            </p:tgtEl>
                                            <p:attrNameLst>
                                              <p:attrName>ppt_h</p:attrName>
                                            </p:attrNameLst>
                                          </p:cBhvr>
                                          <p:tavLst>
                                            <p:tav tm="0">
                                              <p:val>
                                                <p:fltVal val="0"/>
                                              </p:val>
                                            </p:tav>
                                            <p:tav tm="100000">
                                              <p:val>
                                                <p:strVal val="#ppt_h"/>
                                              </p:val>
                                            </p:tav>
                                          </p:tavLst>
                                        </p:anim>
                                      </p:childTnLst>
                                    </p:cTn>
                                  </p:par>
                                  <p:par>
                                    <p:cTn id="34" presetID="6" presetClass="emph" presetSubtype="0" fill="hold" nodeType="withEffect" p14:presetBounceEnd="99000">
                                      <p:stCondLst>
                                        <p:cond delay="0"/>
                                      </p:stCondLst>
                                      <p:childTnLst>
                                        <p:animScale p14:bounceEnd="99000">
                                          <p:cBhvr>
                                            <p:cTn id="35" dur="750" fill="hold"/>
                                            <p:tgtEl>
                                              <p:spTgt spid="16"/>
                                            </p:tgtEl>
                                          </p:cBhvr>
                                          <p:by x="110000" y="110000"/>
                                        </p:animScale>
                                      </p:childTnLst>
                                    </p:cTn>
                                  </p:par>
                                  <p:par>
                                    <p:cTn id="36" presetID="6" presetClass="emph" presetSubtype="0" accel="50000" decel="50000" fill="hold" nodeType="withEffect">
                                      <p:stCondLst>
                                        <p:cond delay="0"/>
                                      </p:stCondLst>
                                      <p:childTnLst>
                                        <p:animScale>
                                          <p:cBhvr>
                                            <p:cTn id="37" dur="250" fill="hold"/>
                                            <p:tgtEl>
                                              <p:spTgt spid="16"/>
                                            </p:tgtEl>
                                          </p:cBhvr>
                                          <p:by x="91000" y="91000"/>
                                        </p:animScale>
                                      </p:childTnLst>
                                    </p:cTn>
                                  </p:par>
                                </p:childTnLst>
                              </p:cTn>
                            </p:par>
                            <p:par>
                              <p:cTn id="38" fill="hold">
                                <p:stCondLst>
                                  <p:cond delay="2000"/>
                                </p:stCondLst>
                                <p:childTnLst>
                                  <p:par>
                                    <p:cTn id="39" presetID="23" presetClass="entr" presetSubtype="16" fill="hold"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200" fill="hold"/>
                                            <p:tgtEl>
                                              <p:spTgt spid="12"/>
                                            </p:tgtEl>
                                            <p:attrNameLst>
                                              <p:attrName>ppt_w</p:attrName>
                                            </p:attrNameLst>
                                          </p:cBhvr>
                                          <p:tavLst>
                                            <p:tav tm="0">
                                              <p:val>
                                                <p:fltVal val="0"/>
                                              </p:val>
                                            </p:tav>
                                            <p:tav tm="100000">
                                              <p:val>
                                                <p:strVal val="#ppt_w"/>
                                              </p:val>
                                            </p:tav>
                                          </p:tavLst>
                                        </p:anim>
                                        <p:anim calcmode="lin" valueType="num">
                                          <p:cBhvr>
                                            <p:cTn id="42" dur="200" fill="hold"/>
                                            <p:tgtEl>
                                              <p:spTgt spid="12"/>
                                            </p:tgtEl>
                                            <p:attrNameLst>
                                              <p:attrName>ppt_h</p:attrName>
                                            </p:attrNameLst>
                                          </p:cBhvr>
                                          <p:tavLst>
                                            <p:tav tm="0">
                                              <p:val>
                                                <p:fltVal val="0"/>
                                              </p:val>
                                            </p:tav>
                                            <p:tav tm="100000">
                                              <p:val>
                                                <p:strVal val="#ppt_h"/>
                                              </p:val>
                                            </p:tav>
                                          </p:tavLst>
                                        </p:anim>
                                      </p:childTnLst>
                                    </p:cTn>
                                  </p:par>
                                  <p:par>
                                    <p:cTn id="43" presetID="6" presetClass="emph" presetSubtype="0" fill="hold" nodeType="withEffect" p14:presetBounceEnd="99000">
                                      <p:stCondLst>
                                        <p:cond delay="0"/>
                                      </p:stCondLst>
                                      <p:childTnLst>
                                        <p:animScale p14:bounceEnd="99000">
                                          <p:cBhvr>
                                            <p:cTn id="44" dur="750" fill="hold"/>
                                            <p:tgtEl>
                                              <p:spTgt spid="12"/>
                                            </p:tgtEl>
                                          </p:cBhvr>
                                          <p:by x="110000" y="110000"/>
                                        </p:animScale>
                                      </p:childTnLst>
                                    </p:cTn>
                                  </p:par>
                                  <p:par>
                                    <p:cTn id="45" presetID="6" presetClass="emph" presetSubtype="0" accel="50000" decel="50000" fill="hold" nodeType="withEffect">
                                      <p:stCondLst>
                                        <p:cond delay="0"/>
                                      </p:stCondLst>
                                      <p:childTnLst>
                                        <p:animScale>
                                          <p:cBhvr>
                                            <p:cTn id="46" dur="250" fill="hold"/>
                                            <p:tgtEl>
                                              <p:spTgt spid="12"/>
                                            </p:tgtEl>
                                          </p:cBhvr>
                                          <p:by x="91000" y="91000"/>
                                        </p:animScale>
                                      </p:childTnLst>
                                    </p:cTn>
                                  </p:par>
                                </p:childTnLst>
                              </p:cTn>
                            </p:par>
                            <p:par>
                              <p:cTn id="47" fill="hold">
                                <p:stCondLst>
                                  <p:cond delay="2750"/>
                                </p:stCondLst>
                                <p:childTnLst>
                                  <p:par>
                                    <p:cTn id="48" presetID="23" presetClass="entr" presetSubtype="16"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200" fill="hold"/>
                                            <p:tgtEl>
                                              <p:spTgt spid="14"/>
                                            </p:tgtEl>
                                            <p:attrNameLst>
                                              <p:attrName>ppt_w</p:attrName>
                                            </p:attrNameLst>
                                          </p:cBhvr>
                                          <p:tavLst>
                                            <p:tav tm="0">
                                              <p:val>
                                                <p:fltVal val="0"/>
                                              </p:val>
                                            </p:tav>
                                            <p:tav tm="100000">
                                              <p:val>
                                                <p:strVal val="#ppt_w"/>
                                              </p:val>
                                            </p:tav>
                                          </p:tavLst>
                                        </p:anim>
                                        <p:anim calcmode="lin" valueType="num">
                                          <p:cBhvr>
                                            <p:cTn id="51" dur="200" fill="hold"/>
                                            <p:tgtEl>
                                              <p:spTgt spid="14"/>
                                            </p:tgtEl>
                                            <p:attrNameLst>
                                              <p:attrName>ppt_h</p:attrName>
                                            </p:attrNameLst>
                                          </p:cBhvr>
                                          <p:tavLst>
                                            <p:tav tm="0">
                                              <p:val>
                                                <p:fltVal val="0"/>
                                              </p:val>
                                            </p:tav>
                                            <p:tav tm="100000">
                                              <p:val>
                                                <p:strVal val="#ppt_h"/>
                                              </p:val>
                                            </p:tav>
                                          </p:tavLst>
                                        </p:anim>
                                      </p:childTnLst>
                                    </p:cTn>
                                  </p:par>
                                  <p:par>
                                    <p:cTn id="52" presetID="6" presetClass="emph" presetSubtype="0" fill="hold" nodeType="withEffect" p14:presetBounceEnd="99000">
                                      <p:stCondLst>
                                        <p:cond delay="0"/>
                                      </p:stCondLst>
                                      <p:childTnLst>
                                        <p:animScale p14:bounceEnd="99000">
                                          <p:cBhvr>
                                            <p:cTn id="53" dur="750" fill="hold"/>
                                            <p:tgtEl>
                                              <p:spTgt spid="14"/>
                                            </p:tgtEl>
                                          </p:cBhvr>
                                          <p:by x="110000" y="110000"/>
                                        </p:animScale>
                                      </p:childTnLst>
                                    </p:cTn>
                                  </p:par>
                                  <p:par>
                                    <p:cTn id="54" presetID="6" presetClass="emph" presetSubtype="0" accel="50000" decel="50000" fill="hold" nodeType="withEffect">
                                      <p:stCondLst>
                                        <p:cond delay="0"/>
                                      </p:stCondLst>
                                      <p:childTnLst>
                                        <p:animScale>
                                          <p:cBhvr>
                                            <p:cTn id="55" dur="250" fill="hold"/>
                                            <p:tgtEl>
                                              <p:spTgt spid="14"/>
                                            </p:tgtEl>
                                          </p:cBhvr>
                                          <p:by x="91000" y="91000"/>
                                        </p:animScale>
                                      </p:childTnLst>
                                    </p:cTn>
                                  </p:par>
                                </p:childTnLst>
                              </p:cTn>
                            </p:par>
                            <p:par>
                              <p:cTn id="56" fill="hold">
                                <p:stCondLst>
                                  <p:cond delay="3500"/>
                                </p:stCondLst>
                                <p:childTnLst>
                                  <p:par>
                                    <p:cTn id="57" presetID="23" presetClass="entr" presetSubtype="16"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p:cTn id="59" dur="200" fill="hold"/>
                                            <p:tgtEl>
                                              <p:spTgt spid="18"/>
                                            </p:tgtEl>
                                            <p:attrNameLst>
                                              <p:attrName>ppt_w</p:attrName>
                                            </p:attrNameLst>
                                          </p:cBhvr>
                                          <p:tavLst>
                                            <p:tav tm="0">
                                              <p:val>
                                                <p:fltVal val="0"/>
                                              </p:val>
                                            </p:tav>
                                            <p:tav tm="100000">
                                              <p:val>
                                                <p:strVal val="#ppt_w"/>
                                              </p:val>
                                            </p:tav>
                                          </p:tavLst>
                                        </p:anim>
                                        <p:anim calcmode="lin" valueType="num">
                                          <p:cBhvr>
                                            <p:cTn id="60" dur="200" fill="hold"/>
                                            <p:tgtEl>
                                              <p:spTgt spid="18"/>
                                            </p:tgtEl>
                                            <p:attrNameLst>
                                              <p:attrName>ppt_h</p:attrName>
                                            </p:attrNameLst>
                                          </p:cBhvr>
                                          <p:tavLst>
                                            <p:tav tm="0">
                                              <p:val>
                                                <p:fltVal val="0"/>
                                              </p:val>
                                            </p:tav>
                                            <p:tav tm="100000">
                                              <p:val>
                                                <p:strVal val="#ppt_h"/>
                                              </p:val>
                                            </p:tav>
                                          </p:tavLst>
                                        </p:anim>
                                      </p:childTnLst>
                                    </p:cTn>
                                  </p:par>
                                  <p:par>
                                    <p:cTn id="61" presetID="6" presetClass="emph" presetSubtype="0" fill="hold" nodeType="withEffect" p14:presetBounceEnd="99000">
                                      <p:stCondLst>
                                        <p:cond delay="0"/>
                                      </p:stCondLst>
                                      <p:childTnLst>
                                        <p:animScale p14:bounceEnd="99000">
                                          <p:cBhvr>
                                            <p:cTn id="62" dur="750" fill="hold"/>
                                            <p:tgtEl>
                                              <p:spTgt spid="18"/>
                                            </p:tgtEl>
                                          </p:cBhvr>
                                          <p:by x="110000" y="110000"/>
                                        </p:animScale>
                                      </p:childTnLst>
                                    </p:cTn>
                                  </p:par>
                                  <p:par>
                                    <p:cTn id="63" presetID="6" presetClass="emph" presetSubtype="0" accel="50000" decel="50000" fill="hold" nodeType="withEffect">
                                      <p:stCondLst>
                                        <p:cond delay="0"/>
                                      </p:stCondLst>
                                      <p:childTnLst>
                                        <p:animScale>
                                          <p:cBhvr>
                                            <p:cTn id="64" dur="250" fill="hold"/>
                                            <p:tgtEl>
                                              <p:spTgt spid="1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50"/>
                                            <p:tgtEl>
                                              <p:spTgt spid="5"/>
                                            </p:tgtEl>
                                          </p:cBhvr>
                                        </p:animEffect>
                                      </p:childTnLst>
                                    </p:cTn>
                                  </p:par>
                                  <p:par>
                                    <p:cTn id="18" presetID="42" presetClass="path" presetSubtype="0" decel="100000" fill="hold" grpId="1" nodeType="withEffect">
                                      <p:stCondLst>
                                        <p:cond delay="0"/>
                                      </p:stCondLst>
                                      <p:childTnLst>
                                        <p:animMotion origin="layout" path="M -0.01719 -0.00023 L -1.25E-6 1.85185E-6 " pathEditMode="relative" rAng="0" ptsTypes="AA">
                                          <p:cBhvr>
                                            <p:cTn id="19" dur="500" fill="hold"/>
                                            <p:tgtEl>
                                              <p:spTgt spid="5"/>
                                            </p:tgtEl>
                                            <p:attrNameLst>
                                              <p:attrName>ppt_x</p:attrName>
                                              <p:attrName>ppt_y</p:attrName>
                                            </p:attrNameLst>
                                          </p:cBhvr>
                                          <p:rCtr x="859" y="0"/>
                                        </p:animMotion>
                                      </p:childTnLst>
                                    </p:cTn>
                                  </p:par>
                                </p:childTnLst>
                              </p:cTn>
                            </p:par>
                            <p:par>
                              <p:cTn id="20" fill="hold">
                                <p:stCondLst>
                                  <p:cond delay="500"/>
                                </p:stCondLst>
                                <p:childTnLst>
                                  <p:par>
                                    <p:cTn id="21" presetID="23" presetClass="entr" presetSubtype="16"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200" fill="hold"/>
                                            <p:tgtEl>
                                              <p:spTgt spid="20"/>
                                            </p:tgtEl>
                                            <p:attrNameLst>
                                              <p:attrName>ppt_w</p:attrName>
                                            </p:attrNameLst>
                                          </p:cBhvr>
                                          <p:tavLst>
                                            <p:tav tm="0">
                                              <p:val>
                                                <p:fltVal val="0"/>
                                              </p:val>
                                            </p:tav>
                                            <p:tav tm="100000">
                                              <p:val>
                                                <p:strVal val="#ppt_w"/>
                                              </p:val>
                                            </p:tav>
                                          </p:tavLst>
                                        </p:anim>
                                        <p:anim calcmode="lin" valueType="num">
                                          <p:cBhvr>
                                            <p:cTn id="24" dur="200" fill="hold"/>
                                            <p:tgtEl>
                                              <p:spTgt spid="20"/>
                                            </p:tgtEl>
                                            <p:attrNameLst>
                                              <p:attrName>ppt_h</p:attrName>
                                            </p:attrNameLst>
                                          </p:cBhvr>
                                          <p:tavLst>
                                            <p:tav tm="0">
                                              <p:val>
                                                <p:fltVal val="0"/>
                                              </p:val>
                                            </p:tav>
                                            <p:tav tm="100000">
                                              <p:val>
                                                <p:strVal val="#ppt_h"/>
                                              </p:val>
                                            </p:tav>
                                          </p:tavLst>
                                        </p:anim>
                                      </p:childTnLst>
                                    </p:cTn>
                                  </p:par>
                                  <p:par>
                                    <p:cTn id="25" presetID="6" presetClass="emph" presetSubtype="0" fill="hold" nodeType="withEffect">
                                      <p:stCondLst>
                                        <p:cond delay="0"/>
                                      </p:stCondLst>
                                      <p:childTnLst>
                                        <p:animScale>
                                          <p:cBhvr>
                                            <p:cTn id="26" dur="750" fill="hold"/>
                                            <p:tgtEl>
                                              <p:spTgt spid="20"/>
                                            </p:tgtEl>
                                          </p:cBhvr>
                                          <p:by x="110000" y="110000"/>
                                        </p:animScale>
                                      </p:childTnLst>
                                    </p:cTn>
                                  </p:par>
                                  <p:par>
                                    <p:cTn id="27" presetID="6" presetClass="emph" presetSubtype="0" accel="50000" decel="50000" fill="hold" nodeType="withEffect">
                                      <p:stCondLst>
                                        <p:cond delay="0"/>
                                      </p:stCondLst>
                                      <p:childTnLst>
                                        <p:animScale>
                                          <p:cBhvr>
                                            <p:cTn id="28" dur="250" fill="hold"/>
                                            <p:tgtEl>
                                              <p:spTgt spid="20"/>
                                            </p:tgtEl>
                                          </p:cBhvr>
                                          <p:by x="91000" y="91000"/>
                                        </p:animScale>
                                      </p:childTnLst>
                                    </p:cTn>
                                  </p:par>
                                </p:childTnLst>
                              </p:cTn>
                            </p:par>
                            <p:par>
                              <p:cTn id="29" fill="hold">
                                <p:stCondLst>
                                  <p:cond delay="1250"/>
                                </p:stCondLst>
                                <p:childTnLst>
                                  <p:par>
                                    <p:cTn id="30" presetID="23" presetClass="entr" presetSubtype="16"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200" fill="hold"/>
                                            <p:tgtEl>
                                              <p:spTgt spid="16"/>
                                            </p:tgtEl>
                                            <p:attrNameLst>
                                              <p:attrName>ppt_w</p:attrName>
                                            </p:attrNameLst>
                                          </p:cBhvr>
                                          <p:tavLst>
                                            <p:tav tm="0">
                                              <p:val>
                                                <p:fltVal val="0"/>
                                              </p:val>
                                            </p:tav>
                                            <p:tav tm="100000">
                                              <p:val>
                                                <p:strVal val="#ppt_w"/>
                                              </p:val>
                                            </p:tav>
                                          </p:tavLst>
                                        </p:anim>
                                        <p:anim calcmode="lin" valueType="num">
                                          <p:cBhvr>
                                            <p:cTn id="33" dur="200" fill="hold"/>
                                            <p:tgtEl>
                                              <p:spTgt spid="16"/>
                                            </p:tgtEl>
                                            <p:attrNameLst>
                                              <p:attrName>ppt_h</p:attrName>
                                            </p:attrNameLst>
                                          </p:cBhvr>
                                          <p:tavLst>
                                            <p:tav tm="0">
                                              <p:val>
                                                <p:fltVal val="0"/>
                                              </p:val>
                                            </p:tav>
                                            <p:tav tm="100000">
                                              <p:val>
                                                <p:strVal val="#ppt_h"/>
                                              </p:val>
                                            </p:tav>
                                          </p:tavLst>
                                        </p:anim>
                                      </p:childTnLst>
                                    </p:cTn>
                                  </p:par>
                                  <p:par>
                                    <p:cTn id="34" presetID="6" presetClass="emph" presetSubtype="0" fill="hold" nodeType="withEffect">
                                      <p:stCondLst>
                                        <p:cond delay="0"/>
                                      </p:stCondLst>
                                      <p:childTnLst>
                                        <p:animScale>
                                          <p:cBhvr>
                                            <p:cTn id="35" dur="750" fill="hold"/>
                                            <p:tgtEl>
                                              <p:spTgt spid="16"/>
                                            </p:tgtEl>
                                          </p:cBhvr>
                                          <p:by x="110000" y="110000"/>
                                        </p:animScale>
                                      </p:childTnLst>
                                    </p:cTn>
                                  </p:par>
                                  <p:par>
                                    <p:cTn id="36" presetID="6" presetClass="emph" presetSubtype="0" accel="50000" decel="50000" fill="hold" nodeType="withEffect">
                                      <p:stCondLst>
                                        <p:cond delay="0"/>
                                      </p:stCondLst>
                                      <p:childTnLst>
                                        <p:animScale>
                                          <p:cBhvr>
                                            <p:cTn id="37" dur="250" fill="hold"/>
                                            <p:tgtEl>
                                              <p:spTgt spid="16"/>
                                            </p:tgtEl>
                                          </p:cBhvr>
                                          <p:by x="91000" y="91000"/>
                                        </p:animScale>
                                      </p:childTnLst>
                                    </p:cTn>
                                  </p:par>
                                </p:childTnLst>
                              </p:cTn>
                            </p:par>
                            <p:par>
                              <p:cTn id="38" fill="hold">
                                <p:stCondLst>
                                  <p:cond delay="2000"/>
                                </p:stCondLst>
                                <p:childTnLst>
                                  <p:par>
                                    <p:cTn id="39" presetID="23" presetClass="entr" presetSubtype="16" fill="hold"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200" fill="hold"/>
                                            <p:tgtEl>
                                              <p:spTgt spid="12"/>
                                            </p:tgtEl>
                                            <p:attrNameLst>
                                              <p:attrName>ppt_w</p:attrName>
                                            </p:attrNameLst>
                                          </p:cBhvr>
                                          <p:tavLst>
                                            <p:tav tm="0">
                                              <p:val>
                                                <p:fltVal val="0"/>
                                              </p:val>
                                            </p:tav>
                                            <p:tav tm="100000">
                                              <p:val>
                                                <p:strVal val="#ppt_w"/>
                                              </p:val>
                                            </p:tav>
                                          </p:tavLst>
                                        </p:anim>
                                        <p:anim calcmode="lin" valueType="num">
                                          <p:cBhvr>
                                            <p:cTn id="42" dur="200" fill="hold"/>
                                            <p:tgtEl>
                                              <p:spTgt spid="12"/>
                                            </p:tgtEl>
                                            <p:attrNameLst>
                                              <p:attrName>ppt_h</p:attrName>
                                            </p:attrNameLst>
                                          </p:cBhvr>
                                          <p:tavLst>
                                            <p:tav tm="0">
                                              <p:val>
                                                <p:fltVal val="0"/>
                                              </p:val>
                                            </p:tav>
                                            <p:tav tm="100000">
                                              <p:val>
                                                <p:strVal val="#ppt_h"/>
                                              </p:val>
                                            </p:tav>
                                          </p:tavLst>
                                        </p:anim>
                                      </p:childTnLst>
                                    </p:cTn>
                                  </p:par>
                                  <p:par>
                                    <p:cTn id="43" presetID="6" presetClass="emph" presetSubtype="0" fill="hold" nodeType="withEffect">
                                      <p:stCondLst>
                                        <p:cond delay="0"/>
                                      </p:stCondLst>
                                      <p:childTnLst>
                                        <p:animScale>
                                          <p:cBhvr>
                                            <p:cTn id="44" dur="750" fill="hold"/>
                                            <p:tgtEl>
                                              <p:spTgt spid="12"/>
                                            </p:tgtEl>
                                          </p:cBhvr>
                                          <p:by x="110000" y="110000"/>
                                        </p:animScale>
                                      </p:childTnLst>
                                    </p:cTn>
                                  </p:par>
                                  <p:par>
                                    <p:cTn id="45" presetID="6" presetClass="emph" presetSubtype="0" accel="50000" decel="50000" fill="hold" nodeType="withEffect">
                                      <p:stCondLst>
                                        <p:cond delay="0"/>
                                      </p:stCondLst>
                                      <p:childTnLst>
                                        <p:animScale>
                                          <p:cBhvr>
                                            <p:cTn id="46" dur="250" fill="hold"/>
                                            <p:tgtEl>
                                              <p:spTgt spid="12"/>
                                            </p:tgtEl>
                                          </p:cBhvr>
                                          <p:by x="91000" y="91000"/>
                                        </p:animScale>
                                      </p:childTnLst>
                                    </p:cTn>
                                  </p:par>
                                </p:childTnLst>
                              </p:cTn>
                            </p:par>
                            <p:par>
                              <p:cTn id="47" fill="hold">
                                <p:stCondLst>
                                  <p:cond delay="2750"/>
                                </p:stCondLst>
                                <p:childTnLst>
                                  <p:par>
                                    <p:cTn id="48" presetID="23" presetClass="entr" presetSubtype="16"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200" fill="hold"/>
                                            <p:tgtEl>
                                              <p:spTgt spid="14"/>
                                            </p:tgtEl>
                                            <p:attrNameLst>
                                              <p:attrName>ppt_w</p:attrName>
                                            </p:attrNameLst>
                                          </p:cBhvr>
                                          <p:tavLst>
                                            <p:tav tm="0">
                                              <p:val>
                                                <p:fltVal val="0"/>
                                              </p:val>
                                            </p:tav>
                                            <p:tav tm="100000">
                                              <p:val>
                                                <p:strVal val="#ppt_w"/>
                                              </p:val>
                                            </p:tav>
                                          </p:tavLst>
                                        </p:anim>
                                        <p:anim calcmode="lin" valueType="num">
                                          <p:cBhvr>
                                            <p:cTn id="51" dur="200" fill="hold"/>
                                            <p:tgtEl>
                                              <p:spTgt spid="14"/>
                                            </p:tgtEl>
                                            <p:attrNameLst>
                                              <p:attrName>ppt_h</p:attrName>
                                            </p:attrNameLst>
                                          </p:cBhvr>
                                          <p:tavLst>
                                            <p:tav tm="0">
                                              <p:val>
                                                <p:fltVal val="0"/>
                                              </p:val>
                                            </p:tav>
                                            <p:tav tm="100000">
                                              <p:val>
                                                <p:strVal val="#ppt_h"/>
                                              </p:val>
                                            </p:tav>
                                          </p:tavLst>
                                        </p:anim>
                                      </p:childTnLst>
                                    </p:cTn>
                                  </p:par>
                                  <p:par>
                                    <p:cTn id="52" presetID="6" presetClass="emph" presetSubtype="0" fill="hold" nodeType="withEffect">
                                      <p:stCondLst>
                                        <p:cond delay="0"/>
                                      </p:stCondLst>
                                      <p:childTnLst>
                                        <p:animScale>
                                          <p:cBhvr>
                                            <p:cTn id="53" dur="750" fill="hold"/>
                                            <p:tgtEl>
                                              <p:spTgt spid="14"/>
                                            </p:tgtEl>
                                          </p:cBhvr>
                                          <p:by x="110000" y="110000"/>
                                        </p:animScale>
                                      </p:childTnLst>
                                    </p:cTn>
                                  </p:par>
                                  <p:par>
                                    <p:cTn id="54" presetID="6" presetClass="emph" presetSubtype="0" accel="50000" decel="50000" fill="hold" nodeType="withEffect">
                                      <p:stCondLst>
                                        <p:cond delay="0"/>
                                      </p:stCondLst>
                                      <p:childTnLst>
                                        <p:animScale>
                                          <p:cBhvr>
                                            <p:cTn id="55" dur="250" fill="hold"/>
                                            <p:tgtEl>
                                              <p:spTgt spid="14"/>
                                            </p:tgtEl>
                                          </p:cBhvr>
                                          <p:by x="91000" y="91000"/>
                                        </p:animScale>
                                      </p:childTnLst>
                                    </p:cTn>
                                  </p:par>
                                </p:childTnLst>
                              </p:cTn>
                            </p:par>
                            <p:par>
                              <p:cTn id="56" fill="hold">
                                <p:stCondLst>
                                  <p:cond delay="3500"/>
                                </p:stCondLst>
                                <p:childTnLst>
                                  <p:par>
                                    <p:cTn id="57" presetID="23" presetClass="entr" presetSubtype="16"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p:cTn id="59" dur="200" fill="hold"/>
                                            <p:tgtEl>
                                              <p:spTgt spid="18"/>
                                            </p:tgtEl>
                                            <p:attrNameLst>
                                              <p:attrName>ppt_w</p:attrName>
                                            </p:attrNameLst>
                                          </p:cBhvr>
                                          <p:tavLst>
                                            <p:tav tm="0">
                                              <p:val>
                                                <p:fltVal val="0"/>
                                              </p:val>
                                            </p:tav>
                                            <p:tav tm="100000">
                                              <p:val>
                                                <p:strVal val="#ppt_w"/>
                                              </p:val>
                                            </p:tav>
                                          </p:tavLst>
                                        </p:anim>
                                        <p:anim calcmode="lin" valueType="num">
                                          <p:cBhvr>
                                            <p:cTn id="60" dur="200" fill="hold"/>
                                            <p:tgtEl>
                                              <p:spTgt spid="18"/>
                                            </p:tgtEl>
                                            <p:attrNameLst>
                                              <p:attrName>ppt_h</p:attrName>
                                            </p:attrNameLst>
                                          </p:cBhvr>
                                          <p:tavLst>
                                            <p:tav tm="0">
                                              <p:val>
                                                <p:fltVal val="0"/>
                                              </p:val>
                                            </p:tav>
                                            <p:tav tm="100000">
                                              <p:val>
                                                <p:strVal val="#ppt_h"/>
                                              </p:val>
                                            </p:tav>
                                          </p:tavLst>
                                        </p:anim>
                                      </p:childTnLst>
                                    </p:cTn>
                                  </p:par>
                                  <p:par>
                                    <p:cTn id="61" presetID="6" presetClass="emph" presetSubtype="0" fill="hold" nodeType="withEffect">
                                      <p:stCondLst>
                                        <p:cond delay="0"/>
                                      </p:stCondLst>
                                      <p:childTnLst>
                                        <p:animScale>
                                          <p:cBhvr>
                                            <p:cTn id="62" dur="750" fill="hold"/>
                                            <p:tgtEl>
                                              <p:spTgt spid="18"/>
                                            </p:tgtEl>
                                          </p:cBhvr>
                                          <p:by x="110000" y="110000"/>
                                        </p:animScale>
                                      </p:childTnLst>
                                    </p:cTn>
                                  </p:par>
                                  <p:par>
                                    <p:cTn id="63" presetID="6" presetClass="emph" presetSubtype="0" accel="50000" decel="50000" fill="hold" nodeType="withEffect">
                                      <p:stCondLst>
                                        <p:cond delay="0"/>
                                      </p:stCondLst>
                                      <p:childTnLst>
                                        <p:animScale>
                                          <p:cBhvr>
                                            <p:cTn id="64" dur="250" fill="hold"/>
                                            <p:tgtEl>
                                              <p:spTgt spid="1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E3C679-F013-CE82-3ED6-21B84D5CD314}"/>
              </a:ext>
            </a:extLst>
          </p:cNvPr>
          <p:cNvSpPr>
            <a:spLocks noGrp="1"/>
          </p:cNvSpPr>
          <p:nvPr>
            <p:ph type="sldNum" sz="quarter" idx="10"/>
          </p:nvPr>
        </p:nvSpPr>
        <p:spPr/>
        <p:txBody>
          <a:bodyPr/>
          <a:lstStyle/>
          <a:p>
            <a:fld id="{A8929BE4-9460-4FFC-82AB-40FA3E28D9A3}" type="slidenum">
              <a:rPr lang="en-US" smtClean="0"/>
              <a:pPr/>
              <a:t>5</a:t>
            </a:fld>
            <a:endParaRPr lang="en-US"/>
          </a:p>
        </p:txBody>
      </p:sp>
      <p:sp>
        <p:nvSpPr>
          <p:cNvPr id="4" name="Text Placeholder 3">
            <a:extLst>
              <a:ext uri="{FF2B5EF4-FFF2-40B4-BE49-F238E27FC236}">
                <a16:creationId xmlns:a16="http://schemas.microsoft.com/office/drawing/2014/main" id="{4E3BD92B-5FAF-4E61-55FE-CC0E14DD4111}"/>
              </a:ext>
            </a:extLst>
          </p:cNvPr>
          <p:cNvSpPr>
            <a:spLocks noGrp="1"/>
          </p:cNvSpPr>
          <p:nvPr>
            <p:ph type="body" sz="quarter" idx="11"/>
          </p:nvPr>
        </p:nvSpPr>
        <p:spPr/>
        <p:txBody>
          <a:bodyPr/>
          <a:lstStyle/>
          <a:p>
            <a:r>
              <a:rPr lang="en-US" dirty="0"/>
              <a:t>I. ĐẶT VẤN ĐỀ</a:t>
            </a:r>
          </a:p>
        </p:txBody>
      </p:sp>
      <p:sp>
        <p:nvSpPr>
          <p:cNvPr id="5" name="Text Placeholder 4">
            <a:extLst>
              <a:ext uri="{FF2B5EF4-FFF2-40B4-BE49-F238E27FC236}">
                <a16:creationId xmlns:a16="http://schemas.microsoft.com/office/drawing/2014/main" id="{DF1FF040-8722-7BF3-FCD5-C8D3A872F4B6}"/>
              </a:ext>
            </a:extLst>
          </p:cNvPr>
          <p:cNvSpPr>
            <a:spLocks noGrp="1"/>
          </p:cNvSpPr>
          <p:nvPr>
            <p:ph type="body" sz="quarter" idx="12"/>
          </p:nvPr>
        </p:nvSpPr>
        <p:spPr>
          <a:xfrm>
            <a:off x="838200" y="2093843"/>
            <a:ext cx="5534904" cy="3868807"/>
          </a:xfrm>
        </p:spPr>
        <p:txBody>
          <a:bodyPr/>
          <a:lstStyle/>
          <a:p>
            <a:pPr algn="just"/>
            <a:r>
              <a:rPr lang="vi-VN" dirty="0"/>
              <a:t>Đề tài này được lựa chọn xuất phát từ thực tế cấp thiết trong môi trường giáo dục lập trình hiện đại, đặc biệt là trong các môn học cơ bản như</a:t>
            </a:r>
            <a:r>
              <a:rPr lang="vi-VN" dirty="0">
                <a:solidFill>
                  <a:schemeClr val="accent5"/>
                </a:solidFill>
              </a:rPr>
              <a:t> </a:t>
            </a:r>
            <a:r>
              <a:rPr lang="vi-VN" b="1" dirty="0">
                <a:solidFill>
                  <a:schemeClr val="accent5"/>
                </a:solidFill>
              </a:rPr>
              <a:t>Kỹ thuật lập trình</a:t>
            </a:r>
            <a:r>
              <a:rPr lang="vi-VN" b="1" dirty="0"/>
              <a:t> </a:t>
            </a:r>
            <a:r>
              <a:rPr lang="vi-VN" dirty="0"/>
              <a:t>hay </a:t>
            </a:r>
            <a:r>
              <a:rPr lang="vi-VN" b="1" dirty="0">
                <a:solidFill>
                  <a:schemeClr val="accent5"/>
                </a:solidFill>
              </a:rPr>
              <a:t>Cấu trúc dữ liệu</a:t>
            </a:r>
            <a:r>
              <a:rPr lang="en-US" b="1" dirty="0">
                <a:solidFill>
                  <a:schemeClr val="accent5"/>
                </a:solidFill>
              </a:rPr>
              <a:t> </a:t>
            </a:r>
            <a:r>
              <a:rPr lang="en-US" b="1" dirty="0" err="1">
                <a:solidFill>
                  <a:schemeClr val="accent5"/>
                </a:solidFill>
              </a:rPr>
              <a:t>và</a:t>
            </a:r>
            <a:r>
              <a:rPr lang="en-US" b="1" dirty="0">
                <a:solidFill>
                  <a:schemeClr val="accent5"/>
                </a:solidFill>
              </a:rPr>
              <a:t> </a:t>
            </a:r>
            <a:r>
              <a:rPr lang="en-US" b="1" dirty="0" err="1">
                <a:solidFill>
                  <a:schemeClr val="accent5"/>
                </a:solidFill>
              </a:rPr>
              <a:t>giải</a:t>
            </a:r>
            <a:r>
              <a:rPr lang="en-US" b="1" dirty="0">
                <a:solidFill>
                  <a:schemeClr val="accent5"/>
                </a:solidFill>
              </a:rPr>
              <a:t> </a:t>
            </a:r>
            <a:r>
              <a:rPr lang="en-US" b="1" dirty="0" err="1">
                <a:solidFill>
                  <a:schemeClr val="accent5"/>
                </a:solidFill>
              </a:rPr>
              <a:t>thuật</a:t>
            </a:r>
            <a:r>
              <a:rPr lang="vi-VN" dirty="0"/>
              <a:t>. Sự phổ biến của các công cụ AI tạo </a:t>
            </a:r>
            <a:r>
              <a:rPr lang="vi-VN" dirty="0" err="1"/>
              <a:t>code</a:t>
            </a:r>
            <a:r>
              <a:rPr lang="vi-VN" dirty="0"/>
              <a:t> đã tạo ra thách thức lớn trong việc phân biệt mã nguồn được tạo bởi AI so với mã nguồn do sinh viên viết, dẫn đến vấn đề đạo văn học thuật và đánh giá không chính xác năng lực thực tế của sinh viên.</a:t>
            </a:r>
          </a:p>
        </p:txBody>
      </p:sp>
      <p:sp>
        <p:nvSpPr>
          <p:cNvPr id="6" name="Text Placeholder 5">
            <a:extLst>
              <a:ext uri="{FF2B5EF4-FFF2-40B4-BE49-F238E27FC236}">
                <a16:creationId xmlns:a16="http://schemas.microsoft.com/office/drawing/2014/main" id="{0668F58B-1786-E5F3-69E5-F011CC9352CB}"/>
              </a:ext>
            </a:extLst>
          </p:cNvPr>
          <p:cNvSpPr>
            <a:spLocks noGrp="1"/>
          </p:cNvSpPr>
          <p:nvPr>
            <p:ph type="body" sz="quarter" idx="13"/>
          </p:nvPr>
        </p:nvSpPr>
        <p:spPr/>
        <p:txBody>
          <a:bodyPr/>
          <a:lstStyle/>
          <a:p>
            <a:r>
              <a:rPr lang="en-US" dirty="0"/>
              <a:t>1.1 Lý do </a:t>
            </a:r>
            <a:r>
              <a:rPr lang="en-US" dirty="0" err="1"/>
              <a:t>lựa</a:t>
            </a:r>
            <a:r>
              <a:rPr lang="en-US" dirty="0"/>
              <a:t> </a:t>
            </a:r>
            <a:r>
              <a:rPr lang="en-US" dirty="0" err="1"/>
              <a:t>chọn</a:t>
            </a:r>
            <a:r>
              <a:rPr lang="en-US" dirty="0"/>
              <a:t> </a:t>
            </a:r>
            <a:r>
              <a:rPr lang="en-US" dirty="0" err="1"/>
              <a:t>đề</a:t>
            </a:r>
            <a:r>
              <a:rPr lang="en-US" dirty="0"/>
              <a:t> </a:t>
            </a:r>
            <a:r>
              <a:rPr lang="en-US" dirty="0" err="1"/>
              <a:t>tài</a:t>
            </a:r>
            <a:endParaRPr lang="en-US" dirty="0"/>
          </a:p>
        </p:txBody>
      </p:sp>
      <p:sp>
        <p:nvSpPr>
          <p:cNvPr id="9" name="Title 4">
            <a:extLst>
              <a:ext uri="{FF2B5EF4-FFF2-40B4-BE49-F238E27FC236}">
                <a16:creationId xmlns:a16="http://schemas.microsoft.com/office/drawing/2014/main" id="{62DD6C4C-472E-71CD-26D5-EF178AEAA831}"/>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2" name="Graphic 1">
            <a:extLst>
              <a:ext uri="{FF2B5EF4-FFF2-40B4-BE49-F238E27FC236}">
                <a16:creationId xmlns:a16="http://schemas.microsoft.com/office/drawing/2014/main" id="{A3D41AD7-03BB-CDA4-6873-550287FAE1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33353" y="3600212"/>
            <a:ext cx="1805080" cy="1812131"/>
          </a:xfrm>
          <a:prstGeom prst="rect">
            <a:avLst/>
          </a:prstGeom>
        </p:spPr>
      </p:pic>
      <p:pic>
        <p:nvPicPr>
          <p:cNvPr id="7" name="Graphic 6">
            <a:extLst>
              <a:ext uri="{FF2B5EF4-FFF2-40B4-BE49-F238E27FC236}">
                <a16:creationId xmlns:a16="http://schemas.microsoft.com/office/drawing/2014/main" id="{92B94B65-4151-265E-A976-740B9587A5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73296" y="2339420"/>
            <a:ext cx="934916" cy="759619"/>
          </a:xfrm>
          <a:prstGeom prst="rect">
            <a:avLst/>
          </a:prstGeom>
        </p:spPr>
      </p:pic>
      <p:pic>
        <p:nvPicPr>
          <p:cNvPr id="8" name="Graphic 7">
            <a:extLst>
              <a:ext uri="{FF2B5EF4-FFF2-40B4-BE49-F238E27FC236}">
                <a16:creationId xmlns:a16="http://schemas.microsoft.com/office/drawing/2014/main" id="{59E63112-10B6-B3A5-BB8C-662FA15BDFE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27709" y="3429000"/>
            <a:ext cx="1899139" cy="1928813"/>
          </a:xfrm>
          <a:prstGeom prst="rect">
            <a:avLst/>
          </a:prstGeom>
        </p:spPr>
      </p:pic>
      <p:pic>
        <p:nvPicPr>
          <p:cNvPr id="10" name="Graphic 9">
            <a:extLst>
              <a:ext uri="{FF2B5EF4-FFF2-40B4-BE49-F238E27FC236}">
                <a16:creationId xmlns:a16="http://schemas.microsoft.com/office/drawing/2014/main" id="{B433E677-C4A1-D69E-6F1F-1F80EA0B60C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682" y="1581365"/>
            <a:ext cx="850877" cy="856626"/>
          </a:xfrm>
          <a:prstGeom prst="rect">
            <a:avLst/>
          </a:prstGeom>
        </p:spPr>
      </p:pic>
      <p:pic>
        <p:nvPicPr>
          <p:cNvPr id="11" name="Graphic 10">
            <a:extLst>
              <a:ext uri="{FF2B5EF4-FFF2-40B4-BE49-F238E27FC236}">
                <a16:creationId xmlns:a16="http://schemas.microsoft.com/office/drawing/2014/main" id="{71AD1402-8FB5-1ADC-DE57-B0E7E32DED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16949" y="2043033"/>
            <a:ext cx="1596098" cy="1596098"/>
          </a:xfrm>
          <a:prstGeom prst="rect">
            <a:avLst/>
          </a:prstGeom>
        </p:spPr>
      </p:pic>
    </p:spTree>
    <p:extLst>
      <p:ext uri="{BB962C8B-B14F-4D97-AF65-F5344CB8AC3E}">
        <p14:creationId xmlns:p14="http://schemas.microsoft.com/office/powerpoint/2010/main" val="83614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42DB39-1956-A3D7-B21E-9C4E9AD87CEC}"/>
              </a:ext>
            </a:extLst>
          </p:cNvPr>
          <p:cNvSpPr>
            <a:spLocks noGrp="1"/>
          </p:cNvSpPr>
          <p:nvPr>
            <p:ph type="sldNum" sz="quarter" idx="10"/>
          </p:nvPr>
        </p:nvSpPr>
        <p:spPr/>
        <p:txBody>
          <a:bodyPr/>
          <a:lstStyle/>
          <a:p>
            <a:fld id="{A8929BE4-9460-4FFC-82AB-40FA3E28D9A3}" type="slidenum">
              <a:rPr lang="en-US" smtClean="0"/>
              <a:pPr/>
              <a:t>6</a:t>
            </a:fld>
            <a:endParaRPr lang="en-US"/>
          </a:p>
        </p:txBody>
      </p:sp>
      <p:sp>
        <p:nvSpPr>
          <p:cNvPr id="4" name="Text Placeholder 3">
            <a:extLst>
              <a:ext uri="{FF2B5EF4-FFF2-40B4-BE49-F238E27FC236}">
                <a16:creationId xmlns:a16="http://schemas.microsoft.com/office/drawing/2014/main" id="{EF3DA382-920B-3B46-BBF6-335782584EC7}"/>
              </a:ext>
            </a:extLst>
          </p:cNvPr>
          <p:cNvSpPr>
            <a:spLocks noGrp="1"/>
          </p:cNvSpPr>
          <p:nvPr>
            <p:ph type="body" sz="quarter" idx="12"/>
          </p:nvPr>
        </p:nvSpPr>
        <p:spPr>
          <a:xfrm>
            <a:off x="838200" y="2093844"/>
            <a:ext cx="10515600" cy="3918018"/>
          </a:xfrm>
        </p:spPr>
        <p:txBody>
          <a:bodyPr/>
          <a:lstStyle/>
          <a:p>
            <a:r>
              <a:rPr lang="en-US" b="1" dirty="0" err="1"/>
              <a:t>Mục</a:t>
            </a:r>
            <a:r>
              <a:rPr lang="en-US" b="1" dirty="0"/>
              <a:t> </a:t>
            </a:r>
            <a:r>
              <a:rPr lang="en-US" b="1" dirty="0" err="1"/>
              <a:t>tiêu</a:t>
            </a:r>
            <a:r>
              <a:rPr lang="en-US" b="1" dirty="0"/>
              <a:t> </a:t>
            </a:r>
            <a:r>
              <a:rPr lang="en-US" b="1" dirty="0" err="1"/>
              <a:t>nghiên</a:t>
            </a:r>
            <a:r>
              <a:rPr lang="en-US" b="1" dirty="0"/>
              <a:t> </a:t>
            </a:r>
            <a:r>
              <a:rPr lang="en-US" b="1" dirty="0" err="1"/>
              <a:t>cứu</a:t>
            </a:r>
            <a:r>
              <a:rPr lang="en-US" b="1" dirty="0"/>
              <a:t>:</a:t>
            </a:r>
            <a:br>
              <a:rPr lang="en-US" b="1" dirty="0"/>
            </a:br>
            <a:r>
              <a:rPr lang="vi-VN" dirty="0"/>
              <a:t>Hệ thống được xây dựng nhằm giải quyết thách thức ngày càng lớn trong môi trường giáo dục lập trình: sự phổ biến của các công cụ sinh mã bằng </a:t>
            </a:r>
            <a:r>
              <a:rPr lang="vi-VN" b="1" dirty="0">
                <a:solidFill>
                  <a:schemeClr val="accent5"/>
                </a:solidFill>
              </a:rPr>
              <a:t>AI</a:t>
            </a:r>
            <a:r>
              <a:rPr lang="vi-VN" dirty="0"/>
              <a:t> như </a:t>
            </a:r>
            <a:r>
              <a:rPr lang="vi-VN" b="1" dirty="0" err="1">
                <a:solidFill>
                  <a:schemeClr val="accent5"/>
                </a:solidFill>
              </a:rPr>
              <a:t>ChatGPT</a:t>
            </a:r>
            <a:r>
              <a:rPr lang="vi-VN" dirty="0"/>
              <a:t> hay </a:t>
            </a:r>
            <a:r>
              <a:rPr lang="vi-VN" b="1" dirty="0" err="1">
                <a:solidFill>
                  <a:schemeClr val="accent5"/>
                </a:solidFill>
              </a:rPr>
              <a:t>GitHub</a:t>
            </a:r>
            <a:r>
              <a:rPr lang="vi-VN" b="1" dirty="0">
                <a:solidFill>
                  <a:schemeClr val="accent5"/>
                </a:solidFill>
              </a:rPr>
              <a:t> </a:t>
            </a:r>
            <a:r>
              <a:rPr lang="vi-VN" b="1" dirty="0" err="1">
                <a:solidFill>
                  <a:schemeClr val="accent5"/>
                </a:solidFill>
              </a:rPr>
              <a:t>Copilot</a:t>
            </a:r>
            <a:r>
              <a:rPr lang="vi-VN" dirty="0"/>
              <a:t>. </a:t>
            </a:r>
            <a:r>
              <a:rPr lang="en-US" dirty="0" err="1"/>
              <a:t>Hệ</a:t>
            </a:r>
            <a:r>
              <a:rPr lang="en-US" dirty="0"/>
              <a:t> </a:t>
            </a:r>
            <a:r>
              <a:rPr lang="en-US" dirty="0" err="1"/>
              <a:t>thống</a:t>
            </a:r>
            <a:r>
              <a:rPr lang="en-US" dirty="0"/>
              <a:t> </a:t>
            </a:r>
            <a:r>
              <a:rPr lang="en-US" dirty="0" err="1"/>
              <a:t>này</a:t>
            </a:r>
            <a:r>
              <a:rPr lang="en-US" dirty="0"/>
              <a:t> </a:t>
            </a:r>
            <a:r>
              <a:rPr lang="en-US" dirty="0" err="1"/>
              <a:t>hỗ</a:t>
            </a:r>
            <a:r>
              <a:rPr lang="en-US" dirty="0"/>
              <a:t> </a:t>
            </a:r>
            <a:r>
              <a:rPr lang="en-US" dirty="0" err="1"/>
              <a:t>trợ</a:t>
            </a:r>
            <a:r>
              <a:rPr lang="en-US" dirty="0"/>
              <a:t> </a:t>
            </a:r>
            <a:r>
              <a:rPr lang="en-US" dirty="0" err="1"/>
              <a:t>giảng</a:t>
            </a:r>
            <a:r>
              <a:rPr lang="en-US" dirty="0"/>
              <a:t> </a:t>
            </a:r>
            <a:r>
              <a:rPr lang="en-US" dirty="0" err="1"/>
              <a:t>viên</a:t>
            </a:r>
            <a:r>
              <a:rPr lang="en-US" dirty="0"/>
              <a:t> </a:t>
            </a:r>
            <a:r>
              <a:rPr lang="en-US" dirty="0" err="1"/>
              <a:t>trong</a:t>
            </a:r>
            <a:r>
              <a:rPr lang="en-US" dirty="0"/>
              <a:t> </a:t>
            </a:r>
            <a:r>
              <a:rPr lang="en-US" dirty="0" err="1"/>
              <a:t>việc</a:t>
            </a:r>
            <a:r>
              <a:rPr lang="en-US" dirty="0"/>
              <a:t> </a:t>
            </a:r>
            <a:r>
              <a:rPr lang="en-US" dirty="0" err="1"/>
              <a:t>đảm</a:t>
            </a:r>
            <a:r>
              <a:rPr lang="en-US" dirty="0"/>
              <a:t> </a:t>
            </a:r>
            <a:r>
              <a:rPr lang="en-US" dirty="0" err="1"/>
              <a:t>đảm</a:t>
            </a:r>
            <a:r>
              <a:rPr lang="en-US" dirty="0"/>
              <a:t> </a:t>
            </a:r>
            <a:r>
              <a:rPr lang="vi-VN" dirty="0"/>
              <a:t>tính minh bạch và </a:t>
            </a:r>
            <a:r>
              <a:rPr lang="en-US" dirty="0"/>
              <a:t>đ</a:t>
            </a:r>
            <a:r>
              <a:rPr lang="vi-VN" dirty="0"/>
              <a:t>ánh </a:t>
            </a:r>
            <a:r>
              <a:rPr lang="en-US" dirty="0" err="1"/>
              <a:t>giá</a:t>
            </a:r>
            <a:r>
              <a:rPr lang="en-US" dirty="0"/>
              <a:t> </a:t>
            </a:r>
            <a:r>
              <a:rPr lang="vi-VN" dirty="0"/>
              <a:t>năng </a:t>
            </a:r>
            <a:r>
              <a:rPr lang="en-US" dirty="0" err="1"/>
              <a:t>lực</a:t>
            </a:r>
            <a:r>
              <a:rPr lang="en-US" dirty="0"/>
              <a:t> </a:t>
            </a:r>
            <a:r>
              <a:rPr lang="vi-VN" dirty="0"/>
              <a:t>của sinh viên.</a:t>
            </a:r>
            <a:endParaRPr lang="en-US" dirty="0"/>
          </a:p>
          <a:p>
            <a:r>
              <a:rPr lang="en-US" b="1" dirty="0" err="1"/>
              <a:t>Nội</a:t>
            </a:r>
            <a:r>
              <a:rPr lang="en-US" b="1" dirty="0"/>
              <a:t> dung </a:t>
            </a:r>
            <a:r>
              <a:rPr lang="en-US" b="1" dirty="0" err="1"/>
              <a:t>nghiên</a:t>
            </a:r>
            <a:r>
              <a:rPr lang="en-US" b="1" dirty="0"/>
              <a:t> </a:t>
            </a:r>
            <a:r>
              <a:rPr lang="en-US" b="1" dirty="0" err="1"/>
              <a:t>cứu</a:t>
            </a:r>
            <a:r>
              <a:rPr lang="en-US" b="1" dirty="0"/>
              <a:t>:</a:t>
            </a:r>
          </a:p>
          <a:p>
            <a:pPr marL="285750" indent="-285750">
              <a:buFont typeface="Wingdings" panose="05000000000000000000" pitchFamily="2" charset="2"/>
              <a:buChar char="§"/>
            </a:pPr>
            <a:r>
              <a:rPr lang="en-US" dirty="0" err="1"/>
              <a:t>Xây</a:t>
            </a:r>
            <a:r>
              <a:rPr lang="en-US" dirty="0"/>
              <a:t> </a:t>
            </a:r>
            <a:r>
              <a:rPr lang="en-US" dirty="0" err="1"/>
              <a:t>dựng</a:t>
            </a:r>
            <a:r>
              <a:rPr lang="en-US" dirty="0"/>
              <a:t> </a:t>
            </a:r>
            <a:r>
              <a:rPr lang="en-US" dirty="0" err="1"/>
              <a:t>bộ</a:t>
            </a:r>
            <a:r>
              <a:rPr lang="en-US" dirty="0"/>
              <a:t> </a:t>
            </a:r>
            <a:r>
              <a:rPr lang="en-US" dirty="0" err="1"/>
              <a:t>dữ</a:t>
            </a:r>
            <a:r>
              <a:rPr lang="en-US" dirty="0"/>
              <a:t> </a:t>
            </a:r>
            <a:r>
              <a:rPr lang="en-US" dirty="0" err="1"/>
              <a:t>liệu</a:t>
            </a:r>
            <a:r>
              <a:rPr lang="en-US" dirty="0"/>
              <a:t> </a:t>
            </a:r>
            <a:r>
              <a:rPr lang="en-US" dirty="0" err="1"/>
              <a:t>và</a:t>
            </a:r>
            <a:r>
              <a:rPr lang="en-US" dirty="0"/>
              <a:t> t</a:t>
            </a:r>
            <a:r>
              <a:rPr lang="vi-VN" dirty="0"/>
              <a:t>rích xuất đặc trưng</a:t>
            </a:r>
            <a:endParaRPr lang="en-US" dirty="0"/>
          </a:p>
          <a:p>
            <a:pPr marL="285750" indent="-285750">
              <a:buFont typeface="Wingdings" panose="05000000000000000000" pitchFamily="2" charset="2"/>
              <a:buChar char="§"/>
            </a:pPr>
            <a:r>
              <a:rPr lang="en-US" dirty="0" err="1"/>
              <a:t>Tìm</a:t>
            </a:r>
            <a:r>
              <a:rPr lang="en-US" dirty="0"/>
              <a:t> </a:t>
            </a:r>
            <a:r>
              <a:rPr lang="en-US" dirty="0" err="1"/>
              <a:t>hiểu</a:t>
            </a:r>
            <a:r>
              <a:rPr lang="en-US" dirty="0"/>
              <a:t> </a:t>
            </a:r>
            <a:r>
              <a:rPr lang="en-US" dirty="0" err="1"/>
              <a:t>các</a:t>
            </a:r>
            <a:r>
              <a:rPr lang="en-US" dirty="0"/>
              <a:t> </a:t>
            </a:r>
            <a:r>
              <a:rPr lang="en-US" dirty="0" err="1"/>
              <a:t>phương</a:t>
            </a:r>
            <a:r>
              <a:rPr lang="en-US" dirty="0"/>
              <a:t> </a:t>
            </a:r>
            <a:r>
              <a:rPr lang="en-US" dirty="0" err="1"/>
              <a:t>pháp</a:t>
            </a:r>
            <a:r>
              <a:rPr lang="en-US" dirty="0"/>
              <a:t> </a:t>
            </a:r>
            <a:r>
              <a:rPr lang="en-US" dirty="0" err="1"/>
              <a:t>đánh</a:t>
            </a:r>
            <a:r>
              <a:rPr lang="en-US" dirty="0"/>
              <a:t> </a:t>
            </a:r>
            <a:r>
              <a:rPr lang="en-US" dirty="0" err="1"/>
              <a:t>giá</a:t>
            </a:r>
            <a:r>
              <a:rPr lang="en-US" dirty="0"/>
              <a:t> </a:t>
            </a:r>
            <a:r>
              <a:rPr lang="en-US" dirty="0" err="1"/>
              <a:t>và</a:t>
            </a:r>
            <a:r>
              <a:rPr lang="en-US" dirty="0"/>
              <a:t> </a:t>
            </a:r>
            <a:r>
              <a:rPr lang="en-US" dirty="0" err="1"/>
              <a:t>phân</a:t>
            </a:r>
            <a:r>
              <a:rPr lang="en-US" dirty="0"/>
              <a:t> </a:t>
            </a:r>
            <a:r>
              <a:rPr lang="en-US" dirty="0" err="1"/>
              <a:t>loại</a:t>
            </a:r>
            <a:endParaRPr lang="en-US" dirty="0"/>
          </a:p>
          <a:p>
            <a:pPr marL="285750" indent="-285750">
              <a:buFont typeface="Wingdings" panose="05000000000000000000" pitchFamily="2" charset="2"/>
              <a:buChar char="§"/>
            </a:pPr>
            <a:r>
              <a:rPr lang="en-US" dirty="0" err="1"/>
              <a:t>Vận</a:t>
            </a:r>
            <a:r>
              <a:rPr lang="en-US" dirty="0"/>
              <a:t> </a:t>
            </a:r>
            <a:r>
              <a:rPr lang="en-US" dirty="0" err="1"/>
              <a:t>dụng</a:t>
            </a:r>
            <a:r>
              <a:rPr lang="en-US" dirty="0"/>
              <a:t> </a:t>
            </a:r>
            <a:r>
              <a:rPr lang="en-US" dirty="0" err="1"/>
              <a:t>kiến</a:t>
            </a:r>
            <a:r>
              <a:rPr lang="en-US" dirty="0"/>
              <a:t> </a:t>
            </a:r>
            <a:r>
              <a:rPr lang="en-US" dirty="0" err="1"/>
              <a:t>thức</a:t>
            </a:r>
            <a:r>
              <a:rPr lang="en-US" dirty="0"/>
              <a:t> </a:t>
            </a:r>
            <a:r>
              <a:rPr lang="en-US" dirty="0" err="1"/>
              <a:t>để</a:t>
            </a:r>
            <a:r>
              <a:rPr lang="en-US" dirty="0"/>
              <a:t> </a:t>
            </a:r>
            <a:r>
              <a:rPr lang="en-US" dirty="0" err="1"/>
              <a:t>thiết</a:t>
            </a:r>
            <a:r>
              <a:rPr lang="en-US" dirty="0"/>
              <a:t> </a:t>
            </a:r>
            <a:r>
              <a:rPr lang="en-US" dirty="0" err="1"/>
              <a:t>kế</a:t>
            </a:r>
            <a:r>
              <a:rPr lang="en-US" dirty="0"/>
              <a:t> </a:t>
            </a:r>
            <a:r>
              <a:rPr lang="en-US" dirty="0" err="1"/>
              <a:t>và</a:t>
            </a:r>
            <a:r>
              <a:rPr lang="en-US" dirty="0"/>
              <a:t> </a:t>
            </a:r>
            <a:r>
              <a:rPr lang="en-US" dirty="0" err="1"/>
              <a:t>xây</a:t>
            </a:r>
            <a:r>
              <a:rPr lang="en-US" dirty="0"/>
              <a:t> </a:t>
            </a:r>
            <a:r>
              <a:rPr lang="en-US" dirty="0" err="1"/>
              <a:t>dựng</a:t>
            </a:r>
            <a:r>
              <a:rPr lang="en-US" dirty="0"/>
              <a:t> </a:t>
            </a:r>
            <a:r>
              <a:rPr lang="en-US" dirty="0" err="1"/>
              <a:t>cơ</a:t>
            </a:r>
            <a:r>
              <a:rPr lang="en-US" dirty="0"/>
              <a:t> </a:t>
            </a:r>
            <a:r>
              <a:rPr lang="en-US" dirty="0" err="1"/>
              <a:t>chế</a:t>
            </a:r>
            <a:r>
              <a:rPr lang="en-US" dirty="0"/>
              <a:t> </a:t>
            </a:r>
            <a:r>
              <a:rPr lang="en-US" dirty="0" err="1"/>
              <a:t>phát</a:t>
            </a:r>
            <a:r>
              <a:rPr lang="en-US" dirty="0"/>
              <a:t> </a:t>
            </a:r>
            <a:r>
              <a:rPr lang="en-US" dirty="0" err="1"/>
              <a:t>hiện</a:t>
            </a:r>
            <a:r>
              <a:rPr lang="en-US" dirty="0"/>
              <a:t> AI-generated code </a:t>
            </a:r>
            <a:r>
              <a:rPr lang="en-US" dirty="0" err="1"/>
              <a:t>trong</a:t>
            </a:r>
            <a:r>
              <a:rPr lang="en-US" dirty="0"/>
              <a:t> </a:t>
            </a:r>
            <a:r>
              <a:rPr lang="en-US" dirty="0" err="1"/>
              <a:t>bài</a:t>
            </a:r>
            <a:r>
              <a:rPr lang="en-US" dirty="0"/>
              <a:t> </a:t>
            </a:r>
            <a:r>
              <a:rPr lang="en-US" dirty="0" err="1"/>
              <a:t>tập</a:t>
            </a:r>
            <a:r>
              <a:rPr lang="en-US" dirty="0"/>
              <a:t> </a:t>
            </a:r>
            <a:r>
              <a:rPr lang="en-US" dirty="0" err="1"/>
              <a:t>lập</a:t>
            </a:r>
            <a:r>
              <a:rPr lang="en-US" dirty="0"/>
              <a:t> </a:t>
            </a:r>
            <a:r>
              <a:rPr lang="en-US" dirty="0" err="1"/>
              <a:t>trình</a:t>
            </a:r>
            <a:r>
              <a:rPr lang="en-US" dirty="0"/>
              <a:t> </a:t>
            </a:r>
            <a:r>
              <a:rPr lang="en-US" dirty="0" err="1"/>
              <a:t>của</a:t>
            </a:r>
            <a:r>
              <a:rPr lang="en-US" dirty="0"/>
              <a:t> </a:t>
            </a:r>
            <a:r>
              <a:rPr lang="en-US" dirty="0" err="1"/>
              <a:t>sinh</a:t>
            </a:r>
            <a:r>
              <a:rPr lang="en-US" dirty="0"/>
              <a:t> </a:t>
            </a:r>
            <a:r>
              <a:rPr lang="en-US" dirty="0" err="1"/>
              <a:t>viên</a:t>
            </a:r>
            <a:endParaRPr lang="en-US" dirty="0"/>
          </a:p>
        </p:txBody>
      </p:sp>
      <p:sp>
        <p:nvSpPr>
          <p:cNvPr id="27" name="Title 4">
            <a:extLst>
              <a:ext uri="{FF2B5EF4-FFF2-40B4-BE49-F238E27FC236}">
                <a16:creationId xmlns:a16="http://schemas.microsoft.com/office/drawing/2014/main" id="{8D88A60D-893F-B28A-2399-EF339C00B464}"/>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28" name="Text Placeholder 3">
            <a:extLst>
              <a:ext uri="{FF2B5EF4-FFF2-40B4-BE49-F238E27FC236}">
                <a16:creationId xmlns:a16="http://schemas.microsoft.com/office/drawing/2014/main" id="{08679DFB-F1CF-D878-DB9C-2B8B6EC27164}"/>
              </a:ext>
            </a:extLst>
          </p:cNvPr>
          <p:cNvSpPr>
            <a:spLocks noGrp="1"/>
          </p:cNvSpPr>
          <p:nvPr>
            <p:ph type="body" sz="quarter" idx="11"/>
          </p:nvPr>
        </p:nvSpPr>
        <p:spPr>
          <a:xfrm>
            <a:off x="838200" y="1304925"/>
            <a:ext cx="10515600" cy="295275"/>
          </a:xfrm>
        </p:spPr>
        <p:txBody>
          <a:bodyPr/>
          <a:lstStyle/>
          <a:p>
            <a:r>
              <a:rPr lang="en-US" dirty="0"/>
              <a:t>I. ĐẶT VẤN ĐỀ</a:t>
            </a:r>
          </a:p>
        </p:txBody>
      </p:sp>
      <p:sp>
        <p:nvSpPr>
          <p:cNvPr id="29" name="Text Placeholder 5">
            <a:extLst>
              <a:ext uri="{FF2B5EF4-FFF2-40B4-BE49-F238E27FC236}">
                <a16:creationId xmlns:a16="http://schemas.microsoft.com/office/drawing/2014/main" id="{B5048565-DCAA-6D98-BE4A-B586931263F1}"/>
              </a:ext>
            </a:extLst>
          </p:cNvPr>
          <p:cNvSpPr>
            <a:spLocks noGrp="1"/>
          </p:cNvSpPr>
          <p:nvPr>
            <p:ph type="body" sz="quarter" idx="13"/>
          </p:nvPr>
        </p:nvSpPr>
        <p:spPr>
          <a:xfrm>
            <a:off x="838200" y="1649413"/>
            <a:ext cx="10515600" cy="295275"/>
          </a:xfrm>
        </p:spPr>
        <p:txBody>
          <a:bodyPr/>
          <a:lstStyle/>
          <a:p>
            <a:r>
              <a:rPr lang="en-US" dirty="0"/>
              <a:t>1.2 </a:t>
            </a:r>
            <a:r>
              <a:rPr lang="en-US" dirty="0" err="1"/>
              <a:t>Mục</a:t>
            </a:r>
            <a:r>
              <a:rPr lang="en-US" dirty="0"/>
              <a:t> </a:t>
            </a:r>
            <a:r>
              <a:rPr lang="en-US" dirty="0" err="1"/>
              <a:t>tiêu</a:t>
            </a:r>
            <a:r>
              <a:rPr lang="en-US" dirty="0"/>
              <a:t> </a:t>
            </a:r>
            <a:r>
              <a:rPr lang="en-US" dirty="0" err="1"/>
              <a:t>và</a:t>
            </a:r>
            <a:r>
              <a:rPr lang="en-US" dirty="0"/>
              <a:t> </a:t>
            </a:r>
            <a:r>
              <a:rPr lang="en-US" dirty="0" err="1"/>
              <a:t>nội</a:t>
            </a:r>
            <a:r>
              <a:rPr lang="en-US" dirty="0"/>
              <a:t> dung </a:t>
            </a:r>
            <a:r>
              <a:rPr lang="en-US" dirty="0" err="1"/>
              <a:t>nghiên</a:t>
            </a:r>
            <a:r>
              <a:rPr lang="en-US" dirty="0"/>
              <a:t> </a:t>
            </a:r>
            <a:r>
              <a:rPr lang="en-US" dirty="0" err="1"/>
              <a:t>cứu</a:t>
            </a:r>
            <a:endParaRPr lang="en-US" dirty="0"/>
          </a:p>
        </p:txBody>
      </p:sp>
    </p:spTree>
    <p:extLst>
      <p:ext uri="{BB962C8B-B14F-4D97-AF65-F5344CB8AC3E}">
        <p14:creationId xmlns:p14="http://schemas.microsoft.com/office/powerpoint/2010/main" val="90586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28"/>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250"/>
                                        <p:tgtEl>
                                          <p:spTgt spid="29"/>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29"/>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250"/>
                                        <p:tgtEl>
                                          <p:spTgt spid="4"/>
                                        </p:tgtEl>
                                      </p:cBhvr>
                                    </p:animEffect>
                                  </p:childTnLst>
                                </p:cTn>
                              </p:par>
                              <p:par>
                                <p:cTn id="19" presetID="42" presetClass="path" presetSubtype="0" decel="100000" fill="hold" grpId="1" nodeType="withEffect">
                                  <p:stCondLst>
                                    <p:cond delay="0"/>
                                  </p:stCondLst>
                                  <p:childTnLst>
                                    <p:animMotion origin="layout" path="M -0.01719 -0.00023 L -1.25E-6 1.85185E-6 " pathEditMode="relative" rAng="0" ptsTypes="AA">
                                      <p:cBhvr>
                                        <p:cTn id="20" dur="500" fill="hold"/>
                                        <p:tgtEl>
                                          <p:spTgt spid="4"/>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28" grpId="0"/>
      <p:bldP spid="28" grpId="1"/>
      <p:bldP spid="29" grpId="0"/>
      <p:bldP spid="29"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1B4723-F15F-B0DC-094E-C31828469AC8}"/>
              </a:ext>
            </a:extLst>
          </p:cNvPr>
          <p:cNvSpPr>
            <a:spLocks noGrp="1"/>
          </p:cNvSpPr>
          <p:nvPr>
            <p:ph type="sldNum" sz="quarter" idx="10"/>
          </p:nvPr>
        </p:nvSpPr>
        <p:spPr/>
        <p:txBody>
          <a:bodyPr/>
          <a:lstStyle/>
          <a:p>
            <a:fld id="{A8929BE4-9460-4FFC-82AB-40FA3E28D9A3}" type="slidenum">
              <a:rPr lang="en-US" smtClean="0"/>
              <a:pPr/>
              <a:t>7</a:t>
            </a:fld>
            <a:endParaRPr lang="en-US"/>
          </a:p>
        </p:txBody>
      </p:sp>
      <p:sp>
        <p:nvSpPr>
          <p:cNvPr id="3" name="Text Placeholder 2">
            <a:extLst>
              <a:ext uri="{FF2B5EF4-FFF2-40B4-BE49-F238E27FC236}">
                <a16:creationId xmlns:a16="http://schemas.microsoft.com/office/drawing/2014/main" id="{205B3754-07D4-B7A6-9692-D86654E04B6C}"/>
              </a:ext>
            </a:extLst>
          </p:cNvPr>
          <p:cNvSpPr>
            <a:spLocks noGrp="1"/>
          </p:cNvSpPr>
          <p:nvPr>
            <p:ph type="body" sz="quarter" idx="11"/>
          </p:nvPr>
        </p:nvSpPr>
        <p:spPr/>
        <p:txBody>
          <a:bodyPr/>
          <a:lstStyle/>
          <a:p>
            <a:r>
              <a:rPr lang="en-US" dirty="0"/>
              <a:t>02</a:t>
            </a:r>
          </a:p>
        </p:txBody>
      </p:sp>
      <p:sp>
        <p:nvSpPr>
          <p:cNvPr id="4" name="Text Placeholder 3">
            <a:extLst>
              <a:ext uri="{FF2B5EF4-FFF2-40B4-BE49-F238E27FC236}">
                <a16:creationId xmlns:a16="http://schemas.microsoft.com/office/drawing/2014/main" id="{2EAE002A-7FC1-0EA2-17B2-5FF54F42E28A}"/>
              </a:ext>
            </a:extLst>
          </p:cNvPr>
          <p:cNvSpPr>
            <a:spLocks noGrp="1"/>
          </p:cNvSpPr>
          <p:nvPr>
            <p:ph type="body" sz="quarter" idx="12"/>
          </p:nvPr>
        </p:nvSpPr>
        <p:spPr/>
        <p:txBody>
          <a:bodyPr/>
          <a:lstStyle/>
          <a:p>
            <a:r>
              <a:rPr lang="en-US" dirty="0"/>
              <a:t>CƠ SỞ LÝ THUYẾT</a:t>
            </a:r>
          </a:p>
        </p:txBody>
      </p:sp>
      <p:sp>
        <p:nvSpPr>
          <p:cNvPr id="5" name="Title 4">
            <a:extLst>
              <a:ext uri="{FF2B5EF4-FFF2-40B4-BE49-F238E27FC236}">
                <a16:creationId xmlns:a16="http://schemas.microsoft.com/office/drawing/2014/main" id="{D1B2F9DA-C6A8-C811-386B-07209B90EFEE}"/>
              </a:ext>
            </a:extLst>
          </p:cNvPr>
          <p:cNvSpPr>
            <a:spLocks noGrp="1"/>
          </p:cNvSpPr>
          <p:nvPr>
            <p:ph type="title"/>
          </p:nvPr>
        </p:nvSpPr>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619000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8</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561555"/>
            <a:ext cx="5257800" cy="1975237"/>
          </a:xfrm>
        </p:spPr>
        <p:txBody>
          <a:bodyPr/>
          <a:lstStyle/>
          <a:p>
            <a:pPr algn="just"/>
            <a:r>
              <a:rPr lang="vi-VN" dirty="0"/>
              <a:t>Cây cú pháp trừu tượng </a:t>
            </a:r>
            <a:r>
              <a:rPr lang="vi-VN" b="1" dirty="0">
                <a:solidFill>
                  <a:schemeClr val="accent5"/>
                </a:solidFill>
              </a:rPr>
              <a:t>(</a:t>
            </a:r>
            <a:r>
              <a:rPr lang="vi-VN" b="1" dirty="0" err="1">
                <a:solidFill>
                  <a:schemeClr val="accent5"/>
                </a:solidFill>
              </a:rPr>
              <a:t>Abstract</a:t>
            </a:r>
            <a:r>
              <a:rPr lang="vi-VN" b="1" dirty="0">
                <a:solidFill>
                  <a:schemeClr val="accent5"/>
                </a:solidFill>
              </a:rPr>
              <a:t> </a:t>
            </a:r>
            <a:r>
              <a:rPr lang="vi-VN" b="1" dirty="0" err="1">
                <a:solidFill>
                  <a:schemeClr val="accent5"/>
                </a:solidFill>
              </a:rPr>
              <a:t>Syntax</a:t>
            </a:r>
            <a:r>
              <a:rPr lang="vi-VN" b="1" dirty="0">
                <a:solidFill>
                  <a:schemeClr val="accent5"/>
                </a:solidFill>
              </a:rPr>
              <a:t> </a:t>
            </a:r>
            <a:r>
              <a:rPr lang="vi-VN" b="1" dirty="0" err="1">
                <a:solidFill>
                  <a:schemeClr val="accent5"/>
                </a:solidFill>
              </a:rPr>
              <a:t>Tree</a:t>
            </a:r>
            <a:r>
              <a:rPr lang="vi-VN" b="1" dirty="0">
                <a:solidFill>
                  <a:schemeClr val="accent5"/>
                </a:solidFill>
              </a:rPr>
              <a:t>)</a:t>
            </a:r>
            <a:r>
              <a:rPr lang="vi-VN" dirty="0"/>
              <a:t> là một cấu trúc dữ liệu được sử dụng phổ biến trong ngành khoa học máy tính để biểu diễn cấu trúc của một chương trình hoặc đoạn mã nguồn dưới dạng </a:t>
            </a:r>
            <a:r>
              <a:rPr lang="vi-VN" dirty="0" err="1"/>
              <a:t>dạng</a:t>
            </a:r>
            <a:r>
              <a:rPr lang="vi-VN" dirty="0"/>
              <a:t> cây phân cấp. </a:t>
            </a:r>
            <a:endParaRPr lang="en-US" dirty="0"/>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2.1 Abstract Syntax Tree (AST)</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8" name="Graphic 7">
            <a:extLst>
              <a:ext uri="{FF2B5EF4-FFF2-40B4-BE49-F238E27FC236}">
                <a16:creationId xmlns:a16="http://schemas.microsoft.com/office/drawing/2014/main" id="{2F41211E-A92A-319F-64BC-80461AF28A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75476" y="1373663"/>
            <a:ext cx="3870248" cy="4366260"/>
          </a:xfrm>
          <a:prstGeom prst="rect">
            <a:avLst/>
          </a:prstGeom>
        </p:spPr>
      </p:pic>
    </p:spTree>
    <p:extLst>
      <p:ext uri="{BB962C8B-B14F-4D97-AF65-F5344CB8AC3E}">
        <p14:creationId xmlns:p14="http://schemas.microsoft.com/office/powerpoint/2010/main" val="208465705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childTnLst>
                              </p:cTn>
                            </p:par>
                            <p:par>
                              <p:cTn id="19" fill="hold">
                                <p:stCondLst>
                                  <p:cond delay="750"/>
                                </p:stCondLst>
                                <p:childTnLst>
                                  <p:par>
                                    <p:cTn id="20" presetID="42" presetClass="path" presetSubtype="0" decel="100000" fill="hold" grpId="1" nodeType="afterEffect">
                                      <p:stCondLst>
                                        <p:cond delay="0"/>
                                      </p:stCondLst>
                                      <p:childTnLst>
                                        <p:animMotion origin="layout" path="M -0.01719 -0.00023 L -1.25E-6 1.85185E-6 " pathEditMode="relative" rAng="0" ptsTypes="AA">
                                          <p:cBhvr>
                                            <p:cTn id="21" dur="500" fill="hold"/>
                                            <p:tgtEl>
                                              <p:spTgt spid="5"/>
                                            </p:tgtEl>
                                            <p:attrNameLst>
                                              <p:attrName>ppt_x</p:attrName>
                                              <p:attrName>ppt_y</p:attrName>
                                            </p:attrNameLst>
                                          </p:cBhvr>
                                          <p:rCtr x="859" y="0"/>
                                        </p:animMotion>
                                      </p:childTnLst>
                                    </p:cTn>
                                  </p:par>
                                </p:childTnLst>
                              </p:cTn>
                            </p:par>
                            <p:par>
                              <p:cTn id="22" fill="hold">
                                <p:stCondLst>
                                  <p:cond delay="1250"/>
                                </p:stCondLst>
                                <p:childTnLst>
                                  <p:par>
                                    <p:cTn id="23" presetID="2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200" fill="hold"/>
                                            <p:tgtEl>
                                              <p:spTgt spid="8"/>
                                            </p:tgtEl>
                                            <p:attrNameLst>
                                              <p:attrName>ppt_w</p:attrName>
                                            </p:attrNameLst>
                                          </p:cBhvr>
                                          <p:tavLst>
                                            <p:tav tm="0">
                                              <p:val>
                                                <p:fltVal val="0"/>
                                              </p:val>
                                            </p:tav>
                                            <p:tav tm="100000">
                                              <p:val>
                                                <p:strVal val="#ppt_w"/>
                                              </p:val>
                                            </p:tav>
                                          </p:tavLst>
                                        </p:anim>
                                        <p:anim calcmode="lin" valueType="num">
                                          <p:cBhvr>
                                            <p:cTn id="26" dur="200" fill="hold"/>
                                            <p:tgtEl>
                                              <p:spTgt spid="8"/>
                                            </p:tgtEl>
                                            <p:attrNameLst>
                                              <p:attrName>ppt_h</p:attrName>
                                            </p:attrNameLst>
                                          </p:cBhvr>
                                          <p:tavLst>
                                            <p:tav tm="0">
                                              <p:val>
                                                <p:fltVal val="0"/>
                                              </p:val>
                                            </p:tav>
                                            <p:tav tm="100000">
                                              <p:val>
                                                <p:strVal val="#ppt_h"/>
                                              </p:val>
                                            </p:tav>
                                          </p:tavLst>
                                        </p:anim>
                                      </p:childTnLst>
                                    </p:cTn>
                                  </p:par>
                                  <p:par>
                                    <p:cTn id="27" presetID="6" presetClass="emph" presetSubtype="0" fill="hold" nodeType="withEffect" p14:presetBounceEnd="99000">
                                      <p:stCondLst>
                                        <p:cond delay="0"/>
                                      </p:stCondLst>
                                      <p:childTnLst>
                                        <p:animScale p14:bounceEnd="99000">
                                          <p:cBhvr>
                                            <p:cTn id="28" dur="1000" fill="hold"/>
                                            <p:tgtEl>
                                              <p:spTgt spid="8"/>
                                            </p:tgtEl>
                                          </p:cBhvr>
                                          <p:by x="110000" y="110000"/>
                                        </p:animScale>
                                      </p:childTnLst>
                                    </p:cTn>
                                  </p:par>
                                  <p:par>
                                    <p:cTn id="29" presetID="6" presetClass="emph" presetSubtype="0" accel="50000" decel="50000" fill="hold" nodeType="withEffect">
                                      <p:stCondLst>
                                        <p:cond delay="0"/>
                                      </p:stCondLst>
                                      <p:childTnLst>
                                        <p:animScale>
                                          <p:cBhvr>
                                            <p:cTn id="30" dur="250" fill="hold"/>
                                            <p:tgtEl>
                                              <p:spTgt spid="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childTnLst>
                              </p:cTn>
                            </p:par>
                            <p:par>
                              <p:cTn id="19" fill="hold">
                                <p:stCondLst>
                                  <p:cond delay="750"/>
                                </p:stCondLst>
                                <p:childTnLst>
                                  <p:par>
                                    <p:cTn id="20" presetID="42" presetClass="path" presetSubtype="0" decel="100000" fill="hold" grpId="1" nodeType="afterEffect">
                                      <p:stCondLst>
                                        <p:cond delay="0"/>
                                      </p:stCondLst>
                                      <p:childTnLst>
                                        <p:animMotion origin="layout" path="M -0.01719 -0.00023 L -1.25E-6 1.85185E-6 " pathEditMode="relative" rAng="0" ptsTypes="AA">
                                          <p:cBhvr>
                                            <p:cTn id="21" dur="500" fill="hold"/>
                                            <p:tgtEl>
                                              <p:spTgt spid="5"/>
                                            </p:tgtEl>
                                            <p:attrNameLst>
                                              <p:attrName>ppt_x</p:attrName>
                                              <p:attrName>ppt_y</p:attrName>
                                            </p:attrNameLst>
                                          </p:cBhvr>
                                          <p:rCtr x="859" y="0"/>
                                        </p:animMotion>
                                      </p:childTnLst>
                                    </p:cTn>
                                  </p:par>
                                </p:childTnLst>
                              </p:cTn>
                            </p:par>
                            <p:par>
                              <p:cTn id="22" fill="hold">
                                <p:stCondLst>
                                  <p:cond delay="1250"/>
                                </p:stCondLst>
                                <p:childTnLst>
                                  <p:par>
                                    <p:cTn id="23" presetID="2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200" fill="hold"/>
                                            <p:tgtEl>
                                              <p:spTgt spid="8"/>
                                            </p:tgtEl>
                                            <p:attrNameLst>
                                              <p:attrName>ppt_w</p:attrName>
                                            </p:attrNameLst>
                                          </p:cBhvr>
                                          <p:tavLst>
                                            <p:tav tm="0">
                                              <p:val>
                                                <p:fltVal val="0"/>
                                              </p:val>
                                            </p:tav>
                                            <p:tav tm="100000">
                                              <p:val>
                                                <p:strVal val="#ppt_w"/>
                                              </p:val>
                                            </p:tav>
                                          </p:tavLst>
                                        </p:anim>
                                        <p:anim calcmode="lin" valueType="num">
                                          <p:cBhvr>
                                            <p:cTn id="26" dur="200" fill="hold"/>
                                            <p:tgtEl>
                                              <p:spTgt spid="8"/>
                                            </p:tgtEl>
                                            <p:attrNameLst>
                                              <p:attrName>ppt_h</p:attrName>
                                            </p:attrNameLst>
                                          </p:cBhvr>
                                          <p:tavLst>
                                            <p:tav tm="0">
                                              <p:val>
                                                <p:fltVal val="0"/>
                                              </p:val>
                                            </p:tav>
                                            <p:tav tm="100000">
                                              <p:val>
                                                <p:strVal val="#ppt_h"/>
                                              </p:val>
                                            </p:tav>
                                          </p:tavLst>
                                        </p:anim>
                                      </p:childTnLst>
                                    </p:cTn>
                                  </p:par>
                                  <p:par>
                                    <p:cTn id="27" presetID="6" presetClass="emph" presetSubtype="0" fill="hold" nodeType="withEffect">
                                      <p:stCondLst>
                                        <p:cond delay="0"/>
                                      </p:stCondLst>
                                      <p:childTnLst>
                                        <p:animScale>
                                          <p:cBhvr>
                                            <p:cTn id="28" dur="1000" fill="hold"/>
                                            <p:tgtEl>
                                              <p:spTgt spid="8"/>
                                            </p:tgtEl>
                                          </p:cBhvr>
                                          <p:by x="110000" y="110000"/>
                                        </p:animScale>
                                      </p:childTnLst>
                                    </p:cTn>
                                  </p:par>
                                  <p:par>
                                    <p:cTn id="29" presetID="6" presetClass="emph" presetSubtype="0" accel="50000" decel="50000" fill="hold" nodeType="withEffect">
                                      <p:stCondLst>
                                        <p:cond delay="0"/>
                                      </p:stCondLst>
                                      <p:childTnLst>
                                        <p:animScale>
                                          <p:cBhvr>
                                            <p:cTn id="30" dur="250" fill="hold"/>
                                            <p:tgtEl>
                                              <p:spTgt spid="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9</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p:txBody>
          <a:bodyPr/>
          <a:lstStyle/>
          <a:p>
            <a:pPr marL="285750" indent="-285750" algn="just">
              <a:buFont typeface="Wingdings" panose="05000000000000000000" pitchFamily="2" charset="2"/>
              <a:buChar char="§"/>
            </a:pPr>
            <a:r>
              <a:rPr lang="vi-VN" dirty="0"/>
              <a:t>Bước trung gian quan trọng trong quá trình phân tích cú pháp mã nguồn</a:t>
            </a:r>
          </a:p>
          <a:p>
            <a:pPr marL="285750" indent="-285750" algn="just">
              <a:buFont typeface="Wingdings" panose="05000000000000000000" pitchFamily="2" charset="2"/>
              <a:buChar char="§"/>
            </a:pPr>
            <a:r>
              <a:rPr lang="vi-VN" dirty="0"/>
              <a:t>Được sử dụng rộng rãi trong các trình biên dịch</a:t>
            </a:r>
            <a:r>
              <a:rPr lang="en-US" dirty="0"/>
              <a:t> </a:t>
            </a:r>
            <a:r>
              <a:rPr lang="vi-VN" dirty="0"/>
              <a:t>để kiểm tra ngữ nghĩa, phân tích phụ thuộc, tối ưu hóa chương trình</a:t>
            </a:r>
            <a:endParaRPr lang="en-US" dirty="0"/>
          </a:p>
          <a:p>
            <a:pPr marL="285750" indent="-285750" algn="just">
              <a:buFont typeface="Wingdings" panose="05000000000000000000" pitchFamily="2" charset="2"/>
              <a:buChar char="§"/>
            </a:pPr>
            <a:r>
              <a:rPr lang="vi-VN" dirty="0"/>
              <a:t>Trung tâm của các hệ thống phân tích mã nguồn tĩnh hiện đại</a:t>
            </a:r>
          </a:p>
          <a:p>
            <a:pPr marL="285750" indent="-285750" algn="just">
              <a:buFont typeface="Wingdings" panose="05000000000000000000" pitchFamily="2" charset="2"/>
              <a:buChar char="§"/>
            </a:pPr>
            <a:r>
              <a:rPr lang="vi-VN" dirty="0"/>
              <a:t>Hỗ trợ phát hiện mã độc, lỗ hổng bảo mật</a:t>
            </a:r>
            <a:endParaRPr lang="en-US" dirty="0"/>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2.1 Abstract Syntax Tree (AST)</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10" name="Graphic 9">
            <a:extLst>
              <a:ext uri="{FF2B5EF4-FFF2-40B4-BE49-F238E27FC236}">
                <a16:creationId xmlns:a16="http://schemas.microsoft.com/office/drawing/2014/main" id="{2522A4FE-B875-0423-F4BA-CFD806BAC10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75476" y="1373663"/>
            <a:ext cx="3870248" cy="4366260"/>
          </a:xfrm>
          <a:prstGeom prst="rect">
            <a:avLst/>
          </a:prstGeom>
        </p:spPr>
      </p:pic>
    </p:spTree>
    <p:extLst>
      <p:ext uri="{BB962C8B-B14F-4D97-AF65-F5344CB8AC3E}">
        <p14:creationId xmlns:p14="http://schemas.microsoft.com/office/powerpoint/2010/main" val="77411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par>
                          <p:cTn id="8" fill="hold">
                            <p:stCondLst>
                              <p:cond delay="250"/>
                            </p:stCondLst>
                            <p:childTnLst>
                              <p:par>
                                <p:cTn id="9" presetID="42" presetClass="path" presetSubtype="0" decel="100000" fill="hold" grpId="1" nodeType="afterEffect">
                                  <p:stCondLst>
                                    <p:cond delay="0"/>
                                  </p:stCondLst>
                                  <p:childTnLst>
                                    <p:animMotion origin="layout" path="M -0.01719 -0.00023 L -1.25E-6 1.85185E-6 " pathEditMode="relative" rAng="0" ptsTypes="AA">
                                      <p:cBhvr>
                                        <p:cTn id="10"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1B4BC6-ED2C-0F7C-409E-A92DE2B1C1E9}"/>
              </a:ext>
            </a:extLst>
          </p:cNvPr>
          <p:cNvSpPr>
            <a:spLocks noGrp="1"/>
          </p:cNvSpPr>
          <p:nvPr>
            <p:ph type="sldNum" sz="quarter" idx="10"/>
          </p:nvPr>
        </p:nvSpPr>
        <p:spPr/>
        <p:txBody>
          <a:bodyPr/>
          <a:lstStyle/>
          <a:p>
            <a:fld id="{A8929BE4-9460-4FFC-82AB-40FA3E28D9A3}" type="slidenum">
              <a:rPr lang="en-US" smtClean="0"/>
              <a:pPr/>
              <a:t>10</a:t>
            </a:fld>
            <a:endParaRPr lang="en-US"/>
          </a:p>
        </p:txBody>
      </p:sp>
      <p:sp>
        <p:nvSpPr>
          <p:cNvPr id="4" name="Text Placeholder 3">
            <a:extLst>
              <a:ext uri="{FF2B5EF4-FFF2-40B4-BE49-F238E27FC236}">
                <a16:creationId xmlns:a16="http://schemas.microsoft.com/office/drawing/2014/main" id="{F4A5349C-D8E0-264A-E052-4CA9C53404C4}"/>
              </a:ext>
            </a:extLst>
          </p:cNvPr>
          <p:cNvSpPr>
            <a:spLocks noGrp="1"/>
          </p:cNvSpPr>
          <p:nvPr>
            <p:ph type="body" sz="quarter" idx="12"/>
          </p:nvPr>
        </p:nvSpPr>
        <p:spPr>
          <a:xfrm>
            <a:off x="6336482" y="2887980"/>
            <a:ext cx="5017317" cy="3417570"/>
          </a:xfrm>
        </p:spPr>
        <p:txBody>
          <a:bodyPr/>
          <a:lstStyle/>
          <a:p>
            <a:pPr algn="ctr"/>
            <a:endParaRPr lang="en-US" sz="1800" b="1" dirty="0">
              <a:solidFill>
                <a:schemeClr val="accent5"/>
              </a:solidFill>
              <a:latin typeface="Fz Poppins ExtBd" pitchFamily="2" charset="0"/>
              <a:cs typeface="Fz Poppins ExtBd" pitchFamily="2" charset="0"/>
            </a:endParaRPr>
          </a:p>
          <a:p>
            <a:pPr algn="ctr"/>
            <a:r>
              <a:rPr lang="en-US" sz="1800" b="1" dirty="0">
                <a:solidFill>
                  <a:schemeClr val="accent5"/>
                </a:solidFill>
                <a:latin typeface="Fz Poppins ExtBd" pitchFamily="2" charset="0"/>
                <a:cs typeface="Fz Poppins ExtBd" pitchFamily="2" charset="0"/>
              </a:rPr>
              <a:t>AI</a:t>
            </a:r>
          </a:p>
          <a:p>
            <a:r>
              <a:rPr lang="vi-VN" dirty="0"/>
              <a:t>Thường có phong cách viết rất nhất quán nhờ tuân thủ nghiêm ngặt quy ước. </a:t>
            </a:r>
            <a:r>
              <a:rPr lang="vi-VN" dirty="0" err="1"/>
              <a:t>Code</a:t>
            </a:r>
            <a:r>
              <a:rPr lang="vi-VN" dirty="0"/>
              <a:t> AI-</a:t>
            </a:r>
            <a:r>
              <a:rPr lang="vi-VN" dirty="0" err="1"/>
              <a:t>generated</a:t>
            </a:r>
            <a:r>
              <a:rPr lang="vi-VN" dirty="0"/>
              <a:t> sử dụng tên biến mang tính mô tả cao, rõ ràng, ít dùng tên biến ngắn hoặc vắng ý nghĩa.</a:t>
            </a:r>
            <a:endParaRPr lang="en-US" dirty="0"/>
          </a:p>
        </p:txBody>
      </p:sp>
      <p:sp>
        <p:nvSpPr>
          <p:cNvPr id="7" name="Text Placeholder 6">
            <a:extLst>
              <a:ext uri="{FF2B5EF4-FFF2-40B4-BE49-F238E27FC236}">
                <a16:creationId xmlns:a16="http://schemas.microsoft.com/office/drawing/2014/main" id="{BF05670C-CDB1-08E0-360B-87AA5568F33F}"/>
              </a:ext>
            </a:extLst>
          </p:cNvPr>
          <p:cNvSpPr>
            <a:spLocks noGrp="1"/>
          </p:cNvSpPr>
          <p:nvPr>
            <p:ph type="body" sz="quarter" idx="14"/>
          </p:nvPr>
        </p:nvSpPr>
        <p:spPr>
          <a:xfrm>
            <a:off x="838200" y="2887980"/>
            <a:ext cx="5017316" cy="3417570"/>
          </a:xfrm>
        </p:spPr>
        <p:txBody>
          <a:bodyPr/>
          <a:lstStyle/>
          <a:p>
            <a:pPr algn="ctr"/>
            <a:endParaRPr lang="en-US" sz="1800" b="1" dirty="0">
              <a:solidFill>
                <a:schemeClr val="accent5"/>
              </a:solidFill>
              <a:latin typeface="Fz Poppins ExtBd" pitchFamily="2" charset="0"/>
              <a:cs typeface="Fz Poppins ExtBd" pitchFamily="2" charset="0"/>
            </a:endParaRPr>
          </a:p>
          <a:p>
            <a:pPr algn="ctr"/>
            <a:r>
              <a:rPr lang="en-US" sz="1800" b="1" dirty="0">
                <a:solidFill>
                  <a:schemeClr val="accent5"/>
                </a:solidFill>
                <a:latin typeface="Fz Poppins ExtBd" pitchFamily="2" charset="0"/>
                <a:cs typeface="Fz Poppins ExtBd" pitchFamily="2" charset="0"/>
              </a:rPr>
              <a:t>CON NGƯỜI</a:t>
            </a:r>
          </a:p>
          <a:p>
            <a:r>
              <a:rPr lang="vi-VN" dirty="0"/>
              <a:t>Thường viết </a:t>
            </a:r>
            <a:r>
              <a:rPr lang="vi-VN" dirty="0" err="1"/>
              <a:t>code</a:t>
            </a:r>
            <a:r>
              <a:rPr lang="vi-VN" dirty="0"/>
              <a:t> với xu hướng cá nhân, dẫn đến không nhất quán trong cách sử dụng khoảng trắng, thụt lề. Có thể dùng tên biến ngắn gọn hoặc chung </a:t>
            </a:r>
            <a:r>
              <a:rPr lang="vi-VN" dirty="0" err="1"/>
              <a:t>chung</a:t>
            </a:r>
            <a:r>
              <a:rPr lang="vi-VN" dirty="0"/>
              <a:t>, thậm chí có dấu ấn cá nhân trong cú pháp.</a:t>
            </a:r>
            <a:endParaRPr lang="en-US" dirty="0"/>
          </a:p>
        </p:txBody>
      </p:sp>
      <p:sp>
        <p:nvSpPr>
          <p:cNvPr id="8" name="Title 4">
            <a:extLst>
              <a:ext uri="{FF2B5EF4-FFF2-40B4-BE49-F238E27FC236}">
                <a16:creationId xmlns:a16="http://schemas.microsoft.com/office/drawing/2014/main" id="{D3ED5121-5464-B2DF-5395-573C7A5F525B}"/>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3">
            <a:extLst>
              <a:ext uri="{FF2B5EF4-FFF2-40B4-BE49-F238E27FC236}">
                <a16:creationId xmlns:a16="http://schemas.microsoft.com/office/drawing/2014/main" id="{DA4721E4-9158-275F-444A-636CE381D536}"/>
              </a:ext>
            </a:extLst>
          </p:cNvPr>
          <p:cNvSpPr>
            <a:spLocks noGrp="1"/>
          </p:cNvSpPr>
          <p:nvPr>
            <p:ph type="body" sz="quarter" idx="11"/>
          </p:nvPr>
        </p:nvSpPr>
        <p:spPr>
          <a:xfrm>
            <a:off x="838200" y="1304925"/>
            <a:ext cx="10515600" cy="295275"/>
          </a:xfrm>
        </p:spPr>
        <p:txBody>
          <a:bodyPr/>
          <a:lstStyle/>
          <a:p>
            <a:r>
              <a:rPr lang="en-US" dirty="0"/>
              <a:t>II. CƠ SỞ LÝ THUYẾT</a:t>
            </a:r>
          </a:p>
        </p:txBody>
      </p:sp>
      <p:sp>
        <p:nvSpPr>
          <p:cNvPr id="10" name="Text Placeholder 5">
            <a:extLst>
              <a:ext uri="{FF2B5EF4-FFF2-40B4-BE49-F238E27FC236}">
                <a16:creationId xmlns:a16="http://schemas.microsoft.com/office/drawing/2014/main" id="{59493BD7-23D0-FDCD-9241-894CCC7AF80A}"/>
              </a:ext>
            </a:extLst>
          </p:cNvPr>
          <p:cNvSpPr>
            <a:spLocks noGrp="1"/>
          </p:cNvSpPr>
          <p:nvPr>
            <p:ph type="body" sz="quarter" idx="13"/>
          </p:nvPr>
        </p:nvSpPr>
        <p:spPr>
          <a:xfrm>
            <a:off x="838200" y="1649413"/>
            <a:ext cx="10515600" cy="295275"/>
          </a:xfrm>
        </p:spPr>
        <p:txBody>
          <a:bodyPr/>
          <a:lstStyle/>
          <a:p>
            <a:r>
              <a:rPr lang="en-US" dirty="0"/>
              <a:t>2.2 Code Style Analysis</a:t>
            </a:r>
          </a:p>
        </p:txBody>
      </p:sp>
      <p:sp>
        <p:nvSpPr>
          <p:cNvPr id="11" name="Text Placeholder 5">
            <a:extLst>
              <a:ext uri="{FF2B5EF4-FFF2-40B4-BE49-F238E27FC236}">
                <a16:creationId xmlns:a16="http://schemas.microsoft.com/office/drawing/2014/main" id="{48C3EE0B-354C-A660-114F-48F5B5858C92}"/>
              </a:ext>
            </a:extLst>
          </p:cNvPr>
          <p:cNvSpPr txBox="1">
            <a:spLocks/>
          </p:cNvSpPr>
          <p:nvPr/>
        </p:nvSpPr>
        <p:spPr>
          <a:xfrm>
            <a:off x="838199" y="2046606"/>
            <a:ext cx="10515599" cy="295275"/>
          </a:xfrm>
          <a:prstGeom prst="rect">
            <a:avLst/>
          </a:prstGeom>
        </p:spPr>
        <p:txBody>
          <a:bodyPr/>
          <a:lstStyle>
            <a:lvl1pPr marL="0" indent="0" algn="l" defTabSz="914400" rtl="0" eaLnBrk="1" latinLnBrk="0" hangingPunct="1">
              <a:lnSpc>
                <a:spcPct val="90000"/>
              </a:lnSpc>
              <a:spcBef>
                <a:spcPts val="1000"/>
              </a:spcBef>
              <a:buFont typeface="+mj-lt"/>
              <a:buNone/>
              <a:defRPr sz="1600" b="1" kern="1200">
                <a:solidFill>
                  <a:schemeClr val="tx2"/>
                </a:solidFill>
                <a:latin typeface="Fz Poppins ExtBd" pitchFamily="2" charset="0"/>
                <a:ea typeface="+mn-ea"/>
                <a:cs typeface="Fz Poppins ExtBd"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50" b="0" dirty="0">
                <a:latin typeface="Fz Poppins Med" pitchFamily="2" charset="0"/>
                <a:cs typeface="Fz Poppins Med" pitchFamily="2" charset="0"/>
              </a:rPr>
              <a:t>Phong </a:t>
            </a:r>
            <a:r>
              <a:rPr lang="en-US" sz="1550" b="0" dirty="0" err="1">
                <a:latin typeface="Fz Poppins Med" pitchFamily="2" charset="0"/>
                <a:cs typeface="Fz Poppins Med" pitchFamily="2" charset="0"/>
              </a:rPr>
              <a:t>cách</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viết</a:t>
            </a:r>
            <a:r>
              <a:rPr lang="en-US" sz="1550" b="0" dirty="0">
                <a:latin typeface="Fz Poppins Med" pitchFamily="2" charset="0"/>
                <a:cs typeface="Fz Poppins Med" pitchFamily="2" charset="0"/>
              </a:rPr>
              <a:t> code </a:t>
            </a:r>
            <a:r>
              <a:rPr lang="en-US" sz="1550" b="0" dirty="0" err="1">
                <a:latin typeface="Fz Poppins Med" pitchFamily="2" charset="0"/>
                <a:cs typeface="Fz Poppins Med" pitchFamily="2" charset="0"/>
              </a:rPr>
              <a:t>là</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các</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nguyên</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tắc</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định</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dạng</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nhằm</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tạo</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ra</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mã</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nguồn</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dễ</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đọc</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dễ</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hiểu</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và</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dễ</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bảo</a:t>
            </a:r>
            <a:r>
              <a:rPr lang="en-US" sz="1550" b="0" dirty="0">
                <a:latin typeface="Fz Poppins Med" pitchFamily="2" charset="0"/>
                <a:cs typeface="Fz Poppins Med" pitchFamily="2" charset="0"/>
              </a:rPr>
              <a:t> </a:t>
            </a:r>
            <a:r>
              <a:rPr lang="en-US" sz="1550" b="0" dirty="0" err="1">
                <a:latin typeface="Fz Poppins Med" pitchFamily="2" charset="0"/>
                <a:cs typeface="Fz Poppins Med" pitchFamily="2" charset="0"/>
              </a:rPr>
              <a:t>trì</a:t>
            </a:r>
            <a:r>
              <a:rPr lang="en-US" sz="1550" b="0" dirty="0">
                <a:latin typeface="Fz Poppins Med" pitchFamily="2" charset="0"/>
                <a:cs typeface="Fz Poppins Med" pitchFamily="2" charset="0"/>
              </a:rPr>
              <a:t>.</a:t>
            </a:r>
          </a:p>
        </p:txBody>
      </p:sp>
      <p:grpSp>
        <p:nvGrpSpPr>
          <p:cNvPr id="18" name="Graphic 14">
            <a:extLst>
              <a:ext uri="{FF2B5EF4-FFF2-40B4-BE49-F238E27FC236}">
                <a16:creationId xmlns:a16="http://schemas.microsoft.com/office/drawing/2014/main" id="{FCD4E9AD-DEC4-9F03-0FEF-DC6F18DE4251}"/>
              </a:ext>
            </a:extLst>
          </p:cNvPr>
          <p:cNvGrpSpPr/>
          <p:nvPr/>
        </p:nvGrpSpPr>
        <p:grpSpPr>
          <a:xfrm>
            <a:off x="2969668" y="2749121"/>
            <a:ext cx="764132" cy="764132"/>
            <a:chOff x="2969668" y="2406221"/>
            <a:chExt cx="764132" cy="764132"/>
          </a:xfrm>
        </p:grpSpPr>
        <p:sp>
          <p:nvSpPr>
            <p:cNvPr id="19" name="Freeform: Shape 18">
              <a:extLst>
                <a:ext uri="{FF2B5EF4-FFF2-40B4-BE49-F238E27FC236}">
                  <a16:creationId xmlns:a16="http://schemas.microsoft.com/office/drawing/2014/main" id="{E9A0FB37-2DD3-2304-772E-BDC78FEF3D61}"/>
                </a:ext>
              </a:extLst>
            </p:cNvPr>
            <p:cNvSpPr/>
            <p:nvPr/>
          </p:nvSpPr>
          <p:spPr>
            <a:xfrm>
              <a:off x="3093540" y="2598164"/>
              <a:ext cx="114145" cy="114145"/>
            </a:xfrm>
            <a:custGeom>
              <a:avLst/>
              <a:gdLst>
                <a:gd name="connsiteX0" fmla="*/ 114145 w 114145"/>
                <a:gd name="connsiteY0" fmla="*/ 19024 h 114145"/>
                <a:gd name="connsiteX1" fmla="*/ 114145 w 114145"/>
                <a:gd name="connsiteY1" fmla="*/ 95121 h 114145"/>
                <a:gd name="connsiteX2" fmla="*/ 95121 w 114145"/>
                <a:gd name="connsiteY2" fmla="*/ 114145 h 114145"/>
                <a:gd name="connsiteX3" fmla="*/ 57073 w 114145"/>
                <a:gd name="connsiteY3" fmla="*/ 114145 h 114145"/>
                <a:gd name="connsiteX4" fmla="*/ 0 w 114145"/>
                <a:gd name="connsiteY4" fmla="*/ 57073 h 114145"/>
                <a:gd name="connsiteX5" fmla="*/ 57073 w 114145"/>
                <a:gd name="connsiteY5" fmla="*/ 0 h 114145"/>
                <a:gd name="connsiteX6" fmla="*/ 89547 w 114145"/>
                <a:gd name="connsiteY6" fmla="*/ 0 h 114145"/>
                <a:gd name="connsiteX7" fmla="*/ 114145 w 114145"/>
                <a:gd name="connsiteY7" fmla="*/ 19024 h 114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145" h="114145">
                  <a:moveTo>
                    <a:pt x="114145" y="19024"/>
                  </a:moveTo>
                  <a:lnTo>
                    <a:pt x="114145" y="95121"/>
                  </a:lnTo>
                  <a:cubicBezTo>
                    <a:pt x="114145" y="105622"/>
                    <a:pt x="105622" y="114145"/>
                    <a:pt x="95121" y="114145"/>
                  </a:cubicBezTo>
                  <a:lnTo>
                    <a:pt x="57073" y="114145"/>
                  </a:lnTo>
                  <a:cubicBezTo>
                    <a:pt x="25607" y="114145"/>
                    <a:pt x="0" y="88539"/>
                    <a:pt x="0" y="57073"/>
                  </a:cubicBezTo>
                  <a:cubicBezTo>
                    <a:pt x="0" y="25606"/>
                    <a:pt x="25606" y="0"/>
                    <a:pt x="57073" y="0"/>
                  </a:cubicBezTo>
                  <a:lnTo>
                    <a:pt x="89547" y="0"/>
                  </a:lnTo>
                  <a:cubicBezTo>
                    <a:pt x="100048" y="0"/>
                    <a:pt x="114145" y="8522"/>
                    <a:pt x="114145" y="19024"/>
                  </a:cubicBezTo>
                  <a:close/>
                </a:path>
              </a:pathLst>
            </a:custGeom>
            <a:solidFill>
              <a:srgbClr val="D58678"/>
            </a:solidFill>
            <a:ln w="14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B626E70-71BC-7949-582E-AE634EF0A00C}"/>
                </a:ext>
              </a:extLst>
            </p:cNvPr>
            <p:cNvSpPr/>
            <p:nvPr/>
          </p:nvSpPr>
          <p:spPr>
            <a:xfrm>
              <a:off x="3495781" y="2598812"/>
              <a:ext cx="114145" cy="114145"/>
            </a:xfrm>
            <a:custGeom>
              <a:avLst/>
              <a:gdLst>
                <a:gd name="connsiteX0" fmla="*/ 0 w 114145"/>
                <a:gd name="connsiteY0" fmla="*/ 19024 h 114145"/>
                <a:gd name="connsiteX1" fmla="*/ 0 w 114145"/>
                <a:gd name="connsiteY1" fmla="*/ 95121 h 114145"/>
                <a:gd name="connsiteX2" fmla="*/ 19024 w 114145"/>
                <a:gd name="connsiteY2" fmla="*/ 114145 h 114145"/>
                <a:gd name="connsiteX3" fmla="*/ 57073 w 114145"/>
                <a:gd name="connsiteY3" fmla="*/ 114145 h 114145"/>
                <a:gd name="connsiteX4" fmla="*/ 114145 w 114145"/>
                <a:gd name="connsiteY4" fmla="*/ 57073 h 114145"/>
                <a:gd name="connsiteX5" fmla="*/ 57073 w 114145"/>
                <a:gd name="connsiteY5" fmla="*/ 0 h 114145"/>
                <a:gd name="connsiteX6" fmla="*/ 19024 w 114145"/>
                <a:gd name="connsiteY6" fmla="*/ 0 h 114145"/>
                <a:gd name="connsiteX7" fmla="*/ 0 w 114145"/>
                <a:gd name="connsiteY7" fmla="*/ 19024 h 114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145" h="114145">
                  <a:moveTo>
                    <a:pt x="0" y="19024"/>
                  </a:moveTo>
                  <a:lnTo>
                    <a:pt x="0" y="95121"/>
                  </a:lnTo>
                  <a:cubicBezTo>
                    <a:pt x="0" y="105622"/>
                    <a:pt x="8523" y="114145"/>
                    <a:pt x="19024" y="114145"/>
                  </a:cubicBezTo>
                  <a:lnTo>
                    <a:pt x="57073" y="114145"/>
                  </a:lnTo>
                  <a:cubicBezTo>
                    <a:pt x="88538" y="114145"/>
                    <a:pt x="114145" y="88539"/>
                    <a:pt x="114145" y="57073"/>
                  </a:cubicBezTo>
                  <a:cubicBezTo>
                    <a:pt x="114145" y="25606"/>
                    <a:pt x="88539" y="0"/>
                    <a:pt x="57073" y="0"/>
                  </a:cubicBezTo>
                  <a:lnTo>
                    <a:pt x="19024" y="0"/>
                  </a:lnTo>
                  <a:cubicBezTo>
                    <a:pt x="8523" y="0"/>
                    <a:pt x="0" y="8523"/>
                    <a:pt x="0" y="19024"/>
                  </a:cubicBezTo>
                  <a:close/>
                </a:path>
              </a:pathLst>
            </a:custGeom>
            <a:solidFill>
              <a:srgbClr val="C76E59"/>
            </a:solidFill>
            <a:ln w="14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84C8CAF-6D2D-2796-5B0A-D9D0AB415FAC}"/>
                </a:ext>
              </a:extLst>
            </p:cNvPr>
            <p:cNvSpPr/>
            <p:nvPr/>
          </p:nvSpPr>
          <p:spPr>
            <a:xfrm>
              <a:off x="3183087" y="2570928"/>
              <a:ext cx="239810" cy="247207"/>
            </a:xfrm>
            <a:custGeom>
              <a:avLst/>
              <a:gdLst>
                <a:gd name="connsiteX0" fmla="*/ 168646 w 239810"/>
                <a:gd name="connsiteY0" fmla="*/ 0 h 247207"/>
                <a:gd name="connsiteX1" fmla="*/ 239811 w 239810"/>
                <a:gd name="connsiteY1" fmla="*/ 130796 h 247207"/>
                <a:gd name="connsiteX2" fmla="*/ 168646 w 239810"/>
                <a:gd name="connsiteY2" fmla="*/ 247207 h 247207"/>
                <a:gd name="connsiteX3" fmla="*/ 37192 w 239810"/>
                <a:gd name="connsiteY3" fmla="*/ 247207 h 247207"/>
                <a:gd name="connsiteX4" fmla="*/ 17088 w 239810"/>
                <a:gd name="connsiteY4" fmla="*/ 234671 h 247207"/>
                <a:gd name="connsiteX5" fmla="*/ 0 w 239810"/>
                <a:gd name="connsiteY5" fmla="*/ 160645 h 247207"/>
                <a:gd name="connsiteX6" fmla="*/ 0 w 239810"/>
                <a:gd name="connsiteY6" fmla="*/ 27236 h 247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10" h="247207">
                  <a:moveTo>
                    <a:pt x="168646" y="0"/>
                  </a:moveTo>
                  <a:lnTo>
                    <a:pt x="239811" y="130796"/>
                  </a:lnTo>
                  <a:lnTo>
                    <a:pt x="168646" y="247207"/>
                  </a:lnTo>
                  <a:lnTo>
                    <a:pt x="37192" y="247207"/>
                  </a:lnTo>
                  <a:cubicBezTo>
                    <a:pt x="28640" y="247207"/>
                    <a:pt x="20849" y="242342"/>
                    <a:pt x="17088" y="234671"/>
                  </a:cubicBezTo>
                  <a:cubicBezTo>
                    <a:pt x="5746" y="211523"/>
                    <a:pt x="0" y="186629"/>
                    <a:pt x="0" y="160645"/>
                  </a:cubicBezTo>
                  <a:lnTo>
                    <a:pt x="0" y="27236"/>
                  </a:lnTo>
                  <a:close/>
                </a:path>
              </a:pathLst>
            </a:custGeom>
            <a:solidFill>
              <a:srgbClr val="E99A8B"/>
            </a:solidFill>
            <a:ln w="14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A358C97-6CFE-9A00-662D-D54901CD6028}"/>
                </a:ext>
              </a:extLst>
            </p:cNvPr>
            <p:cNvSpPr/>
            <p:nvPr/>
          </p:nvSpPr>
          <p:spPr>
            <a:xfrm>
              <a:off x="3351734" y="2570928"/>
              <a:ext cx="168646" cy="247207"/>
            </a:xfrm>
            <a:custGeom>
              <a:avLst/>
              <a:gdLst>
                <a:gd name="connsiteX0" fmla="*/ 168646 w 168646"/>
                <a:gd name="connsiteY0" fmla="*/ 27236 h 247207"/>
                <a:gd name="connsiteX1" fmla="*/ 168646 w 168646"/>
                <a:gd name="connsiteY1" fmla="*/ 160645 h 247207"/>
                <a:gd name="connsiteX2" fmla="*/ 151573 w 168646"/>
                <a:gd name="connsiteY2" fmla="*/ 234656 h 247207"/>
                <a:gd name="connsiteX3" fmla="*/ 131470 w 168646"/>
                <a:gd name="connsiteY3" fmla="*/ 247207 h 247207"/>
                <a:gd name="connsiteX4" fmla="*/ 0 w 168646"/>
                <a:gd name="connsiteY4" fmla="*/ 247207 h 247207"/>
                <a:gd name="connsiteX5" fmla="*/ 0 w 168646"/>
                <a:gd name="connsiteY5" fmla="*/ 0 h 247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646" h="247207">
                  <a:moveTo>
                    <a:pt x="168646" y="27236"/>
                  </a:moveTo>
                  <a:lnTo>
                    <a:pt x="168646" y="160645"/>
                  </a:lnTo>
                  <a:cubicBezTo>
                    <a:pt x="168646" y="186614"/>
                    <a:pt x="162900" y="211508"/>
                    <a:pt x="151573" y="234656"/>
                  </a:cubicBezTo>
                  <a:cubicBezTo>
                    <a:pt x="147827" y="242342"/>
                    <a:pt x="140021" y="247207"/>
                    <a:pt x="131470" y="247207"/>
                  </a:cubicBezTo>
                  <a:lnTo>
                    <a:pt x="0" y="247207"/>
                  </a:lnTo>
                  <a:lnTo>
                    <a:pt x="0" y="0"/>
                  </a:lnTo>
                  <a:close/>
                </a:path>
              </a:pathLst>
            </a:custGeom>
            <a:solidFill>
              <a:srgbClr val="D58678"/>
            </a:solidFill>
            <a:ln w="14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1FFA383-486B-6C07-34F5-A542C8A70AB6}"/>
                </a:ext>
              </a:extLst>
            </p:cNvPr>
            <p:cNvSpPr/>
            <p:nvPr/>
          </p:nvSpPr>
          <p:spPr>
            <a:xfrm>
              <a:off x="2969668" y="2877832"/>
              <a:ext cx="171631" cy="292520"/>
            </a:xfrm>
            <a:custGeom>
              <a:avLst/>
              <a:gdLst>
                <a:gd name="connsiteX0" fmla="*/ 171631 w 171631"/>
                <a:gd name="connsiteY0" fmla="*/ 270074 h 292520"/>
                <a:gd name="connsiteX1" fmla="*/ 126112 w 171631"/>
                <a:gd name="connsiteY1" fmla="*/ 292521 h 292520"/>
                <a:gd name="connsiteX2" fmla="*/ 22387 w 171631"/>
                <a:gd name="connsiteY2" fmla="*/ 292521 h 292520"/>
                <a:gd name="connsiteX3" fmla="*/ 0 w 171631"/>
                <a:gd name="connsiteY3" fmla="*/ 270134 h 292520"/>
                <a:gd name="connsiteX4" fmla="*/ 0 w 171631"/>
                <a:gd name="connsiteY4" fmla="*/ 157171 h 292520"/>
                <a:gd name="connsiteX5" fmla="*/ 99725 w 171631"/>
                <a:gd name="connsiteY5" fmla="*/ 15956 h 292520"/>
                <a:gd name="connsiteX6" fmla="*/ 141006 w 171631"/>
                <a:gd name="connsiteY6" fmla="*/ 1285 h 292520"/>
                <a:gd name="connsiteX7" fmla="*/ 161378 w 171631"/>
                <a:gd name="connsiteY7" fmla="*/ 4076 h 292520"/>
                <a:gd name="connsiteX8" fmla="*/ 170885 w 171631"/>
                <a:gd name="connsiteY8" fmla="*/ 22328 h 29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631" h="292520">
                  <a:moveTo>
                    <a:pt x="171631" y="270074"/>
                  </a:moveTo>
                  <a:lnTo>
                    <a:pt x="126112" y="292521"/>
                  </a:lnTo>
                  <a:lnTo>
                    <a:pt x="22387" y="292521"/>
                  </a:lnTo>
                  <a:cubicBezTo>
                    <a:pt x="10029" y="292521"/>
                    <a:pt x="0" y="282491"/>
                    <a:pt x="0" y="270134"/>
                  </a:cubicBezTo>
                  <a:lnTo>
                    <a:pt x="0" y="157171"/>
                  </a:lnTo>
                  <a:cubicBezTo>
                    <a:pt x="0" y="93876"/>
                    <a:pt x="40072" y="37133"/>
                    <a:pt x="99725" y="15956"/>
                  </a:cubicBezTo>
                  <a:lnTo>
                    <a:pt x="141006" y="1285"/>
                  </a:lnTo>
                  <a:cubicBezTo>
                    <a:pt x="147857" y="-1133"/>
                    <a:pt x="155453" y="-103"/>
                    <a:pt x="161378" y="4076"/>
                  </a:cubicBezTo>
                  <a:cubicBezTo>
                    <a:pt x="167318" y="8255"/>
                    <a:pt x="170870" y="15060"/>
                    <a:pt x="170885" y="22328"/>
                  </a:cubicBezTo>
                  <a:close/>
                </a:path>
              </a:pathLst>
            </a:custGeom>
            <a:solidFill>
              <a:srgbClr val="FF80AA"/>
            </a:solidFill>
            <a:ln w="14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8CB1F24-52B2-A0ED-7F23-EE650D879C4F}"/>
                </a:ext>
              </a:extLst>
            </p:cNvPr>
            <p:cNvSpPr/>
            <p:nvPr/>
          </p:nvSpPr>
          <p:spPr>
            <a:xfrm>
              <a:off x="3562168" y="2877832"/>
              <a:ext cx="171631" cy="292520"/>
            </a:xfrm>
            <a:custGeom>
              <a:avLst/>
              <a:gdLst>
                <a:gd name="connsiteX0" fmla="*/ 0 w 171631"/>
                <a:gd name="connsiteY0" fmla="*/ 270074 h 292520"/>
                <a:gd name="connsiteX1" fmla="*/ 45520 w 171631"/>
                <a:gd name="connsiteY1" fmla="*/ 292521 h 292520"/>
                <a:gd name="connsiteX2" fmla="*/ 149245 w 171631"/>
                <a:gd name="connsiteY2" fmla="*/ 292521 h 292520"/>
                <a:gd name="connsiteX3" fmla="*/ 171631 w 171631"/>
                <a:gd name="connsiteY3" fmla="*/ 270134 h 292520"/>
                <a:gd name="connsiteX4" fmla="*/ 171631 w 171631"/>
                <a:gd name="connsiteY4" fmla="*/ 157171 h 292520"/>
                <a:gd name="connsiteX5" fmla="*/ 71906 w 171631"/>
                <a:gd name="connsiteY5" fmla="*/ 15956 h 292520"/>
                <a:gd name="connsiteX6" fmla="*/ 30625 w 171631"/>
                <a:gd name="connsiteY6" fmla="*/ 1285 h 292520"/>
                <a:gd name="connsiteX7" fmla="*/ 10253 w 171631"/>
                <a:gd name="connsiteY7" fmla="*/ 4076 h 292520"/>
                <a:gd name="connsiteX8" fmla="*/ 746 w 171631"/>
                <a:gd name="connsiteY8" fmla="*/ 22328 h 29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631" h="292520">
                  <a:moveTo>
                    <a:pt x="0" y="270074"/>
                  </a:moveTo>
                  <a:lnTo>
                    <a:pt x="45520" y="292521"/>
                  </a:lnTo>
                  <a:lnTo>
                    <a:pt x="149245" y="292521"/>
                  </a:lnTo>
                  <a:cubicBezTo>
                    <a:pt x="161602" y="292521"/>
                    <a:pt x="171631" y="282491"/>
                    <a:pt x="171631" y="270134"/>
                  </a:cubicBezTo>
                  <a:lnTo>
                    <a:pt x="171631" y="157171"/>
                  </a:lnTo>
                  <a:cubicBezTo>
                    <a:pt x="171631" y="93876"/>
                    <a:pt x="131559" y="37133"/>
                    <a:pt x="71906" y="15956"/>
                  </a:cubicBezTo>
                  <a:lnTo>
                    <a:pt x="30625" y="1285"/>
                  </a:lnTo>
                  <a:cubicBezTo>
                    <a:pt x="23775" y="-1133"/>
                    <a:pt x="16178" y="-103"/>
                    <a:pt x="10253" y="4076"/>
                  </a:cubicBezTo>
                  <a:cubicBezTo>
                    <a:pt x="4313" y="8255"/>
                    <a:pt x="761" y="15060"/>
                    <a:pt x="746" y="22328"/>
                  </a:cubicBezTo>
                  <a:close/>
                </a:path>
              </a:pathLst>
            </a:custGeom>
            <a:solidFill>
              <a:srgbClr val="FF4D88"/>
            </a:solidFill>
            <a:ln w="14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62DB5D5-A8A0-A8B7-5408-630F4CA4E1BD}"/>
                </a:ext>
              </a:extLst>
            </p:cNvPr>
            <p:cNvSpPr/>
            <p:nvPr/>
          </p:nvSpPr>
          <p:spPr>
            <a:xfrm>
              <a:off x="3258183" y="2656951"/>
              <a:ext cx="44773" cy="44773"/>
            </a:xfrm>
            <a:custGeom>
              <a:avLst/>
              <a:gdLst>
                <a:gd name="connsiteX0" fmla="*/ 44773 w 44773"/>
                <a:gd name="connsiteY0" fmla="*/ 22387 h 44773"/>
                <a:gd name="connsiteX1" fmla="*/ 22387 w 44773"/>
                <a:gd name="connsiteY1" fmla="*/ 44773 h 44773"/>
                <a:gd name="connsiteX2" fmla="*/ 0 w 44773"/>
                <a:gd name="connsiteY2" fmla="*/ 22387 h 44773"/>
                <a:gd name="connsiteX3" fmla="*/ 22387 w 44773"/>
                <a:gd name="connsiteY3" fmla="*/ 0 h 44773"/>
                <a:gd name="connsiteX4" fmla="*/ 44773 w 44773"/>
                <a:gd name="connsiteY4" fmla="*/ 22387 h 44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73" h="44773">
                  <a:moveTo>
                    <a:pt x="44773" y="22387"/>
                  </a:moveTo>
                  <a:cubicBezTo>
                    <a:pt x="44773" y="34751"/>
                    <a:pt x="34751" y="44773"/>
                    <a:pt x="22387" y="44773"/>
                  </a:cubicBezTo>
                  <a:cubicBezTo>
                    <a:pt x="10023" y="44773"/>
                    <a:pt x="0" y="34751"/>
                    <a:pt x="0" y="22387"/>
                  </a:cubicBezTo>
                  <a:cubicBezTo>
                    <a:pt x="0" y="10023"/>
                    <a:pt x="10023" y="0"/>
                    <a:pt x="22387" y="0"/>
                  </a:cubicBezTo>
                  <a:cubicBezTo>
                    <a:pt x="34751" y="0"/>
                    <a:pt x="44773" y="10023"/>
                    <a:pt x="44773" y="22387"/>
                  </a:cubicBezTo>
                  <a:close/>
                </a:path>
              </a:pathLst>
            </a:custGeom>
            <a:solidFill>
              <a:srgbClr val="624D8C"/>
            </a:solidFill>
            <a:ln w="14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3C2019A-5762-1C27-FCF9-21D041EE23EC}"/>
                </a:ext>
              </a:extLst>
            </p:cNvPr>
            <p:cNvSpPr/>
            <p:nvPr/>
          </p:nvSpPr>
          <p:spPr>
            <a:xfrm>
              <a:off x="3400511" y="2656951"/>
              <a:ext cx="44773" cy="44773"/>
            </a:xfrm>
            <a:custGeom>
              <a:avLst/>
              <a:gdLst>
                <a:gd name="connsiteX0" fmla="*/ 44773 w 44773"/>
                <a:gd name="connsiteY0" fmla="*/ 22387 h 44773"/>
                <a:gd name="connsiteX1" fmla="*/ 22387 w 44773"/>
                <a:gd name="connsiteY1" fmla="*/ 44773 h 44773"/>
                <a:gd name="connsiteX2" fmla="*/ 0 w 44773"/>
                <a:gd name="connsiteY2" fmla="*/ 22387 h 44773"/>
                <a:gd name="connsiteX3" fmla="*/ 22387 w 44773"/>
                <a:gd name="connsiteY3" fmla="*/ 0 h 44773"/>
                <a:gd name="connsiteX4" fmla="*/ 44773 w 44773"/>
                <a:gd name="connsiteY4" fmla="*/ 22387 h 44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73" h="44773">
                  <a:moveTo>
                    <a:pt x="44773" y="22387"/>
                  </a:moveTo>
                  <a:cubicBezTo>
                    <a:pt x="44773" y="34751"/>
                    <a:pt x="34751" y="44773"/>
                    <a:pt x="22387" y="44773"/>
                  </a:cubicBezTo>
                  <a:cubicBezTo>
                    <a:pt x="10023" y="44773"/>
                    <a:pt x="0" y="34751"/>
                    <a:pt x="0" y="22387"/>
                  </a:cubicBezTo>
                  <a:cubicBezTo>
                    <a:pt x="0" y="10023"/>
                    <a:pt x="10023" y="0"/>
                    <a:pt x="22387" y="0"/>
                  </a:cubicBezTo>
                  <a:cubicBezTo>
                    <a:pt x="34751" y="0"/>
                    <a:pt x="44773" y="10023"/>
                    <a:pt x="44773" y="22387"/>
                  </a:cubicBezTo>
                  <a:close/>
                </a:path>
              </a:pathLst>
            </a:custGeom>
            <a:solidFill>
              <a:srgbClr val="493373"/>
            </a:solidFill>
            <a:ln w="14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2CD6F75-1149-1E41-2576-D0F86C0A69D2}"/>
                </a:ext>
              </a:extLst>
            </p:cNvPr>
            <p:cNvSpPr/>
            <p:nvPr/>
          </p:nvSpPr>
          <p:spPr>
            <a:xfrm>
              <a:off x="3095779" y="2773362"/>
              <a:ext cx="327118" cy="396990"/>
            </a:xfrm>
            <a:custGeom>
              <a:avLst/>
              <a:gdLst>
                <a:gd name="connsiteX0" fmla="*/ 255954 w 327118"/>
                <a:gd name="connsiteY0" fmla="*/ 0 h 396990"/>
                <a:gd name="connsiteX1" fmla="*/ 327119 w 327118"/>
                <a:gd name="connsiteY1" fmla="*/ 140217 h 396990"/>
                <a:gd name="connsiteX2" fmla="*/ 255954 w 327118"/>
                <a:gd name="connsiteY2" fmla="*/ 396990 h 396990"/>
                <a:gd name="connsiteX3" fmla="*/ 0 w 327118"/>
                <a:gd name="connsiteY3" fmla="*/ 396990 h 396990"/>
                <a:gd name="connsiteX4" fmla="*/ 0 w 327118"/>
                <a:gd name="connsiteY4" fmla="*/ 22387 h 396990"/>
                <a:gd name="connsiteX5" fmla="*/ 22387 w 327118"/>
                <a:gd name="connsiteY5" fmla="*/ 0 h 39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118" h="396990">
                  <a:moveTo>
                    <a:pt x="255954" y="0"/>
                  </a:moveTo>
                  <a:lnTo>
                    <a:pt x="327119" y="140217"/>
                  </a:lnTo>
                  <a:lnTo>
                    <a:pt x="255954" y="396990"/>
                  </a:lnTo>
                  <a:lnTo>
                    <a:pt x="0" y="396990"/>
                  </a:lnTo>
                  <a:lnTo>
                    <a:pt x="0" y="22387"/>
                  </a:lnTo>
                  <a:cubicBezTo>
                    <a:pt x="0" y="10029"/>
                    <a:pt x="10029" y="0"/>
                    <a:pt x="22387" y="0"/>
                  </a:cubicBezTo>
                  <a:close/>
                </a:path>
              </a:pathLst>
            </a:custGeom>
            <a:solidFill>
              <a:srgbClr val="80BFFF"/>
            </a:solidFill>
            <a:ln w="14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874320-EB3B-1750-99D2-2D168EC8FCE4}"/>
                </a:ext>
              </a:extLst>
            </p:cNvPr>
            <p:cNvSpPr/>
            <p:nvPr/>
          </p:nvSpPr>
          <p:spPr>
            <a:xfrm>
              <a:off x="3183087" y="2406221"/>
              <a:ext cx="394005" cy="191943"/>
            </a:xfrm>
            <a:custGeom>
              <a:avLst/>
              <a:gdLst>
                <a:gd name="connsiteX0" fmla="*/ 394006 w 394005"/>
                <a:gd name="connsiteY0" fmla="*/ 22387 h 191943"/>
                <a:gd name="connsiteX1" fmla="*/ 394006 w 394005"/>
                <a:gd name="connsiteY1" fmla="*/ 95487 h 191943"/>
                <a:gd name="connsiteX2" fmla="*/ 337293 w 394005"/>
                <a:gd name="connsiteY2" fmla="*/ 191943 h 191943"/>
                <a:gd name="connsiteX3" fmla="*/ 0 w 394005"/>
                <a:gd name="connsiteY3" fmla="*/ 191943 h 191943"/>
                <a:gd name="connsiteX4" fmla="*/ 0 w 394005"/>
                <a:gd name="connsiteY4" fmla="*/ 110471 h 191943"/>
                <a:gd name="connsiteX5" fmla="*/ 110471 w 394005"/>
                <a:gd name="connsiteY5" fmla="*/ 0 h 191943"/>
                <a:gd name="connsiteX6" fmla="*/ 371619 w 394005"/>
                <a:gd name="connsiteY6" fmla="*/ 0 h 191943"/>
                <a:gd name="connsiteX7" fmla="*/ 394006 w 394005"/>
                <a:gd name="connsiteY7" fmla="*/ 22387 h 191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005" h="191943">
                  <a:moveTo>
                    <a:pt x="394006" y="22387"/>
                  </a:moveTo>
                  <a:lnTo>
                    <a:pt x="394006" y="95487"/>
                  </a:lnTo>
                  <a:cubicBezTo>
                    <a:pt x="394006" y="136887"/>
                    <a:pt x="371097" y="173034"/>
                    <a:pt x="337293" y="191943"/>
                  </a:cubicBezTo>
                  <a:lnTo>
                    <a:pt x="0" y="191943"/>
                  </a:lnTo>
                  <a:lnTo>
                    <a:pt x="0" y="110471"/>
                  </a:lnTo>
                  <a:cubicBezTo>
                    <a:pt x="0" y="49564"/>
                    <a:pt x="49564" y="0"/>
                    <a:pt x="110471" y="0"/>
                  </a:cubicBezTo>
                  <a:lnTo>
                    <a:pt x="371619" y="0"/>
                  </a:lnTo>
                  <a:cubicBezTo>
                    <a:pt x="383976" y="0"/>
                    <a:pt x="394006" y="10029"/>
                    <a:pt x="394006" y="22387"/>
                  </a:cubicBezTo>
                  <a:close/>
                </a:path>
              </a:pathLst>
            </a:custGeom>
            <a:solidFill>
              <a:srgbClr val="624D8C"/>
            </a:solidFill>
            <a:ln w="14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3D6C382-8C9E-A348-81C0-556A3D5D852D}"/>
                </a:ext>
              </a:extLst>
            </p:cNvPr>
            <p:cNvSpPr/>
            <p:nvPr/>
          </p:nvSpPr>
          <p:spPr>
            <a:xfrm>
              <a:off x="3351734" y="2773362"/>
              <a:ext cx="255954" cy="396990"/>
            </a:xfrm>
            <a:custGeom>
              <a:avLst/>
              <a:gdLst>
                <a:gd name="connsiteX0" fmla="*/ 255954 w 255954"/>
                <a:gd name="connsiteY0" fmla="*/ 22387 h 396990"/>
                <a:gd name="connsiteX1" fmla="*/ 255954 w 255954"/>
                <a:gd name="connsiteY1" fmla="*/ 396990 h 396990"/>
                <a:gd name="connsiteX2" fmla="*/ 0 w 255954"/>
                <a:gd name="connsiteY2" fmla="*/ 396990 h 396990"/>
                <a:gd name="connsiteX3" fmla="*/ 0 w 255954"/>
                <a:gd name="connsiteY3" fmla="*/ 0 h 396990"/>
                <a:gd name="connsiteX4" fmla="*/ 233568 w 255954"/>
                <a:gd name="connsiteY4" fmla="*/ 0 h 396990"/>
                <a:gd name="connsiteX5" fmla="*/ 255954 w 255954"/>
                <a:gd name="connsiteY5" fmla="*/ 22387 h 39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954" h="396990">
                  <a:moveTo>
                    <a:pt x="255954" y="22387"/>
                  </a:moveTo>
                  <a:lnTo>
                    <a:pt x="255954" y="396990"/>
                  </a:lnTo>
                  <a:lnTo>
                    <a:pt x="0" y="396990"/>
                  </a:lnTo>
                  <a:lnTo>
                    <a:pt x="0" y="0"/>
                  </a:lnTo>
                  <a:lnTo>
                    <a:pt x="233568" y="0"/>
                  </a:lnTo>
                  <a:cubicBezTo>
                    <a:pt x="245925" y="0"/>
                    <a:pt x="255954" y="10029"/>
                    <a:pt x="255954" y="22387"/>
                  </a:cubicBezTo>
                  <a:close/>
                </a:path>
              </a:pathLst>
            </a:custGeom>
            <a:solidFill>
              <a:srgbClr val="6699FF"/>
            </a:solidFill>
            <a:ln w="1488" cap="flat">
              <a:noFill/>
              <a:prstDash val="solid"/>
              <a:miter/>
            </a:ln>
          </p:spPr>
          <p:txBody>
            <a:bodyPr rtlCol="0" anchor="ctr"/>
            <a:lstStyle/>
            <a:p>
              <a:endParaRPr lang="en-US"/>
            </a:p>
          </p:txBody>
        </p:sp>
        <p:grpSp>
          <p:nvGrpSpPr>
            <p:cNvPr id="30" name="Graphic 14">
              <a:extLst>
                <a:ext uri="{FF2B5EF4-FFF2-40B4-BE49-F238E27FC236}">
                  <a16:creationId xmlns:a16="http://schemas.microsoft.com/office/drawing/2014/main" id="{DCCE9442-2FFA-289F-A915-7BF4D950C221}"/>
                </a:ext>
              </a:extLst>
            </p:cNvPr>
            <p:cNvGrpSpPr/>
            <p:nvPr/>
          </p:nvGrpSpPr>
          <p:grpSpPr>
            <a:xfrm>
              <a:off x="3185325" y="2881923"/>
              <a:ext cx="188078" cy="194362"/>
              <a:chOff x="3185325" y="2881923"/>
              <a:chExt cx="188078" cy="194362"/>
            </a:xfrm>
            <a:solidFill>
              <a:srgbClr val="E6F0F2"/>
            </a:solidFill>
          </p:grpSpPr>
          <p:sp>
            <p:nvSpPr>
              <p:cNvPr id="31" name="Freeform: Shape 30">
                <a:extLst>
                  <a:ext uri="{FF2B5EF4-FFF2-40B4-BE49-F238E27FC236}">
                    <a16:creationId xmlns:a16="http://schemas.microsoft.com/office/drawing/2014/main" id="{E661B0AB-ABA4-A209-C4C5-EABF84EC0FC3}"/>
                  </a:ext>
                </a:extLst>
              </p:cNvPr>
              <p:cNvSpPr/>
              <p:nvPr/>
            </p:nvSpPr>
            <p:spPr>
              <a:xfrm>
                <a:off x="3185325" y="2902460"/>
                <a:ext cx="91785" cy="138797"/>
              </a:xfrm>
              <a:custGeom>
                <a:avLst/>
                <a:gdLst>
                  <a:gd name="connsiteX0" fmla="*/ 85228 w 91785"/>
                  <a:gd name="connsiteY0" fmla="*/ 6556 h 138797"/>
                  <a:gd name="connsiteX1" fmla="*/ 53569 w 91785"/>
                  <a:gd name="connsiteY1" fmla="*/ 6556 h 138797"/>
                  <a:gd name="connsiteX2" fmla="*/ 6557 w 91785"/>
                  <a:gd name="connsiteY2" fmla="*/ 53568 h 138797"/>
                  <a:gd name="connsiteX3" fmla="*/ 6557 w 91785"/>
                  <a:gd name="connsiteY3" fmla="*/ 85227 h 138797"/>
                  <a:gd name="connsiteX4" fmla="*/ 53569 w 91785"/>
                  <a:gd name="connsiteY4" fmla="*/ 132239 h 138797"/>
                  <a:gd name="connsiteX5" fmla="*/ 69398 w 91785"/>
                  <a:gd name="connsiteY5" fmla="*/ 138797 h 138797"/>
                  <a:gd name="connsiteX6" fmla="*/ 85227 w 91785"/>
                  <a:gd name="connsiteY6" fmla="*/ 132239 h 138797"/>
                  <a:gd name="connsiteX7" fmla="*/ 85227 w 91785"/>
                  <a:gd name="connsiteY7" fmla="*/ 100580 h 138797"/>
                  <a:gd name="connsiteX8" fmla="*/ 54047 w 91785"/>
                  <a:gd name="connsiteY8" fmla="*/ 69397 h 138797"/>
                  <a:gd name="connsiteX9" fmla="*/ 85230 w 91785"/>
                  <a:gd name="connsiteY9" fmla="*/ 38214 h 138797"/>
                  <a:gd name="connsiteX10" fmla="*/ 85228 w 91785"/>
                  <a:gd name="connsiteY10" fmla="*/ 6556 h 1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785" h="138797">
                    <a:moveTo>
                      <a:pt x="85228" y="6556"/>
                    </a:moveTo>
                    <a:cubicBezTo>
                      <a:pt x="76487" y="-2185"/>
                      <a:pt x="62312" y="-2185"/>
                      <a:pt x="53569" y="6556"/>
                    </a:cubicBezTo>
                    <a:lnTo>
                      <a:pt x="6557" y="53568"/>
                    </a:lnTo>
                    <a:cubicBezTo>
                      <a:pt x="-2186" y="62309"/>
                      <a:pt x="-2186" y="76484"/>
                      <a:pt x="6557" y="85227"/>
                    </a:cubicBezTo>
                    <a:lnTo>
                      <a:pt x="53569" y="132239"/>
                    </a:lnTo>
                    <a:cubicBezTo>
                      <a:pt x="57940" y="136611"/>
                      <a:pt x="63670" y="138797"/>
                      <a:pt x="69398" y="138797"/>
                    </a:cubicBezTo>
                    <a:cubicBezTo>
                      <a:pt x="75126" y="138797"/>
                      <a:pt x="80857" y="136611"/>
                      <a:pt x="85227" y="132239"/>
                    </a:cubicBezTo>
                    <a:cubicBezTo>
                      <a:pt x="93970" y="123498"/>
                      <a:pt x="93970" y="109323"/>
                      <a:pt x="85227" y="100580"/>
                    </a:cubicBezTo>
                    <a:lnTo>
                      <a:pt x="54047" y="69397"/>
                    </a:lnTo>
                    <a:lnTo>
                      <a:pt x="85230" y="38214"/>
                    </a:lnTo>
                    <a:cubicBezTo>
                      <a:pt x="93971" y="29472"/>
                      <a:pt x="93971" y="15297"/>
                      <a:pt x="85228" y="6556"/>
                    </a:cubicBezTo>
                    <a:close/>
                  </a:path>
                </a:pathLst>
              </a:custGeom>
              <a:solidFill>
                <a:srgbClr val="E6F0F2"/>
              </a:solidFill>
              <a:ln w="14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3DB3341-9438-E9CA-14D3-4F8580CE1E56}"/>
                  </a:ext>
                </a:extLst>
              </p:cNvPr>
              <p:cNvSpPr/>
              <p:nvPr/>
            </p:nvSpPr>
            <p:spPr>
              <a:xfrm>
                <a:off x="3308353" y="2881923"/>
                <a:ext cx="65050" cy="194362"/>
              </a:xfrm>
              <a:custGeom>
                <a:avLst/>
                <a:gdLst>
                  <a:gd name="connsiteX0" fmla="*/ 43380 w 65050"/>
                  <a:gd name="connsiteY0" fmla="*/ 0 h 194362"/>
                  <a:gd name="connsiteX1" fmla="*/ 65050 w 65050"/>
                  <a:gd name="connsiteY1" fmla="*/ 44142 h 194362"/>
                  <a:gd name="connsiteX2" fmla="*/ 43380 w 65050"/>
                  <a:gd name="connsiteY2" fmla="*/ 179870 h 194362"/>
                  <a:gd name="connsiteX3" fmla="*/ 22441 w 65050"/>
                  <a:gd name="connsiteY3" fmla="*/ 194361 h 194362"/>
                  <a:gd name="connsiteX4" fmla="*/ 741 w 65050"/>
                  <a:gd name="connsiteY4" fmla="*/ 166438 h 194362"/>
                  <a:gd name="connsiteX5" fmla="*/ 43380 w 65050"/>
                  <a:gd name="connsiteY5" fmla="*/ 0 h 19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050" h="194362">
                    <a:moveTo>
                      <a:pt x="43380" y="0"/>
                    </a:moveTo>
                    <a:lnTo>
                      <a:pt x="65050" y="44142"/>
                    </a:lnTo>
                    <a:lnTo>
                      <a:pt x="43380" y="179870"/>
                    </a:lnTo>
                    <a:cubicBezTo>
                      <a:pt x="40082" y="188660"/>
                      <a:pt x="31634" y="194361"/>
                      <a:pt x="22441" y="194361"/>
                    </a:cubicBezTo>
                    <a:cubicBezTo>
                      <a:pt x="8105" y="194537"/>
                      <a:pt x="-3029" y="180335"/>
                      <a:pt x="741" y="166438"/>
                    </a:cubicBezTo>
                    <a:cubicBezTo>
                      <a:pt x="1702" y="163242"/>
                      <a:pt x="42185" y="3033"/>
                      <a:pt x="43380" y="0"/>
                    </a:cubicBezTo>
                    <a:close/>
                  </a:path>
                </a:pathLst>
              </a:custGeom>
              <a:solidFill>
                <a:srgbClr val="E6F0F2"/>
              </a:solidFill>
              <a:ln w="1488" cap="flat">
                <a:noFill/>
                <a:prstDash val="solid"/>
                <a:miter/>
              </a:ln>
            </p:spPr>
            <p:txBody>
              <a:bodyPr rtlCol="0" anchor="ctr"/>
              <a:lstStyle/>
              <a:p>
                <a:endParaRPr lang="en-US"/>
              </a:p>
            </p:txBody>
          </p:sp>
        </p:grpSp>
        <p:grpSp>
          <p:nvGrpSpPr>
            <p:cNvPr id="33" name="Graphic 14">
              <a:extLst>
                <a:ext uri="{FF2B5EF4-FFF2-40B4-BE49-F238E27FC236}">
                  <a16:creationId xmlns:a16="http://schemas.microsoft.com/office/drawing/2014/main" id="{78A91624-3240-093C-92D6-03EA1E383E69}"/>
                </a:ext>
              </a:extLst>
            </p:cNvPr>
            <p:cNvGrpSpPr/>
            <p:nvPr/>
          </p:nvGrpSpPr>
          <p:grpSpPr>
            <a:xfrm>
              <a:off x="3351734" y="2867431"/>
              <a:ext cx="166403" cy="194360"/>
              <a:chOff x="3351734" y="2867431"/>
              <a:chExt cx="166403" cy="194360"/>
            </a:xfrm>
            <a:solidFill>
              <a:srgbClr val="CFDFE6"/>
            </a:solidFill>
          </p:grpSpPr>
          <p:sp>
            <p:nvSpPr>
              <p:cNvPr id="34" name="Freeform: Shape 33">
                <a:extLst>
                  <a:ext uri="{FF2B5EF4-FFF2-40B4-BE49-F238E27FC236}">
                    <a16:creationId xmlns:a16="http://schemas.microsoft.com/office/drawing/2014/main" id="{D2279B27-FA85-F60B-F1D1-F668C93BFFCF}"/>
                  </a:ext>
                </a:extLst>
              </p:cNvPr>
              <p:cNvSpPr/>
              <p:nvPr/>
            </p:nvSpPr>
            <p:spPr>
              <a:xfrm>
                <a:off x="3351734" y="2867431"/>
                <a:ext cx="43340" cy="194360"/>
              </a:xfrm>
              <a:custGeom>
                <a:avLst/>
                <a:gdLst>
                  <a:gd name="connsiteX0" fmla="*/ 42639 w 43340"/>
                  <a:gd name="connsiteY0" fmla="*/ 27923 h 194360"/>
                  <a:gd name="connsiteX1" fmla="*/ 746 w 43340"/>
                  <a:gd name="connsiteY1" fmla="*/ 192003 h 194360"/>
                  <a:gd name="connsiteX2" fmla="*/ 0 w 43340"/>
                  <a:gd name="connsiteY2" fmla="*/ 194361 h 194360"/>
                  <a:gd name="connsiteX3" fmla="*/ 0 w 43340"/>
                  <a:gd name="connsiteY3" fmla="*/ 14491 h 194360"/>
                  <a:gd name="connsiteX4" fmla="*/ 26491 w 43340"/>
                  <a:gd name="connsiteY4" fmla="*/ 701 h 194360"/>
                  <a:gd name="connsiteX5" fmla="*/ 42639 w 43340"/>
                  <a:gd name="connsiteY5" fmla="*/ 27923 h 19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40" h="194360">
                    <a:moveTo>
                      <a:pt x="42639" y="27923"/>
                    </a:moveTo>
                    <a:lnTo>
                      <a:pt x="746" y="192003"/>
                    </a:lnTo>
                    <a:cubicBezTo>
                      <a:pt x="537" y="192809"/>
                      <a:pt x="299" y="193600"/>
                      <a:pt x="0" y="194361"/>
                    </a:cubicBezTo>
                    <a:lnTo>
                      <a:pt x="0" y="14491"/>
                    </a:lnTo>
                    <a:cubicBezTo>
                      <a:pt x="3955" y="3940"/>
                      <a:pt x="15313" y="-2150"/>
                      <a:pt x="26491" y="701"/>
                    </a:cubicBezTo>
                    <a:cubicBezTo>
                      <a:pt x="38460" y="3761"/>
                      <a:pt x="45699" y="15954"/>
                      <a:pt x="42639" y="27923"/>
                    </a:cubicBezTo>
                    <a:close/>
                  </a:path>
                </a:pathLst>
              </a:custGeom>
              <a:solidFill>
                <a:srgbClr val="CFDFE6"/>
              </a:solidFill>
              <a:ln w="1488"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A05115A-A6AA-E875-EE7A-9DAA042B5634}"/>
                  </a:ext>
                </a:extLst>
              </p:cNvPr>
              <p:cNvSpPr/>
              <p:nvPr/>
            </p:nvSpPr>
            <p:spPr>
              <a:xfrm>
                <a:off x="3426360" y="2902462"/>
                <a:ext cx="91777" cy="138793"/>
              </a:xfrm>
              <a:custGeom>
                <a:avLst/>
                <a:gdLst>
                  <a:gd name="connsiteX0" fmla="*/ 85230 w 91777"/>
                  <a:gd name="connsiteY0" fmla="*/ 85230 h 138793"/>
                  <a:gd name="connsiteX1" fmla="*/ 38218 w 91777"/>
                  <a:gd name="connsiteY1" fmla="*/ 132242 h 138793"/>
                  <a:gd name="connsiteX2" fmla="*/ 22383 w 91777"/>
                  <a:gd name="connsiteY2" fmla="*/ 138794 h 138793"/>
                  <a:gd name="connsiteX3" fmla="*/ 6548 w 91777"/>
                  <a:gd name="connsiteY3" fmla="*/ 132242 h 138793"/>
                  <a:gd name="connsiteX4" fmla="*/ 6548 w 91777"/>
                  <a:gd name="connsiteY4" fmla="*/ 100572 h 138793"/>
                  <a:gd name="connsiteX5" fmla="*/ 37740 w 91777"/>
                  <a:gd name="connsiteY5" fmla="*/ 69395 h 138793"/>
                  <a:gd name="connsiteX6" fmla="*/ 6548 w 91777"/>
                  <a:gd name="connsiteY6" fmla="*/ 38218 h 138793"/>
                  <a:gd name="connsiteX7" fmla="*/ 6548 w 91777"/>
                  <a:gd name="connsiteY7" fmla="*/ 6548 h 138793"/>
                  <a:gd name="connsiteX8" fmla="*/ 38218 w 91777"/>
                  <a:gd name="connsiteY8" fmla="*/ 6548 h 138793"/>
                  <a:gd name="connsiteX9" fmla="*/ 85230 w 91777"/>
                  <a:gd name="connsiteY9" fmla="*/ 53560 h 138793"/>
                  <a:gd name="connsiteX10" fmla="*/ 85230 w 91777"/>
                  <a:gd name="connsiteY10" fmla="*/ 85230 h 13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777" h="138793">
                    <a:moveTo>
                      <a:pt x="85230" y="85230"/>
                    </a:moveTo>
                    <a:lnTo>
                      <a:pt x="38218" y="132242"/>
                    </a:lnTo>
                    <a:cubicBezTo>
                      <a:pt x="33845" y="136615"/>
                      <a:pt x="28114" y="138794"/>
                      <a:pt x="22383" y="138794"/>
                    </a:cubicBezTo>
                    <a:cubicBezTo>
                      <a:pt x="16652" y="138794"/>
                      <a:pt x="10921" y="136615"/>
                      <a:pt x="6548" y="132242"/>
                    </a:cubicBezTo>
                    <a:cubicBezTo>
                      <a:pt x="-2183" y="123496"/>
                      <a:pt x="-2183" y="109318"/>
                      <a:pt x="6548" y="100572"/>
                    </a:cubicBezTo>
                    <a:lnTo>
                      <a:pt x="37740" y="69395"/>
                    </a:lnTo>
                    <a:lnTo>
                      <a:pt x="6548" y="38218"/>
                    </a:lnTo>
                    <a:cubicBezTo>
                      <a:pt x="-2183" y="29472"/>
                      <a:pt x="-2183" y="15294"/>
                      <a:pt x="6548" y="6548"/>
                    </a:cubicBezTo>
                    <a:cubicBezTo>
                      <a:pt x="15294" y="-2183"/>
                      <a:pt x="29472" y="-2183"/>
                      <a:pt x="38218" y="6548"/>
                    </a:cubicBezTo>
                    <a:lnTo>
                      <a:pt x="85230" y="53560"/>
                    </a:lnTo>
                    <a:cubicBezTo>
                      <a:pt x="93961" y="62306"/>
                      <a:pt x="93961" y="76484"/>
                      <a:pt x="85230" y="85230"/>
                    </a:cubicBezTo>
                    <a:close/>
                  </a:path>
                </a:pathLst>
              </a:custGeom>
              <a:solidFill>
                <a:srgbClr val="CFDFE6"/>
              </a:solidFill>
              <a:ln w="1488" cap="flat">
                <a:noFill/>
                <a:prstDash val="solid"/>
                <a:miter/>
              </a:ln>
            </p:spPr>
            <p:txBody>
              <a:bodyPr rtlCol="0" anchor="ctr"/>
              <a:lstStyle/>
              <a:p>
                <a:endParaRPr lang="en-US"/>
              </a:p>
            </p:txBody>
          </p:sp>
        </p:grpSp>
      </p:grpSp>
      <p:pic>
        <p:nvPicPr>
          <p:cNvPr id="17" name="Graphic 16">
            <a:extLst>
              <a:ext uri="{FF2B5EF4-FFF2-40B4-BE49-F238E27FC236}">
                <a16:creationId xmlns:a16="http://schemas.microsoft.com/office/drawing/2014/main" id="{643E38B9-D620-B2E9-4A86-A4D2C55190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10600" y="2682673"/>
            <a:ext cx="830580" cy="830580"/>
          </a:xfrm>
          <a:prstGeom prst="rect">
            <a:avLst/>
          </a:prstGeom>
        </p:spPr>
      </p:pic>
    </p:spTree>
    <p:extLst>
      <p:ext uri="{BB962C8B-B14F-4D97-AF65-F5344CB8AC3E}">
        <p14:creationId xmlns:p14="http://schemas.microsoft.com/office/powerpoint/2010/main" val="348834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42" presetClass="path" presetSubtype="0" decel="100000" fill="hold" grpId="1" nodeType="withEffect">
                                  <p:stCondLst>
                                    <p:cond delay="0"/>
                                  </p:stCondLst>
                                  <p:childTnLst>
                                    <p:animMotion origin="layout" path="M -0.01719 -0.00023 L 0 2.96296E-6 " pathEditMode="relative" rAng="0" ptsTypes="AA">
                                      <p:cBhvr>
                                        <p:cTn id="9" dur="500" fill="hold"/>
                                        <p:tgtEl>
                                          <p:spTgt spid="10"/>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50"/>
                                        <p:tgtEl>
                                          <p:spTgt spid="11"/>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11"/>
                                        </p:tgtEl>
                                        <p:attrNameLst>
                                          <p:attrName>ppt_x</p:attrName>
                                          <p:attrName>ppt_y</p:attrName>
                                        </p:attrNameLst>
                                      </p:cBhvr>
                                      <p:rCtr x="859" y="0"/>
                                    </p:animMotion>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childTnLst>
                                </p:cTn>
                              </p:par>
                              <p:par>
                                <p:cTn id="20" presetID="42" presetClass="path" presetSubtype="0" decel="100000" fill="hold" grpId="1" nodeType="withEffect">
                                  <p:stCondLst>
                                    <p:cond delay="0"/>
                                  </p:stCondLst>
                                  <p:childTnLst>
                                    <p:animMotion origin="layout" path="M 8.33333E-7 0.03889 L 8.33333E-7 1.11111E-6 " pathEditMode="relative" rAng="0" ptsTypes="AA">
                                      <p:cBhvr>
                                        <p:cTn id="21" dur="500" fill="hold"/>
                                        <p:tgtEl>
                                          <p:spTgt spid="7"/>
                                        </p:tgtEl>
                                        <p:attrNameLst>
                                          <p:attrName>ppt_x</p:attrName>
                                          <p:attrName>ppt_y</p:attrName>
                                        </p:attrNameLst>
                                      </p:cBhvr>
                                      <p:rCtr x="0" y="-1944"/>
                                    </p:animMotion>
                                  </p:childTnLst>
                                </p:cTn>
                              </p:par>
                              <p:par>
                                <p:cTn id="22" presetID="10"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250"/>
                                        <p:tgtEl>
                                          <p:spTgt spid="18"/>
                                        </p:tgtEl>
                                      </p:cBhvr>
                                    </p:animEffect>
                                  </p:childTnLst>
                                </p:cTn>
                              </p:par>
                              <p:par>
                                <p:cTn id="25" presetID="42" presetClass="path" presetSubtype="0" decel="100000" fill="hold" nodeType="withEffect">
                                  <p:stCondLst>
                                    <p:cond delay="0"/>
                                  </p:stCondLst>
                                  <p:childTnLst>
                                    <p:animMotion origin="layout" path="M 1.25E-6 0.03889 L 1.25E-6 1.85185E-6 " pathEditMode="relative" rAng="0" ptsTypes="AA">
                                      <p:cBhvr>
                                        <p:cTn id="26" dur="500" fill="hold"/>
                                        <p:tgtEl>
                                          <p:spTgt spid="18"/>
                                        </p:tgtEl>
                                        <p:attrNameLst>
                                          <p:attrName>ppt_x</p:attrName>
                                          <p:attrName>ppt_y</p:attrName>
                                        </p:attrNameLst>
                                      </p:cBhvr>
                                      <p:rCtr x="0" y="-1944"/>
                                    </p:animMotion>
                                  </p:childTnLst>
                                </p:cTn>
                              </p:par>
                            </p:childTnLst>
                          </p:cTn>
                        </p:par>
                        <p:par>
                          <p:cTn id="27" fill="hold">
                            <p:stCondLst>
                              <p:cond delay="1500"/>
                            </p:stCondLst>
                            <p:childTnLst>
                              <p:par>
                                <p:cTn id="28" presetID="10" presetClass="entr" presetSubtype="0"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250"/>
                                        <p:tgtEl>
                                          <p:spTgt spid="4"/>
                                        </p:tgtEl>
                                      </p:cBhvr>
                                    </p:animEffect>
                                  </p:childTnLst>
                                </p:cTn>
                              </p:par>
                              <p:par>
                                <p:cTn id="31" presetID="42" presetClass="path" presetSubtype="0" decel="100000" fill="hold" grpId="1" nodeType="withEffect">
                                  <p:stCondLst>
                                    <p:cond delay="0"/>
                                  </p:stCondLst>
                                  <p:childTnLst>
                                    <p:animMotion origin="layout" path="M -6.25E-7 0.03889 L -6.25E-7 1.11111E-6 " pathEditMode="relative" rAng="0" ptsTypes="AA">
                                      <p:cBhvr>
                                        <p:cTn id="32" dur="500" fill="hold"/>
                                        <p:tgtEl>
                                          <p:spTgt spid="4"/>
                                        </p:tgtEl>
                                        <p:attrNameLst>
                                          <p:attrName>ppt_x</p:attrName>
                                          <p:attrName>ppt_y</p:attrName>
                                        </p:attrNameLst>
                                      </p:cBhvr>
                                      <p:rCtr x="0" y="-1944"/>
                                    </p:animMotion>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250"/>
                                        <p:tgtEl>
                                          <p:spTgt spid="17"/>
                                        </p:tgtEl>
                                      </p:cBhvr>
                                    </p:animEffect>
                                  </p:childTnLst>
                                </p:cTn>
                              </p:par>
                              <p:par>
                                <p:cTn id="36" presetID="42" presetClass="path" presetSubtype="0" decel="100000" fill="hold" nodeType="withEffect">
                                  <p:stCondLst>
                                    <p:cond delay="0"/>
                                  </p:stCondLst>
                                  <p:childTnLst>
                                    <p:animMotion origin="layout" path="M 1.25E-6 0.03889 L 1.25E-6 1.85185E-6 " pathEditMode="relative" rAng="0" ptsTypes="AA">
                                      <p:cBhvr>
                                        <p:cTn id="37" dur="500" fill="hold"/>
                                        <p:tgtEl>
                                          <p:spTgt spid="17"/>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7" grpId="0"/>
      <p:bldP spid="7" grpId="1"/>
      <p:bldP spid="10" grpId="0"/>
      <p:bldP spid="10" grpId="1"/>
      <p:bldP spid="11" grpId="0"/>
      <p:bldP spid="11"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11</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2.3 Optimized Heuristic Classification</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p:txBody>
          <a:bodyPr/>
          <a:lstStyle/>
          <a:p>
            <a:r>
              <a:rPr lang="vi-VN" b="1" dirty="0" err="1"/>
              <a:t>Heuristic</a:t>
            </a:r>
            <a:r>
              <a:rPr lang="vi-VN" b="1" dirty="0"/>
              <a:t> </a:t>
            </a:r>
            <a:r>
              <a:rPr lang="vi-VN" b="1" dirty="0" err="1"/>
              <a:t>classification</a:t>
            </a:r>
            <a:r>
              <a:rPr lang="vi-VN" b="1" dirty="0"/>
              <a:t> </a:t>
            </a:r>
            <a:r>
              <a:rPr lang="vi-VN" dirty="0"/>
              <a:t>là phương pháp phân loại sử dụng quy tắc hoặc quy chuẩn gần đúng (</a:t>
            </a:r>
            <a:r>
              <a:rPr lang="vi-VN" dirty="0" err="1"/>
              <a:t>heuristics</a:t>
            </a:r>
            <a:r>
              <a:rPr lang="vi-VN" dirty="0"/>
              <a:t>) để đánh giá và quyết định nhãn phân loại</a:t>
            </a:r>
          </a:p>
          <a:p>
            <a:r>
              <a:rPr lang="vi-VN" b="1" dirty="0" err="1"/>
              <a:t>Heuristic</a:t>
            </a:r>
            <a:r>
              <a:rPr lang="vi-VN" b="1" dirty="0"/>
              <a:t> </a:t>
            </a:r>
            <a:r>
              <a:rPr lang="vi-VN" b="1" dirty="0" err="1"/>
              <a:t>scoring</a:t>
            </a:r>
            <a:r>
              <a:rPr lang="vi-VN" b="1" dirty="0"/>
              <a:t> </a:t>
            </a:r>
            <a:r>
              <a:rPr lang="vi-VN" dirty="0"/>
              <a:t>là quá trình gán điểm số dựa trên tiêu chí </a:t>
            </a:r>
            <a:r>
              <a:rPr lang="vi-VN" dirty="0" err="1"/>
              <a:t>heuristic</a:t>
            </a:r>
            <a:r>
              <a:rPr lang="vi-VN" dirty="0"/>
              <a:t> để đánh giá mức độ phù hợp với một lớp nhất định</a:t>
            </a:r>
            <a:endParaRPr lang="en-US" dirty="0"/>
          </a:p>
        </p:txBody>
      </p:sp>
      <p:pic>
        <p:nvPicPr>
          <p:cNvPr id="5" name="Picture 4" descr="A diagram of two heads with text&#10;&#10;AI-generated content may be incorrect.">
            <a:extLst>
              <a:ext uri="{FF2B5EF4-FFF2-40B4-BE49-F238E27FC236}">
                <a16:creationId xmlns:a16="http://schemas.microsoft.com/office/drawing/2014/main" id="{0C92F413-9F77-E8A5-A343-9E58F2CD0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6530" y="1452562"/>
            <a:ext cx="4168140" cy="4168140"/>
          </a:xfrm>
          <a:prstGeom prst="rect">
            <a:avLst/>
          </a:prstGeom>
        </p:spPr>
      </p:pic>
    </p:spTree>
    <p:extLst>
      <p:ext uri="{BB962C8B-B14F-4D97-AF65-F5344CB8AC3E}">
        <p14:creationId xmlns:p14="http://schemas.microsoft.com/office/powerpoint/2010/main" val="258043573"/>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200" fill="hold"/>
                                            <p:tgtEl>
                                              <p:spTgt spid="5"/>
                                            </p:tgtEl>
                                            <p:attrNameLst>
                                              <p:attrName>ppt_w</p:attrName>
                                            </p:attrNameLst>
                                          </p:cBhvr>
                                          <p:tavLst>
                                            <p:tav tm="0">
                                              <p:val>
                                                <p:fltVal val="0"/>
                                              </p:val>
                                            </p:tav>
                                            <p:tav tm="100000">
                                              <p:val>
                                                <p:strVal val="#ppt_w"/>
                                              </p:val>
                                            </p:tav>
                                          </p:tavLst>
                                        </p:anim>
                                        <p:anim calcmode="lin" valueType="num">
                                          <p:cBhvr>
                                            <p:cTn id="20" dur="200" fill="hold"/>
                                            <p:tgtEl>
                                              <p:spTgt spid="5"/>
                                            </p:tgtEl>
                                            <p:attrNameLst>
                                              <p:attrName>ppt_h</p:attrName>
                                            </p:attrNameLst>
                                          </p:cBhvr>
                                          <p:tavLst>
                                            <p:tav tm="0">
                                              <p:val>
                                                <p:fltVal val="0"/>
                                              </p:val>
                                            </p:tav>
                                            <p:tav tm="100000">
                                              <p:val>
                                                <p:strVal val="#ppt_h"/>
                                              </p:val>
                                            </p:tav>
                                          </p:tavLst>
                                        </p:anim>
                                      </p:childTnLst>
                                    </p:cTn>
                                  </p:par>
                                  <p:par>
                                    <p:cTn id="21" presetID="6" presetClass="emph" presetSubtype="0" fill="hold" nodeType="withEffect" p14:presetBounceEnd="99000">
                                      <p:stCondLst>
                                        <p:cond delay="0"/>
                                      </p:stCondLst>
                                      <p:childTnLst>
                                        <p:animScale p14:bounceEnd="99000">
                                          <p:cBhvr>
                                            <p:cTn id="22" dur="1000" fill="hold"/>
                                            <p:tgtEl>
                                              <p:spTgt spid="5"/>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200" fill="hold"/>
                                            <p:tgtEl>
                                              <p:spTgt spid="5"/>
                                            </p:tgtEl>
                                            <p:attrNameLst>
                                              <p:attrName>ppt_w</p:attrName>
                                            </p:attrNameLst>
                                          </p:cBhvr>
                                          <p:tavLst>
                                            <p:tav tm="0">
                                              <p:val>
                                                <p:fltVal val="0"/>
                                              </p:val>
                                            </p:tav>
                                            <p:tav tm="100000">
                                              <p:val>
                                                <p:strVal val="#ppt_w"/>
                                              </p:val>
                                            </p:tav>
                                          </p:tavLst>
                                        </p:anim>
                                        <p:anim calcmode="lin" valueType="num">
                                          <p:cBhvr>
                                            <p:cTn id="20" dur="200" fill="hold"/>
                                            <p:tgtEl>
                                              <p:spTgt spid="5"/>
                                            </p:tgtEl>
                                            <p:attrNameLst>
                                              <p:attrName>ppt_h</p:attrName>
                                            </p:attrNameLst>
                                          </p:cBhvr>
                                          <p:tavLst>
                                            <p:tav tm="0">
                                              <p:val>
                                                <p:fltVal val="0"/>
                                              </p:val>
                                            </p:tav>
                                            <p:tav tm="100000">
                                              <p:val>
                                                <p:strVal val="#ppt_h"/>
                                              </p:val>
                                            </p:tav>
                                          </p:tavLst>
                                        </p:anim>
                                      </p:childTnLst>
                                    </p:cTn>
                                  </p:par>
                                  <p:par>
                                    <p:cTn id="21" presetID="6" presetClass="emph" presetSubtype="0" fill="hold" nodeType="withEffect">
                                      <p:stCondLst>
                                        <p:cond delay="0"/>
                                      </p:stCondLst>
                                      <p:childTnLst>
                                        <p:animScale>
                                          <p:cBhvr>
                                            <p:cTn id="22" dur="1000" fill="hold"/>
                                            <p:tgtEl>
                                              <p:spTgt spid="5"/>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12</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2.4 Next.js Framework</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p:txBody>
          <a:bodyPr/>
          <a:lstStyle/>
          <a:p>
            <a:r>
              <a:rPr lang="en-US" b="1" dirty="0"/>
              <a:t>T</a:t>
            </a:r>
            <a:r>
              <a:rPr lang="vi-VN" b="1" dirty="0"/>
              <a:t>ổng quan:</a:t>
            </a:r>
          </a:p>
          <a:p>
            <a:pPr marL="285750" indent="-285750">
              <a:buFont typeface="Arial" panose="020B0604020202020204" pitchFamily="34" charset="0"/>
              <a:buChar char="•"/>
            </a:pPr>
            <a:r>
              <a:rPr lang="vi-VN" dirty="0" err="1"/>
              <a:t>Framework</a:t>
            </a:r>
            <a:r>
              <a:rPr lang="vi-VN" dirty="0"/>
              <a:t> phát triển </a:t>
            </a:r>
            <a:r>
              <a:rPr lang="vi-VN" dirty="0" err="1"/>
              <a:t>web</a:t>
            </a:r>
            <a:r>
              <a:rPr lang="vi-VN" dirty="0"/>
              <a:t> mã nguồn mở được xây dựng dựa trên nền tảng </a:t>
            </a:r>
            <a:r>
              <a:rPr lang="vi-VN" b="1" dirty="0" err="1">
                <a:solidFill>
                  <a:schemeClr val="accent5"/>
                </a:solidFill>
              </a:rPr>
              <a:t>React</a:t>
            </a:r>
            <a:endParaRPr lang="vi-VN" b="1" dirty="0">
              <a:solidFill>
                <a:schemeClr val="accent5"/>
              </a:solidFill>
            </a:endParaRPr>
          </a:p>
          <a:p>
            <a:pPr marL="285750" indent="-285750">
              <a:buFont typeface="Arial" panose="020B0604020202020204" pitchFamily="34" charset="0"/>
              <a:buChar char="•"/>
            </a:pPr>
            <a:r>
              <a:rPr lang="vi-VN" dirty="0"/>
              <a:t>Ra đời năm 2016, thuộc sở hữu của </a:t>
            </a:r>
            <a:r>
              <a:rPr lang="vi-VN" dirty="0" err="1"/>
              <a:t>Vercel</a:t>
            </a:r>
            <a:endParaRPr lang="vi-VN" dirty="0"/>
          </a:p>
          <a:p>
            <a:pPr marL="285750" indent="-285750">
              <a:buFont typeface="Arial" panose="020B0604020202020204" pitchFamily="34" charset="0"/>
              <a:buChar char="•"/>
            </a:pPr>
            <a:r>
              <a:rPr lang="vi-VN" dirty="0"/>
              <a:t>Cung cấp hệ sinh thái phong phú với các tính năng tích hợp như </a:t>
            </a:r>
            <a:r>
              <a:rPr lang="vi-VN" dirty="0" err="1"/>
              <a:t>file-system</a:t>
            </a:r>
            <a:r>
              <a:rPr lang="vi-VN" dirty="0"/>
              <a:t> </a:t>
            </a:r>
            <a:r>
              <a:rPr lang="vi-VN" dirty="0" err="1"/>
              <a:t>routing</a:t>
            </a:r>
            <a:r>
              <a:rPr lang="vi-VN" dirty="0"/>
              <a:t>, API </a:t>
            </a:r>
            <a:r>
              <a:rPr lang="vi-VN" dirty="0" err="1"/>
              <a:t>routes</a:t>
            </a:r>
            <a:r>
              <a:rPr lang="vi-VN" dirty="0"/>
              <a:t>, hỗ trợ </a:t>
            </a:r>
            <a:r>
              <a:rPr lang="vi-VN" dirty="0" err="1"/>
              <a:t>TypeScript</a:t>
            </a:r>
            <a:endParaRPr lang="en-US" dirty="0"/>
          </a:p>
        </p:txBody>
      </p:sp>
      <p:pic>
        <p:nvPicPr>
          <p:cNvPr id="15" name="Graphic 14">
            <a:extLst>
              <a:ext uri="{FF2B5EF4-FFF2-40B4-BE49-F238E27FC236}">
                <a16:creationId xmlns:a16="http://schemas.microsoft.com/office/drawing/2014/main" id="{E7F006CA-7DB2-0311-5638-829A596A72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25615" y="1866899"/>
            <a:ext cx="3569970" cy="3569970"/>
          </a:xfrm>
          <a:prstGeom prst="rect">
            <a:avLst/>
          </a:prstGeom>
        </p:spPr>
      </p:pic>
    </p:spTree>
    <p:extLst>
      <p:ext uri="{BB962C8B-B14F-4D97-AF65-F5344CB8AC3E}">
        <p14:creationId xmlns:p14="http://schemas.microsoft.com/office/powerpoint/2010/main" val="1914317753"/>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par>
                                    <p:cTn id="16" presetID="23" presetClass="entr" presetSubtype="16"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200" fill="hold"/>
                                            <p:tgtEl>
                                              <p:spTgt spid="15"/>
                                            </p:tgtEl>
                                            <p:attrNameLst>
                                              <p:attrName>ppt_w</p:attrName>
                                            </p:attrNameLst>
                                          </p:cBhvr>
                                          <p:tavLst>
                                            <p:tav tm="0">
                                              <p:val>
                                                <p:fltVal val="0"/>
                                              </p:val>
                                            </p:tav>
                                            <p:tav tm="100000">
                                              <p:val>
                                                <p:strVal val="#ppt_w"/>
                                              </p:val>
                                            </p:tav>
                                          </p:tavLst>
                                        </p:anim>
                                        <p:anim calcmode="lin" valueType="num">
                                          <p:cBhvr>
                                            <p:cTn id="19" dur="200" fill="hold"/>
                                            <p:tgtEl>
                                              <p:spTgt spid="15"/>
                                            </p:tgtEl>
                                            <p:attrNameLst>
                                              <p:attrName>ppt_h</p:attrName>
                                            </p:attrNameLst>
                                          </p:cBhvr>
                                          <p:tavLst>
                                            <p:tav tm="0">
                                              <p:val>
                                                <p:fltVal val="0"/>
                                              </p:val>
                                            </p:tav>
                                            <p:tav tm="100000">
                                              <p:val>
                                                <p:strVal val="#ppt_h"/>
                                              </p:val>
                                            </p:tav>
                                          </p:tavLst>
                                        </p:anim>
                                      </p:childTnLst>
                                    </p:cTn>
                                  </p:par>
                                  <p:par>
                                    <p:cTn id="20" presetID="6" presetClass="emph" presetSubtype="0" fill="hold" nodeType="withEffect" p14:presetBounceEnd="99000">
                                      <p:stCondLst>
                                        <p:cond delay="0"/>
                                      </p:stCondLst>
                                      <p:childTnLst>
                                        <p:animScale p14:bounceEnd="99000">
                                          <p:cBhvr>
                                            <p:cTn id="21" dur="1000" fill="hold"/>
                                            <p:tgtEl>
                                              <p:spTgt spid="15"/>
                                            </p:tgtEl>
                                          </p:cBhvr>
                                          <p:by x="110000" y="110000"/>
                                        </p:animScale>
                                      </p:childTnLst>
                                    </p:cTn>
                                  </p:par>
                                  <p:par>
                                    <p:cTn id="22" presetID="6" presetClass="emph" presetSubtype="0" accel="50000" decel="50000" fill="hold" nodeType="withEffect">
                                      <p:stCondLst>
                                        <p:cond delay="0"/>
                                      </p:stCondLst>
                                      <p:childTnLst>
                                        <p:animScale>
                                          <p:cBhvr>
                                            <p:cTn id="23" dur="250" fill="hold"/>
                                            <p:tgtEl>
                                              <p:spTgt spid="1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par>
                                    <p:cTn id="16" presetID="23" presetClass="entr" presetSubtype="16"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200" fill="hold"/>
                                            <p:tgtEl>
                                              <p:spTgt spid="15"/>
                                            </p:tgtEl>
                                            <p:attrNameLst>
                                              <p:attrName>ppt_w</p:attrName>
                                            </p:attrNameLst>
                                          </p:cBhvr>
                                          <p:tavLst>
                                            <p:tav tm="0">
                                              <p:val>
                                                <p:fltVal val="0"/>
                                              </p:val>
                                            </p:tav>
                                            <p:tav tm="100000">
                                              <p:val>
                                                <p:strVal val="#ppt_w"/>
                                              </p:val>
                                            </p:tav>
                                          </p:tavLst>
                                        </p:anim>
                                        <p:anim calcmode="lin" valueType="num">
                                          <p:cBhvr>
                                            <p:cTn id="19" dur="200" fill="hold"/>
                                            <p:tgtEl>
                                              <p:spTgt spid="15"/>
                                            </p:tgtEl>
                                            <p:attrNameLst>
                                              <p:attrName>ppt_h</p:attrName>
                                            </p:attrNameLst>
                                          </p:cBhvr>
                                          <p:tavLst>
                                            <p:tav tm="0">
                                              <p:val>
                                                <p:fltVal val="0"/>
                                              </p:val>
                                            </p:tav>
                                            <p:tav tm="100000">
                                              <p:val>
                                                <p:strVal val="#ppt_h"/>
                                              </p:val>
                                            </p:tav>
                                          </p:tavLst>
                                        </p:anim>
                                      </p:childTnLst>
                                    </p:cTn>
                                  </p:par>
                                  <p:par>
                                    <p:cTn id="20" presetID="6" presetClass="emph" presetSubtype="0" fill="hold" nodeType="withEffect">
                                      <p:stCondLst>
                                        <p:cond delay="0"/>
                                      </p:stCondLst>
                                      <p:childTnLst>
                                        <p:animScale>
                                          <p:cBhvr>
                                            <p:cTn id="21" dur="1000" fill="hold"/>
                                            <p:tgtEl>
                                              <p:spTgt spid="15"/>
                                            </p:tgtEl>
                                          </p:cBhvr>
                                          <p:by x="110000" y="110000"/>
                                        </p:animScale>
                                      </p:childTnLst>
                                    </p:cTn>
                                  </p:par>
                                  <p:par>
                                    <p:cTn id="22" presetID="6" presetClass="emph" presetSubtype="0" accel="50000" decel="50000" fill="hold" nodeType="withEffect">
                                      <p:stCondLst>
                                        <p:cond delay="0"/>
                                      </p:stCondLst>
                                      <p:childTnLst>
                                        <p:animScale>
                                          <p:cBhvr>
                                            <p:cTn id="23" dur="250" fill="hold"/>
                                            <p:tgtEl>
                                              <p:spTgt spid="1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13</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2.4 Next.js Framework</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p:txBody>
          <a:bodyPr/>
          <a:lstStyle/>
          <a:p>
            <a:r>
              <a:rPr lang="vi-VN" b="1" dirty="0"/>
              <a:t>Kiến trúc và nguyên lý hoạt động:</a:t>
            </a:r>
          </a:p>
          <a:p>
            <a:pPr marL="285750" indent="-285750">
              <a:buFont typeface="Arial" panose="020B0604020202020204" pitchFamily="34" charset="0"/>
              <a:buChar char="•"/>
            </a:pPr>
            <a:r>
              <a:rPr lang="vi-VN" dirty="0"/>
              <a:t>Sử dụng kiến trúc kết hợp linh hoạt giữa SSR và CSR</a:t>
            </a:r>
          </a:p>
          <a:p>
            <a:pPr marL="285750" indent="-285750">
              <a:buFont typeface="Arial" panose="020B0604020202020204" pitchFamily="34" charset="0"/>
              <a:buChar char="•"/>
            </a:pPr>
            <a:r>
              <a:rPr lang="vi-VN" dirty="0"/>
              <a:t>Tập trung vào phát triển tính năng thay vì cấu hình cơ bản</a:t>
            </a:r>
            <a:endParaRPr lang="en-US" dirty="0"/>
          </a:p>
        </p:txBody>
      </p:sp>
      <p:pic>
        <p:nvPicPr>
          <p:cNvPr id="15" name="Graphic 14">
            <a:extLst>
              <a:ext uri="{FF2B5EF4-FFF2-40B4-BE49-F238E27FC236}">
                <a16:creationId xmlns:a16="http://schemas.microsoft.com/office/drawing/2014/main" id="{E7F006CA-7DB2-0311-5638-829A596A72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25615" y="1866899"/>
            <a:ext cx="3569970" cy="3569970"/>
          </a:xfrm>
          <a:prstGeom prst="rect">
            <a:avLst/>
          </a:prstGeom>
        </p:spPr>
      </p:pic>
    </p:spTree>
    <p:extLst>
      <p:ext uri="{BB962C8B-B14F-4D97-AF65-F5344CB8AC3E}">
        <p14:creationId xmlns:p14="http://schemas.microsoft.com/office/powerpoint/2010/main" val="176121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9"/>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14</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2.4 Next.js Framework</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a:xfrm>
            <a:off x="838200" y="2277392"/>
            <a:ext cx="5257800" cy="3057277"/>
          </a:xfrm>
        </p:spPr>
        <p:txBody>
          <a:bodyPr/>
          <a:lstStyle/>
          <a:p>
            <a:r>
              <a:rPr lang="vi-VN" b="1" dirty="0"/>
              <a:t>Các tính năng chính:</a:t>
            </a:r>
            <a:endParaRPr lang="en-US" b="1" dirty="0"/>
          </a:p>
          <a:p>
            <a:pPr marL="285750" indent="-285750">
              <a:buFont typeface="Wingdings" panose="05000000000000000000" pitchFamily="2" charset="2"/>
              <a:buChar char="§"/>
            </a:pPr>
            <a:r>
              <a:rPr lang="vi-VN" dirty="0"/>
              <a:t>Server-</a:t>
            </a:r>
            <a:r>
              <a:rPr lang="vi-VN" dirty="0" err="1"/>
              <a:t>Side</a:t>
            </a:r>
            <a:r>
              <a:rPr lang="vi-VN" dirty="0"/>
              <a:t> </a:t>
            </a:r>
            <a:r>
              <a:rPr lang="vi-VN" dirty="0" err="1"/>
              <a:t>Rendering</a:t>
            </a:r>
            <a:r>
              <a:rPr lang="vi-VN" dirty="0"/>
              <a:t> (SSR)</a:t>
            </a:r>
            <a:endParaRPr lang="en-US" dirty="0"/>
          </a:p>
          <a:p>
            <a:pPr marL="285750" indent="-285750">
              <a:buFont typeface="Wingdings" panose="05000000000000000000" pitchFamily="2" charset="2"/>
              <a:buChar char="§"/>
            </a:pPr>
            <a:r>
              <a:rPr lang="vi-VN" dirty="0" err="1"/>
              <a:t>Static</a:t>
            </a:r>
            <a:r>
              <a:rPr lang="vi-VN" dirty="0"/>
              <a:t> </a:t>
            </a:r>
            <a:r>
              <a:rPr lang="vi-VN" dirty="0" err="1"/>
              <a:t>Site</a:t>
            </a:r>
            <a:r>
              <a:rPr lang="vi-VN" dirty="0"/>
              <a:t> </a:t>
            </a:r>
            <a:r>
              <a:rPr lang="vi-VN" dirty="0" err="1"/>
              <a:t>Generation</a:t>
            </a:r>
            <a:r>
              <a:rPr lang="vi-VN" dirty="0"/>
              <a:t> (SSG)</a:t>
            </a:r>
            <a:endParaRPr lang="en-US" dirty="0"/>
          </a:p>
          <a:p>
            <a:pPr marL="285750" indent="-285750">
              <a:buFont typeface="Wingdings" panose="05000000000000000000" pitchFamily="2" charset="2"/>
              <a:buChar char="§"/>
            </a:pPr>
            <a:r>
              <a:rPr lang="vi-VN" dirty="0" err="1"/>
              <a:t>Client-Side</a:t>
            </a:r>
            <a:r>
              <a:rPr lang="vi-VN" dirty="0"/>
              <a:t> </a:t>
            </a:r>
            <a:r>
              <a:rPr lang="vi-VN" dirty="0" err="1"/>
              <a:t>Rendering</a:t>
            </a:r>
            <a:r>
              <a:rPr lang="vi-VN" dirty="0"/>
              <a:t> (CSR)</a:t>
            </a:r>
          </a:p>
          <a:p>
            <a:pPr marL="285750" indent="-285750">
              <a:buFont typeface="Wingdings" panose="05000000000000000000" pitchFamily="2" charset="2"/>
              <a:buChar char="§"/>
            </a:pPr>
            <a:r>
              <a:rPr lang="vi-VN" dirty="0" err="1"/>
              <a:t>File-system</a:t>
            </a:r>
            <a:r>
              <a:rPr lang="vi-VN" dirty="0"/>
              <a:t> </a:t>
            </a:r>
            <a:r>
              <a:rPr lang="vi-VN" dirty="0" err="1"/>
              <a:t>Routing</a:t>
            </a:r>
            <a:endParaRPr lang="vi-VN" dirty="0"/>
          </a:p>
          <a:p>
            <a:pPr marL="285750" indent="-285750">
              <a:buFont typeface="Wingdings" panose="05000000000000000000" pitchFamily="2" charset="2"/>
              <a:buChar char="§"/>
            </a:pPr>
            <a:r>
              <a:rPr lang="vi-VN" dirty="0" err="1"/>
              <a:t>Dynamic</a:t>
            </a:r>
            <a:r>
              <a:rPr lang="vi-VN" dirty="0"/>
              <a:t> </a:t>
            </a:r>
            <a:r>
              <a:rPr lang="vi-VN" dirty="0" err="1"/>
              <a:t>Routes</a:t>
            </a:r>
            <a:endParaRPr lang="vi-VN" dirty="0"/>
          </a:p>
        </p:txBody>
      </p:sp>
      <p:pic>
        <p:nvPicPr>
          <p:cNvPr id="2052" name="Picture 4" descr="An example folder structure using route groups">
            <a:extLst>
              <a:ext uri="{FF2B5EF4-FFF2-40B4-BE49-F238E27FC236}">
                <a16:creationId xmlns:a16="http://schemas.microsoft.com/office/drawing/2014/main" id="{FD2E5CC8-00E8-CCCC-B6C4-305AC1474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0060" y="1523331"/>
            <a:ext cx="7063740" cy="381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07224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42" presetClass="path" presetSubtype="0" decel="100000" fill="hold" grpId="1" nodeType="withEffect">
                                      <p:stCondLst>
                                        <p:cond delay="0"/>
                                      </p:stCondLst>
                                      <p:childTnLst>
                                        <p:animMotion origin="layout" path="M -0.01719 -0.00023 L 5E-6 -1.11111E-6 " pathEditMode="relative" rAng="0" ptsTypes="AA">
                                          <p:cBhvr>
                                            <p:cTn id="9" dur="500" fill="hold"/>
                                            <p:tgtEl>
                                              <p:spTgt spid="9"/>
                                            </p:tgtEl>
                                            <p:attrNameLst>
                                              <p:attrName>ppt_x</p:attrName>
                                              <p:attrName>ppt_y</p:attrName>
                                            </p:attrNameLst>
                                          </p:cBhvr>
                                          <p:rCtr x="859" y="0"/>
                                        </p:animMotion>
                                      </p:childTnLst>
                                    </p:cTn>
                                  </p:par>
                                </p:childTnLst>
                              </p:cTn>
                            </p:par>
                            <p:par>
                              <p:cTn id="10" fill="hold">
                                <p:stCondLst>
                                  <p:cond delay="500"/>
                                </p:stCondLst>
                                <p:childTnLst>
                                  <p:par>
                                    <p:cTn id="11" presetID="23" presetClass="entr" presetSubtype="16" fill="hold" nodeType="afterEffect">
                                      <p:stCondLst>
                                        <p:cond delay="0"/>
                                      </p:stCondLst>
                                      <p:childTnLst>
                                        <p:set>
                                          <p:cBhvr>
                                            <p:cTn id="12" dur="1" fill="hold">
                                              <p:stCondLst>
                                                <p:cond delay="0"/>
                                              </p:stCondLst>
                                            </p:cTn>
                                            <p:tgtEl>
                                              <p:spTgt spid="2052"/>
                                            </p:tgtEl>
                                            <p:attrNameLst>
                                              <p:attrName>style.visibility</p:attrName>
                                            </p:attrNameLst>
                                          </p:cBhvr>
                                          <p:to>
                                            <p:strVal val="visible"/>
                                          </p:to>
                                        </p:set>
                                        <p:anim calcmode="lin" valueType="num">
                                          <p:cBhvr>
                                            <p:cTn id="13" dur="200" fill="hold"/>
                                            <p:tgtEl>
                                              <p:spTgt spid="2052"/>
                                            </p:tgtEl>
                                            <p:attrNameLst>
                                              <p:attrName>ppt_w</p:attrName>
                                            </p:attrNameLst>
                                          </p:cBhvr>
                                          <p:tavLst>
                                            <p:tav tm="0">
                                              <p:val>
                                                <p:fltVal val="0"/>
                                              </p:val>
                                            </p:tav>
                                            <p:tav tm="100000">
                                              <p:val>
                                                <p:strVal val="#ppt_w"/>
                                              </p:val>
                                            </p:tav>
                                          </p:tavLst>
                                        </p:anim>
                                        <p:anim calcmode="lin" valueType="num">
                                          <p:cBhvr>
                                            <p:cTn id="14" dur="200" fill="hold"/>
                                            <p:tgtEl>
                                              <p:spTgt spid="2052"/>
                                            </p:tgtEl>
                                            <p:attrNameLst>
                                              <p:attrName>ppt_h</p:attrName>
                                            </p:attrNameLst>
                                          </p:cBhvr>
                                          <p:tavLst>
                                            <p:tav tm="0">
                                              <p:val>
                                                <p:fltVal val="0"/>
                                              </p:val>
                                            </p:tav>
                                            <p:tav tm="100000">
                                              <p:val>
                                                <p:strVal val="#ppt_h"/>
                                              </p:val>
                                            </p:tav>
                                          </p:tavLst>
                                        </p:anim>
                                      </p:childTnLst>
                                    </p:cTn>
                                  </p:par>
                                  <p:par>
                                    <p:cTn id="15" presetID="6" presetClass="emph" presetSubtype="0" fill="hold" nodeType="withEffect" p14:presetBounceEnd="99000">
                                      <p:stCondLst>
                                        <p:cond delay="0"/>
                                      </p:stCondLst>
                                      <p:childTnLst>
                                        <p:animScale p14:bounceEnd="99000">
                                          <p:cBhvr>
                                            <p:cTn id="16" dur="1000" fill="hold"/>
                                            <p:tgtEl>
                                              <p:spTgt spid="2052"/>
                                            </p:tgtEl>
                                          </p:cBhvr>
                                          <p:by x="110000" y="110000"/>
                                        </p:animScale>
                                      </p:childTnLst>
                                    </p:cTn>
                                  </p:par>
                                  <p:par>
                                    <p:cTn id="17" presetID="6" presetClass="emph" presetSubtype="0" accel="50000" decel="50000" fill="hold" nodeType="withEffect">
                                      <p:stCondLst>
                                        <p:cond delay="0"/>
                                      </p:stCondLst>
                                      <p:childTnLst>
                                        <p:animScale>
                                          <p:cBhvr>
                                            <p:cTn id="18" dur="250" fill="hold"/>
                                            <p:tgtEl>
                                              <p:spTgt spid="2052"/>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42" presetClass="path" presetSubtype="0" decel="100000" fill="hold" grpId="1" nodeType="withEffect">
                                      <p:stCondLst>
                                        <p:cond delay="0"/>
                                      </p:stCondLst>
                                      <p:childTnLst>
                                        <p:animMotion origin="layout" path="M -0.01719 -0.00023 L 5E-6 -1.11111E-6 " pathEditMode="relative" rAng="0" ptsTypes="AA">
                                          <p:cBhvr>
                                            <p:cTn id="9" dur="500" fill="hold"/>
                                            <p:tgtEl>
                                              <p:spTgt spid="9"/>
                                            </p:tgtEl>
                                            <p:attrNameLst>
                                              <p:attrName>ppt_x</p:attrName>
                                              <p:attrName>ppt_y</p:attrName>
                                            </p:attrNameLst>
                                          </p:cBhvr>
                                          <p:rCtr x="859" y="0"/>
                                        </p:animMotion>
                                      </p:childTnLst>
                                    </p:cTn>
                                  </p:par>
                                </p:childTnLst>
                              </p:cTn>
                            </p:par>
                            <p:par>
                              <p:cTn id="10" fill="hold">
                                <p:stCondLst>
                                  <p:cond delay="500"/>
                                </p:stCondLst>
                                <p:childTnLst>
                                  <p:par>
                                    <p:cTn id="11" presetID="23" presetClass="entr" presetSubtype="16" fill="hold" nodeType="afterEffect">
                                      <p:stCondLst>
                                        <p:cond delay="0"/>
                                      </p:stCondLst>
                                      <p:childTnLst>
                                        <p:set>
                                          <p:cBhvr>
                                            <p:cTn id="12" dur="1" fill="hold">
                                              <p:stCondLst>
                                                <p:cond delay="0"/>
                                              </p:stCondLst>
                                            </p:cTn>
                                            <p:tgtEl>
                                              <p:spTgt spid="2052"/>
                                            </p:tgtEl>
                                            <p:attrNameLst>
                                              <p:attrName>style.visibility</p:attrName>
                                            </p:attrNameLst>
                                          </p:cBhvr>
                                          <p:to>
                                            <p:strVal val="visible"/>
                                          </p:to>
                                        </p:set>
                                        <p:anim calcmode="lin" valueType="num">
                                          <p:cBhvr>
                                            <p:cTn id="13" dur="200" fill="hold"/>
                                            <p:tgtEl>
                                              <p:spTgt spid="2052"/>
                                            </p:tgtEl>
                                            <p:attrNameLst>
                                              <p:attrName>ppt_w</p:attrName>
                                            </p:attrNameLst>
                                          </p:cBhvr>
                                          <p:tavLst>
                                            <p:tav tm="0">
                                              <p:val>
                                                <p:fltVal val="0"/>
                                              </p:val>
                                            </p:tav>
                                            <p:tav tm="100000">
                                              <p:val>
                                                <p:strVal val="#ppt_w"/>
                                              </p:val>
                                            </p:tav>
                                          </p:tavLst>
                                        </p:anim>
                                        <p:anim calcmode="lin" valueType="num">
                                          <p:cBhvr>
                                            <p:cTn id="14" dur="200" fill="hold"/>
                                            <p:tgtEl>
                                              <p:spTgt spid="2052"/>
                                            </p:tgtEl>
                                            <p:attrNameLst>
                                              <p:attrName>ppt_h</p:attrName>
                                            </p:attrNameLst>
                                          </p:cBhvr>
                                          <p:tavLst>
                                            <p:tav tm="0">
                                              <p:val>
                                                <p:fltVal val="0"/>
                                              </p:val>
                                            </p:tav>
                                            <p:tav tm="100000">
                                              <p:val>
                                                <p:strVal val="#ppt_h"/>
                                              </p:val>
                                            </p:tav>
                                          </p:tavLst>
                                        </p:anim>
                                      </p:childTnLst>
                                    </p:cTn>
                                  </p:par>
                                  <p:par>
                                    <p:cTn id="15" presetID="6" presetClass="emph" presetSubtype="0" fill="hold" nodeType="withEffect">
                                      <p:stCondLst>
                                        <p:cond delay="0"/>
                                      </p:stCondLst>
                                      <p:childTnLst>
                                        <p:animScale>
                                          <p:cBhvr>
                                            <p:cTn id="16" dur="1000" fill="hold"/>
                                            <p:tgtEl>
                                              <p:spTgt spid="2052"/>
                                            </p:tgtEl>
                                          </p:cBhvr>
                                          <p:by x="110000" y="110000"/>
                                        </p:animScale>
                                      </p:childTnLst>
                                    </p:cTn>
                                  </p:par>
                                  <p:par>
                                    <p:cTn id="17" presetID="6" presetClass="emph" presetSubtype="0" accel="50000" decel="50000" fill="hold" nodeType="withEffect">
                                      <p:stCondLst>
                                        <p:cond delay="0"/>
                                      </p:stCondLst>
                                      <p:childTnLst>
                                        <p:animScale>
                                          <p:cBhvr>
                                            <p:cTn id="18" dur="250" fill="hold"/>
                                            <p:tgtEl>
                                              <p:spTgt spid="2052"/>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15</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2.5 </a:t>
            </a:r>
            <a:r>
              <a:rPr lang="en-US" dirty="0" err="1"/>
              <a:t>FastAPI</a:t>
            </a:r>
            <a:r>
              <a:rPr lang="en-US" dirty="0"/>
              <a:t> Framework</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p:txBody>
          <a:bodyPr/>
          <a:lstStyle/>
          <a:p>
            <a:pPr marL="285750" indent="-285750">
              <a:buFont typeface="Wingdings" panose="05000000000000000000" pitchFamily="2" charset="2"/>
              <a:buChar char="§"/>
            </a:pPr>
            <a:r>
              <a:rPr lang="en-US" dirty="0"/>
              <a:t>Framework web </a:t>
            </a:r>
            <a:r>
              <a:rPr lang="en-US" dirty="0" err="1"/>
              <a:t>hiện</a:t>
            </a:r>
            <a:r>
              <a:rPr lang="en-US" dirty="0"/>
              <a:t> </a:t>
            </a:r>
            <a:r>
              <a:rPr lang="en-US" dirty="0" err="1"/>
              <a:t>đại</a:t>
            </a:r>
            <a:r>
              <a:rPr lang="en-US" dirty="0"/>
              <a:t>, </a:t>
            </a:r>
            <a:r>
              <a:rPr lang="en-US" dirty="0" err="1"/>
              <a:t>nhanh</a:t>
            </a:r>
            <a:r>
              <a:rPr lang="en-US" dirty="0"/>
              <a:t> </a:t>
            </a:r>
            <a:r>
              <a:rPr lang="en-US" dirty="0" err="1"/>
              <a:t>chóng</a:t>
            </a:r>
            <a:r>
              <a:rPr lang="en-US" dirty="0"/>
              <a:t> </a:t>
            </a:r>
            <a:r>
              <a:rPr lang="en-US" dirty="0" err="1"/>
              <a:t>và</a:t>
            </a:r>
            <a:r>
              <a:rPr lang="en-US" dirty="0"/>
              <a:t> </a:t>
            </a:r>
            <a:r>
              <a:rPr lang="en-US" dirty="0" err="1"/>
              <a:t>hiệu</a:t>
            </a:r>
            <a:r>
              <a:rPr lang="en-US" dirty="0"/>
              <a:t> </a:t>
            </a:r>
            <a:r>
              <a:rPr lang="en-US" dirty="0" err="1"/>
              <a:t>quả</a:t>
            </a:r>
            <a:r>
              <a:rPr lang="en-US" dirty="0"/>
              <a:t> </a:t>
            </a:r>
            <a:r>
              <a:rPr lang="en-US" dirty="0" err="1"/>
              <a:t>cho</a:t>
            </a:r>
            <a:r>
              <a:rPr lang="en-US" dirty="0"/>
              <a:t> Python</a:t>
            </a:r>
          </a:p>
          <a:p>
            <a:pPr marL="285750" indent="-285750">
              <a:buFont typeface="Wingdings" panose="05000000000000000000" pitchFamily="2" charset="2"/>
              <a:buChar char="§"/>
            </a:pPr>
            <a:r>
              <a:rPr lang="en-US" dirty="0" err="1"/>
              <a:t>Sử</a:t>
            </a:r>
            <a:r>
              <a:rPr lang="en-US" dirty="0"/>
              <a:t> </a:t>
            </a:r>
            <a:r>
              <a:rPr lang="en-US" dirty="0" err="1"/>
              <a:t>dụng</a:t>
            </a:r>
            <a:r>
              <a:rPr lang="en-US" dirty="0"/>
              <a:t> type hints </a:t>
            </a:r>
            <a:r>
              <a:rPr lang="en-US" dirty="0" err="1"/>
              <a:t>tiêu</a:t>
            </a:r>
            <a:r>
              <a:rPr lang="en-US" dirty="0"/>
              <a:t> </a:t>
            </a:r>
            <a:r>
              <a:rPr lang="en-US" dirty="0" err="1"/>
              <a:t>chuẩn</a:t>
            </a:r>
            <a:r>
              <a:rPr lang="en-US" dirty="0"/>
              <a:t> Python </a:t>
            </a:r>
            <a:r>
              <a:rPr lang="en-US" dirty="0" err="1"/>
              <a:t>kết</a:t>
            </a:r>
            <a:r>
              <a:rPr lang="en-US" dirty="0"/>
              <a:t> </a:t>
            </a:r>
            <a:r>
              <a:rPr lang="en-US" dirty="0" err="1"/>
              <a:t>hợp</a:t>
            </a:r>
            <a:r>
              <a:rPr lang="en-US" dirty="0"/>
              <a:t> </a:t>
            </a:r>
            <a:r>
              <a:rPr lang="en-US" dirty="0" err="1"/>
              <a:t>với</a:t>
            </a:r>
            <a:r>
              <a:rPr lang="en-US" dirty="0"/>
              <a:t> </a:t>
            </a:r>
            <a:r>
              <a:rPr lang="en-US" dirty="0" err="1"/>
              <a:t>Pydantic</a:t>
            </a:r>
            <a:r>
              <a:rPr lang="en-US" dirty="0"/>
              <a:t> </a:t>
            </a:r>
            <a:r>
              <a:rPr lang="en-US" dirty="0" err="1"/>
              <a:t>để</a:t>
            </a:r>
            <a:r>
              <a:rPr lang="en-US" dirty="0"/>
              <a:t> </a:t>
            </a:r>
            <a:r>
              <a:rPr lang="en-US" dirty="0" err="1"/>
              <a:t>xác</a:t>
            </a:r>
            <a:r>
              <a:rPr lang="en-US" dirty="0"/>
              <a:t> </a:t>
            </a:r>
            <a:r>
              <a:rPr lang="en-US" dirty="0" err="1"/>
              <a:t>thực</a:t>
            </a:r>
            <a:r>
              <a:rPr lang="en-US" dirty="0"/>
              <a:t> </a:t>
            </a:r>
            <a:r>
              <a:rPr lang="en-US" dirty="0" err="1"/>
              <a:t>dữ</a:t>
            </a:r>
            <a:r>
              <a:rPr lang="en-US" dirty="0"/>
              <a:t> </a:t>
            </a:r>
            <a:r>
              <a:rPr lang="en-US" dirty="0" err="1"/>
              <a:t>liệu</a:t>
            </a:r>
            <a:r>
              <a:rPr lang="en-US" dirty="0"/>
              <a:t> </a:t>
            </a:r>
            <a:r>
              <a:rPr lang="en-US" dirty="0" err="1"/>
              <a:t>tự</a:t>
            </a:r>
            <a:r>
              <a:rPr lang="en-US" dirty="0"/>
              <a:t> </a:t>
            </a:r>
            <a:r>
              <a:rPr lang="en-US" dirty="0" err="1"/>
              <a:t>động</a:t>
            </a:r>
            <a:endParaRPr lang="en-US" dirty="0"/>
          </a:p>
          <a:p>
            <a:pPr marL="285750" indent="-285750">
              <a:buFont typeface="Wingdings" panose="05000000000000000000" pitchFamily="2" charset="2"/>
              <a:buChar char="§"/>
            </a:pPr>
            <a:r>
              <a:rPr lang="en-US" dirty="0" err="1"/>
              <a:t>Giúp</a:t>
            </a:r>
            <a:r>
              <a:rPr lang="en-US" dirty="0"/>
              <a:t> </a:t>
            </a:r>
            <a:r>
              <a:rPr lang="en-US" dirty="0" err="1"/>
              <a:t>tránh</a:t>
            </a:r>
            <a:r>
              <a:rPr lang="en-US" dirty="0"/>
              <a:t> </a:t>
            </a:r>
            <a:r>
              <a:rPr lang="en-US" dirty="0" err="1"/>
              <a:t>lỗi</a:t>
            </a:r>
            <a:r>
              <a:rPr lang="en-US" dirty="0"/>
              <a:t> </a:t>
            </a:r>
            <a:r>
              <a:rPr lang="en-US" dirty="0" err="1"/>
              <a:t>ngay</a:t>
            </a:r>
            <a:r>
              <a:rPr lang="en-US" dirty="0"/>
              <a:t> </a:t>
            </a:r>
            <a:r>
              <a:rPr lang="en-US" dirty="0" err="1"/>
              <a:t>từ</a:t>
            </a:r>
            <a:r>
              <a:rPr lang="en-US" dirty="0"/>
              <a:t> </a:t>
            </a:r>
            <a:r>
              <a:rPr lang="en-US" dirty="0" err="1"/>
              <a:t>giai</a:t>
            </a:r>
            <a:r>
              <a:rPr lang="en-US" dirty="0"/>
              <a:t> </a:t>
            </a:r>
            <a:r>
              <a:rPr lang="en-US" dirty="0" err="1"/>
              <a:t>đoạn</a:t>
            </a:r>
            <a:r>
              <a:rPr lang="en-US" dirty="0"/>
              <a:t> </a:t>
            </a:r>
            <a:r>
              <a:rPr lang="en-US" dirty="0" err="1"/>
              <a:t>biên</a:t>
            </a:r>
            <a:r>
              <a:rPr lang="en-US" dirty="0"/>
              <a:t> </a:t>
            </a:r>
            <a:r>
              <a:rPr lang="en-US" dirty="0" err="1"/>
              <a:t>dịch</a:t>
            </a:r>
            <a:r>
              <a:rPr lang="en-US" dirty="0"/>
              <a:t> </a:t>
            </a:r>
            <a:r>
              <a:rPr lang="en-US" dirty="0" err="1"/>
              <a:t>thay</a:t>
            </a:r>
            <a:r>
              <a:rPr lang="en-US" dirty="0"/>
              <a:t> </a:t>
            </a:r>
            <a:r>
              <a:rPr lang="en-US" dirty="0" err="1"/>
              <a:t>vì</a:t>
            </a:r>
            <a:r>
              <a:rPr lang="en-US" dirty="0"/>
              <a:t> runtime</a:t>
            </a:r>
          </a:p>
        </p:txBody>
      </p:sp>
      <p:pic>
        <p:nvPicPr>
          <p:cNvPr id="5" name="Graphic 4">
            <a:extLst>
              <a:ext uri="{FF2B5EF4-FFF2-40B4-BE49-F238E27FC236}">
                <a16:creationId xmlns:a16="http://schemas.microsoft.com/office/drawing/2014/main" id="{F7A54370-C3B7-F7B6-3C3E-B67F38CC9A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71360" y="2019141"/>
            <a:ext cx="3573780" cy="3573780"/>
          </a:xfrm>
          <a:prstGeom prst="rect">
            <a:avLst/>
          </a:prstGeom>
        </p:spPr>
      </p:pic>
    </p:spTree>
    <p:extLst>
      <p:ext uri="{BB962C8B-B14F-4D97-AF65-F5344CB8AC3E}">
        <p14:creationId xmlns:p14="http://schemas.microsoft.com/office/powerpoint/2010/main" val="253765022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par>
                                    <p:cTn id="16" presetID="23"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200" fill="hold"/>
                                            <p:tgtEl>
                                              <p:spTgt spid="5"/>
                                            </p:tgtEl>
                                            <p:attrNameLst>
                                              <p:attrName>ppt_w</p:attrName>
                                            </p:attrNameLst>
                                          </p:cBhvr>
                                          <p:tavLst>
                                            <p:tav tm="0">
                                              <p:val>
                                                <p:fltVal val="0"/>
                                              </p:val>
                                            </p:tav>
                                            <p:tav tm="100000">
                                              <p:val>
                                                <p:strVal val="#ppt_w"/>
                                              </p:val>
                                            </p:tav>
                                          </p:tavLst>
                                        </p:anim>
                                        <p:anim calcmode="lin" valueType="num">
                                          <p:cBhvr>
                                            <p:cTn id="19" dur="200" fill="hold"/>
                                            <p:tgtEl>
                                              <p:spTgt spid="5"/>
                                            </p:tgtEl>
                                            <p:attrNameLst>
                                              <p:attrName>ppt_h</p:attrName>
                                            </p:attrNameLst>
                                          </p:cBhvr>
                                          <p:tavLst>
                                            <p:tav tm="0">
                                              <p:val>
                                                <p:fltVal val="0"/>
                                              </p:val>
                                            </p:tav>
                                            <p:tav tm="100000">
                                              <p:val>
                                                <p:strVal val="#ppt_h"/>
                                              </p:val>
                                            </p:tav>
                                          </p:tavLst>
                                        </p:anim>
                                      </p:childTnLst>
                                    </p:cTn>
                                  </p:par>
                                  <p:par>
                                    <p:cTn id="20" presetID="6" presetClass="emph" presetSubtype="0" fill="hold" nodeType="withEffect" p14:presetBounceEnd="99000">
                                      <p:stCondLst>
                                        <p:cond delay="0"/>
                                      </p:stCondLst>
                                      <p:childTnLst>
                                        <p:animScale p14:bounceEnd="99000">
                                          <p:cBhvr>
                                            <p:cTn id="21" dur="1000" fill="hold"/>
                                            <p:tgtEl>
                                              <p:spTgt spid="5"/>
                                            </p:tgtEl>
                                          </p:cBhvr>
                                          <p:by x="110000" y="110000"/>
                                        </p:animScale>
                                      </p:childTnLst>
                                    </p:cTn>
                                  </p:par>
                                  <p:par>
                                    <p:cTn id="22" presetID="6" presetClass="emph" presetSubtype="0" accel="50000" decel="50000" fill="hold" nodeType="withEffect">
                                      <p:stCondLst>
                                        <p:cond delay="0"/>
                                      </p:stCondLst>
                                      <p:childTnLst>
                                        <p:animScale>
                                          <p:cBhvr>
                                            <p:cTn id="23" dur="250" fill="hold"/>
                                            <p:tgtEl>
                                              <p:spTgt spid="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par>
                                    <p:cTn id="16" presetID="23"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200" fill="hold"/>
                                            <p:tgtEl>
                                              <p:spTgt spid="5"/>
                                            </p:tgtEl>
                                            <p:attrNameLst>
                                              <p:attrName>ppt_w</p:attrName>
                                            </p:attrNameLst>
                                          </p:cBhvr>
                                          <p:tavLst>
                                            <p:tav tm="0">
                                              <p:val>
                                                <p:fltVal val="0"/>
                                              </p:val>
                                            </p:tav>
                                            <p:tav tm="100000">
                                              <p:val>
                                                <p:strVal val="#ppt_w"/>
                                              </p:val>
                                            </p:tav>
                                          </p:tavLst>
                                        </p:anim>
                                        <p:anim calcmode="lin" valueType="num">
                                          <p:cBhvr>
                                            <p:cTn id="19" dur="200" fill="hold"/>
                                            <p:tgtEl>
                                              <p:spTgt spid="5"/>
                                            </p:tgtEl>
                                            <p:attrNameLst>
                                              <p:attrName>ppt_h</p:attrName>
                                            </p:attrNameLst>
                                          </p:cBhvr>
                                          <p:tavLst>
                                            <p:tav tm="0">
                                              <p:val>
                                                <p:fltVal val="0"/>
                                              </p:val>
                                            </p:tav>
                                            <p:tav tm="100000">
                                              <p:val>
                                                <p:strVal val="#ppt_h"/>
                                              </p:val>
                                            </p:tav>
                                          </p:tavLst>
                                        </p:anim>
                                      </p:childTnLst>
                                    </p:cTn>
                                  </p:par>
                                  <p:par>
                                    <p:cTn id="20" presetID="6" presetClass="emph" presetSubtype="0" fill="hold" nodeType="withEffect">
                                      <p:stCondLst>
                                        <p:cond delay="0"/>
                                      </p:stCondLst>
                                      <p:childTnLst>
                                        <p:animScale>
                                          <p:cBhvr>
                                            <p:cTn id="21" dur="1000" fill="hold"/>
                                            <p:tgtEl>
                                              <p:spTgt spid="5"/>
                                            </p:tgtEl>
                                          </p:cBhvr>
                                          <p:by x="110000" y="110000"/>
                                        </p:animScale>
                                      </p:childTnLst>
                                    </p:cTn>
                                  </p:par>
                                  <p:par>
                                    <p:cTn id="22" presetID="6" presetClass="emph" presetSubtype="0" accel="50000" decel="50000" fill="hold" nodeType="withEffect">
                                      <p:stCondLst>
                                        <p:cond delay="0"/>
                                      </p:stCondLst>
                                      <p:childTnLst>
                                        <p:animScale>
                                          <p:cBhvr>
                                            <p:cTn id="23" dur="250" fill="hold"/>
                                            <p:tgtEl>
                                              <p:spTgt spid="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16</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2.6 Google Gemini AI</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p:txBody>
          <a:bodyPr/>
          <a:lstStyle/>
          <a:p>
            <a:pPr marL="285750" indent="-285750">
              <a:buFont typeface="Wingdings" panose="05000000000000000000" pitchFamily="2" charset="2"/>
              <a:buChar char="q"/>
            </a:pPr>
            <a:r>
              <a:rPr lang="vi-VN" b="1" dirty="0"/>
              <a:t>Phương pháp tiếp cận:</a:t>
            </a:r>
          </a:p>
          <a:p>
            <a:pPr marL="285750" indent="-285750">
              <a:buFont typeface="Wingdings" panose="05000000000000000000" pitchFamily="2" charset="2"/>
              <a:buChar char="§"/>
            </a:pPr>
            <a:r>
              <a:rPr lang="vi-VN" dirty="0"/>
              <a:t>Kết hợp sức mạnh mô hình ngôn ngữ lớn với khả năng phân tích kỹ thuật chuyên sâu</a:t>
            </a:r>
          </a:p>
          <a:p>
            <a:pPr marL="285750" indent="-285750">
              <a:buFont typeface="Wingdings" panose="05000000000000000000" pitchFamily="2" charset="2"/>
              <a:buChar char="§"/>
            </a:pPr>
            <a:r>
              <a:rPr lang="vi-VN" dirty="0"/>
              <a:t>Được thiết kế như hệ thống chuyên gia có khả năng đánh giá mã nguồn từ góc độ lập trình viên có kinh nghiệm</a:t>
            </a:r>
          </a:p>
          <a:p>
            <a:pPr marL="285750" indent="-285750">
              <a:buFont typeface="Wingdings" panose="05000000000000000000" pitchFamily="2" charset="2"/>
              <a:buChar char="§"/>
            </a:pPr>
            <a:r>
              <a:rPr lang="vi-VN" dirty="0"/>
              <a:t>Sử dụng </a:t>
            </a:r>
            <a:r>
              <a:rPr lang="vi-VN" dirty="0" err="1"/>
              <a:t>prompt</a:t>
            </a:r>
            <a:r>
              <a:rPr lang="vi-VN" dirty="0"/>
              <a:t> </a:t>
            </a:r>
            <a:r>
              <a:rPr lang="vi-VN" dirty="0" err="1"/>
              <a:t>engineering</a:t>
            </a:r>
            <a:r>
              <a:rPr lang="vi-VN" dirty="0"/>
              <a:t> chi tiết với cấu trúc MDX để </a:t>
            </a:r>
            <a:r>
              <a:rPr lang="vi-VN" dirty="0" err="1"/>
              <a:t>output</a:t>
            </a:r>
            <a:endParaRPr lang="en-US" dirty="0"/>
          </a:p>
        </p:txBody>
      </p:sp>
      <p:grpSp>
        <p:nvGrpSpPr>
          <p:cNvPr id="11" name="Group 10">
            <a:extLst>
              <a:ext uri="{FF2B5EF4-FFF2-40B4-BE49-F238E27FC236}">
                <a16:creationId xmlns:a16="http://schemas.microsoft.com/office/drawing/2014/main" id="{1025CED9-37E3-5805-C859-EE6197E97BAE}"/>
              </a:ext>
            </a:extLst>
          </p:cNvPr>
          <p:cNvGrpSpPr/>
          <p:nvPr/>
        </p:nvGrpSpPr>
        <p:grpSpPr>
          <a:xfrm>
            <a:off x="7240891" y="2328387"/>
            <a:ext cx="3343520" cy="2691522"/>
            <a:chOff x="7507591" y="2054067"/>
            <a:chExt cx="3343520" cy="2691522"/>
          </a:xfrm>
        </p:grpSpPr>
        <p:pic>
          <p:nvPicPr>
            <p:cNvPr id="8" name="Graphic 7">
              <a:extLst>
                <a:ext uri="{FF2B5EF4-FFF2-40B4-BE49-F238E27FC236}">
                  <a16:creationId xmlns:a16="http://schemas.microsoft.com/office/drawing/2014/main" id="{8372936C-ABD8-FBE8-D133-3F5117322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8160" y="2054067"/>
              <a:ext cx="2082382" cy="2096452"/>
            </a:xfrm>
            <a:prstGeom prst="rect">
              <a:avLst/>
            </a:prstGeom>
          </p:spPr>
        </p:pic>
        <p:sp>
          <p:nvSpPr>
            <p:cNvPr id="10" name="TextBox 9">
              <a:extLst>
                <a:ext uri="{FF2B5EF4-FFF2-40B4-BE49-F238E27FC236}">
                  <a16:creationId xmlns:a16="http://schemas.microsoft.com/office/drawing/2014/main" id="{01876675-B684-1823-8394-1BCE8000A617}"/>
                </a:ext>
              </a:extLst>
            </p:cNvPr>
            <p:cNvSpPr txBox="1"/>
            <p:nvPr/>
          </p:nvSpPr>
          <p:spPr>
            <a:xfrm>
              <a:off x="7507591" y="4345479"/>
              <a:ext cx="3343520" cy="400110"/>
            </a:xfrm>
            <a:prstGeom prst="rect">
              <a:avLst/>
            </a:prstGeom>
            <a:noFill/>
          </p:spPr>
          <p:txBody>
            <a:bodyPr wrap="square">
              <a:spAutoFit/>
            </a:bodyPr>
            <a:lstStyle/>
            <a:p>
              <a:pPr algn="ctr"/>
              <a:r>
                <a:rPr lang="en-US" sz="2000" b="1" dirty="0">
                  <a:solidFill>
                    <a:schemeClr val="accent5"/>
                  </a:solidFill>
                  <a:latin typeface="Fz Poppins ExtBd" pitchFamily="2" charset="0"/>
                  <a:cs typeface="Fz Poppins ExtBd" pitchFamily="2" charset="0"/>
                </a:rPr>
                <a:t>GOOGLE GEMINI</a:t>
              </a:r>
              <a:endParaRPr lang="en-US" sz="2000" dirty="0">
                <a:solidFill>
                  <a:schemeClr val="accent5"/>
                </a:solidFill>
              </a:endParaRPr>
            </a:p>
          </p:txBody>
        </p:sp>
      </p:grpSp>
    </p:spTree>
    <p:extLst>
      <p:ext uri="{BB962C8B-B14F-4D97-AF65-F5344CB8AC3E}">
        <p14:creationId xmlns:p14="http://schemas.microsoft.com/office/powerpoint/2010/main" val="382670570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200" fill="hold"/>
                                            <p:tgtEl>
                                              <p:spTgt spid="11"/>
                                            </p:tgtEl>
                                            <p:attrNameLst>
                                              <p:attrName>ppt_w</p:attrName>
                                            </p:attrNameLst>
                                          </p:cBhvr>
                                          <p:tavLst>
                                            <p:tav tm="0">
                                              <p:val>
                                                <p:fltVal val="0"/>
                                              </p:val>
                                            </p:tav>
                                            <p:tav tm="100000">
                                              <p:val>
                                                <p:strVal val="#ppt_w"/>
                                              </p:val>
                                            </p:tav>
                                          </p:tavLst>
                                        </p:anim>
                                        <p:anim calcmode="lin" valueType="num">
                                          <p:cBhvr>
                                            <p:cTn id="20" dur="200" fill="hold"/>
                                            <p:tgtEl>
                                              <p:spTgt spid="11"/>
                                            </p:tgtEl>
                                            <p:attrNameLst>
                                              <p:attrName>ppt_h</p:attrName>
                                            </p:attrNameLst>
                                          </p:cBhvr>
                                          <p:tavLst>
                                            <p:tav tm="0">
                                              <p:val>
                                                <p:fltVal val="0"/>
                                              </p:val>
                                            </p:tav>
                                            <p:tav tm="100000">
                                              <p:val>
                                                <p:strVal val="#ppt_h"/>
                                              </p:val>
                                            </p:tav>
                                          </p:tavLst>
                                        </p:anim>
                                      </p:childTnLst>
                                    </p:cTn>
                                  </p:par>
                                  <p:par>
                                    <p:cTn id="21" presetID="6" presetClass="emph" presetSubtype="0" fill="hold" nodeType="withEffect" p14:presetBounceEnd="99000">
                                      <p:stCondLst>
                                        <p:cond delay="0"/>
                                      </p:stCondLst>
                                      <p:childTnLst>
                                        <p:animScale p14:bounceEnd="99000">
                                          <p:cBhvr>
                                            <p:cTn id="22" dur="1000" fill="hold"/>
                                            <p:tgtEl>
                                              <p:spTgt spid="11"/>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11"/>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9"/>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200" fill="hold"/>
                                            <p:tgtEl>
                                              <p:spTgt spid="11"/>
                                            </p:tgtEl>
                                            <p:attrNameLst>
                                              <p:attrName>ppt_w</p:attrName>
                                            </p:attrNameLst>
                                          </p:cBhvr>
                                          <p:tavLst>
                                            <p:tav tm="0">
                                              <p:val>
                                                <p:fltVal val="0"/>
                                              </p:val>
                                            </p:tav>
                                            <p:tav tm="100000">
                                              <p:val>
                                                <p:strVal val="#ppt_w"/>
                                              </p:val>
                                            </p:tav>
                                          </p:tavLst>
                                        </p:anim>
                                        <p:anim calcmode="lin" valueType="num">
                                          <p:cBhvr>
                                            <p:cTn id="20" dur="200" fill="hold"/>
                                            <p:tgtEl>
                                              <p:spTgt spid="11"/>
                                            </p:tgtEl>
                                            <p:attrNameLst>
                                              <p:attrName>ppt_h</p:attrName>
                                            </p:attrNameLst>
                                          </p:cBhvr>
                                          <p:tavLst>
                                            <p:tav tm="0">
                                              <p:val>
                                                <p:fltVal val="0"/>
                                              </p:val>
                                            </p:tav>
                                            <p:tav tm="100000">
                                              <p:val>
                                                <p:strVal val="#ppt_h"/>
                                              </p:val>
                                            </p:tav>
                                          </p:tavLst>
                                        </p:anim>
                                      </p:childTnLst>
                                    </p:cTn>
                                  </p:par>
                                  <p:par>
                                    <p:cTn id="21" presetID="6" presetClass="emph" presetSubtype="0" fill="hold" nodeType="withEffect">
                                      <p:stCondLst>
                                        <p:cond delay="0"/>
                                      </p:stCondLst>
                                      <p:childTnLst>
                                        <p:animScale>
                                          <p:cBhvr>
                                            <p:cTn id="22" dur="1000" fill="hold"/>
                                            <p:tgtEl>
                                              <p:spTgt spid="11"/>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11"/>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p:bldP spid="9" grpId="1"/>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17</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2.6 Google Gemini AI</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p:txBody>
          <a:bodyPr/>
          <a:lstStyle/>
          <a:p>
            <a:pPr marL="342900" indent="-342900">
              <a:buFont typeface="Wingdings" panose="05000000000000000000" pitchFamily="2" charset="2"/>
              <a:buChar char="q"/>
            </a:pPr>
            <a:r>
              <a:rPr lang="vi-VN" b="1" dirty="0"/>
              <a:t>Thiết kế </a:t>
            </a:r>
            <a:r>
              <a:rPr lang="vi-VN" b="1" dirty="0" err="1"/>
              <a:t>prompt</a:t>
            </a:r>
            <a:r>
              <a:rPr lang="vi-VN" b="1" dirty="0"/>
              <a:t> </a:t>
            </a:r>
            <a:r>
              <a:rPr lang="vi-VN" b="1" dirty="0" err="1"/>
              <a:t>engineering</a:t>
            </a:r>
            <a:r>
              <a:rPr lang="vi-VN" b="1" dirty="0"/>
              <a:t>:</a:t>
            </a:r>
          </a:p>
          <a:p>
            <a:pPr marL="285750" indent="-285750">
              <a:buFont typeface="Wingdings" panose="05000000000000000000" pitchFamily="2" charset="2"/>
              <a:buChar char="§"/>
            </a:pPr>
            <a:r>
              <a:rPr lang="vi-VN" dirty="0" err="1"/>
              <a:t>Prompt</a:t>
            </a:r>
            <a:r>
              <a:rPr lang="vi-VN" dirty="0"/>
              <a:t> được cấu trúc thành </a:t>
            </a:r>
            <a:r>
              <a:rPr lang="en-US" dirty="0" err="1"/>
              <a:t>các</a:t>
            </a:r>
            <a:r>
              <a:rPr lang="en-US" dirty="0"/>
              <a:t> </a:t>
            </a:r>
            <a:r>
              <a:rPr lang="en-US" dirty="0" err="1"/>
              <a:t>phần</a:t>
            </a:r>
            <a:r>
              <a:rPr lang="en-US" dirty="0"/>
              <a:t> </a:t>
            </a:r>
            <a:r>
              <a:rPr lang="vi-VN" dirty="0"/>
              <a:t>rõ ràng với vai trò "AI </a:t>
            </a:r>
            <a:r>
              <a:rPr lang="vi-VN" dirty="0" err="1"/>
              <a:t>Code</a:t>
            </a:r>
            <a:r>
              <a:rPr lang="vi-VN" dirty="0"/>
              <a:t> </a:t>
            </a:r>
            <a:r>
              <a:rPr lang="vi-VN" dirty="0" err="1"/>
              <a:t>Detector</a:t>
            </a:r>
            <a:r>
              <a:rPr lang="vi-VN" dirty="0"/>
              <a:t>"</a:t>
            </a:r>
          </a:p>
          <a:p>
            <a:pPr marL="285750" indent="-285750">
              <a:buFont typeface="Wingdings" panose="05000000000000000000" pitchFamily="2" charset="2"/>
              <a:buChar char="§"/>
            </a:pPr>
            <a:r>
              <a:rPr lang="vi-VN" dirty="0"/>
              <a:t>Hướng dẫn chi tiết về cách phân tích </a:t>
            </a:r>
            <a:r>
              <a:rPr lang="en-US" dirty="0" err="1"/>
              <a:t>mẫu</a:t>
            </a:r>
            <a:r>
              <a:rPr lang="vi-VN" dirty="0"/>
              <a:t>, các  cấu trúc, phong cách</a:t>
            </a:r>
            <a:endParaRPr lang="en-US" dirty="0"/>
          </a:p>
          <a:p>
            <a:pPr marL="285750" indent="-285750">
              <a:buFont typeface="Wingdings" panose="05000000000000000000" pitchFamily="2" charset="2"/>
              <a:buChar char="§"/>
            </a:pPr>
            <a:r>
              <a:rPr lang="vi-VN" dirty="0"/>
              <a:t>Định nghĩa 8 </a:t>
            </a:r>
            <a:r>
              <a:rPr lang="vi-VN" dirty="0" err="1"/>
              <a:t>khía</a:t>
            </a:r>
            <a:r>
              <a:rPr lang="vi-VN" dirty="0"/>
              <a:t> cạnh chính: phong cách mã nguồn, cấu trúc </a:t>
            </a:r>
            <a:r>
              <a:rPr lang="vi-VN" dirty="0" err="1"/>
              <a:t>code</a:t>
            </a:r>
            <a:r>
              <a:rPr lang="vi-VN" dirty="0"/>
              <a:t>, </a:t>
            </a:r>
            <a:r>
              <a:rPr lang="vi-VN" dirty="0" err="1"/>
              <a:t>patterns</a:t>
            </a:r>
            <a:r>
              <a:rPr lang="vi-VN" dirty="0"/>
              <a:t> cú pháp, </a:t>
            </a:r>
            <a:r>
              <a:rPr lang="vi-VN" dirty="0" err="1"/>
              <a:t>documentation</a:t>
            </a:r>
            <a:r>
              <a:rPr lang="vi-VN" dirty="0"/>
              <a:t>, xử lý lỗi, </a:t>
            </a:r>
            <a:r>
              <a:rPr lang="vi-VN" dirty="0" err="1"/>
              <a:t>best</a:t>
            </a:r>
            <a:r>
              <a:rPr lang="vi-VN" dirty="0"/>
              <a:t> </a:t>
            </a:r>
            <a:r>
              <a:rPr lang="vi-VN" dirty="0" err="1"/>
              <a:t>practices</a:t>
            </a:r>
            <a:r>
              <a:rPr lang="vi-VN" dirty="0"/>
              <a:t>, AI </a:t>
            </a:r>
            <a:r>
              <a:rPr lang="vi-VN" dirty="0" err="1"/>
              <a:t>indicators</a:t>
            </a:r>
            <a:r>
              <a:rPr lang="vi-VN" dirty="0"/>
              <a:t>, </a:t>
            </a:r>
            <a:r>
              <a:rPr lang="vi-VN" dirty="0" err="1"/>
              <a:t>human</a:t>
            </a:r>
            <a:r>
              <a:rPr lang="vi-VN" dirty="0"/>
              <a:t> </a:t>
            </a:r>
            <a:r>
              <a:rPr lang="vi-VN" dirty="0" err="1"/>
              <a:t>indicators</a:t>
            </a:r>
            <a:endParaRPr lang="vi-VN" dirty="0"/>
          </a:p>
        </p:txBody>
      </p:sp>
      <p:grpSp>
        <p:nvGrpSpPr>
          <p:cNvPr id="11" name="Group 10">
            <a:extLst>
              <a:ext uri="{FF2B5EF4-FFF2-40B4-BE49-F238E27FC236}">
                <a16:creationId xmlns:a16="http://schemas.microsoft.com/office/drawing/2014/main" id="{1025CED9-37E3-5805-C859-EE6197E97BAE}"/>
              </a:ext>
            </a:extLst>
          </p:cNvPr>
          <p:cNvGrpSpPr/>
          <p:nvPr/>
        </p:nvGrpSpPr>
        <p:grpSpPr>
          <a:xfrm>
            <a:off x="7240891" y="2328387"/>
            <a:ext cx="3343520" cy="2691522"/>
            <a:chOff x="7507591" y="2054067"/>
            <a:chExt cx="3343520" cy="2691522"/>
          </a:xfrm>
        </p:grpSpPr>
        <p:pic>
          <p:nvPicPr>
            <p:cNvPr id="8" name="Graphic 7">
              <a:extLst>
                <a:ext uri="{FF2B5EF4-FFF2-40B4-BE49-F238E27FC236}">
                  <a16:creationId xmlns:a16="http://schemas.microsoft.com/office/drawing/2014/main" id="{8372936C-ABD8-FBE8-D133-3F5117322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8160" y="2054067"/>
              <a:ext cx="2082382" cy="2096452"/>
            </a:xfrm>
            <a:prstGeom prst="rect">
              <a:avLst/>
            </a:prstGeom>
          </p:spPr>
        </p:pic>
        <p:sp>
          <p:nvSpPr>
            <p:cNvPr id="10" name="TextBox 9">
              <a:extLst>
                <a:ext uri="{FF2B5EF4-FFF2-40B4-BE49-F238E27FC236}">
                  <a16:creationId xmlns:a16="http://schemas.microsoft.com/office/drawing/2014/main" id="{01876675-B684-1823-8394-1BCE8000A617}"/>
                </a:ext>
              </a:extLst>
            </p:cNvPr>
            <p:cNvSpPr txBox="1"/>
            <p:nvPr/>
          </p:nvSpPr>
          <p:spPr>
            <a:xfrm>
              <a:off x="7507591" y="4345479"/>
              <a:ext cx="3343520" cy="400110"/>
            </a:xfrm>
            <a:prstGeom prst="rect">
              <a:avLst/>
            </a:prstGeom>
            <a:noFill/>
          </p:spPr>
          <p:txBody>
            <a:bodyPr wrap="square">
              <a:spAutoFit/>
            </a:bodyPr>
            <a:lstStyle/>
            <a:p>
              <a:pPr algn="ctr"/>
              <a:r>
                <a:rPr lang="en-US" sz="2000" b="1" dirty="0">
                  <a:solidFill>
                    <a:schemeClr val="accent5"/>
                  </a:solidFill>
                  <a:latin typeface="Fz Poppins ExtBd" pitchFamily="2" charset="0"/>
                  <a:cs typeface="Fz Poppins ExtBd" pitchFamily="2" charset="0"/>
                </a:rPr>
                <a:t>GOOGLE GEMINI</a:t>
              </a:r>
              <a:endParaRPr lang="en-US" sz="2000" dirty="0">
                <a:solidFill>
                  <a:schemeClr val="accent5"/>
                </a:solidFill>
              </a:endParaRPr>
            </a:p>
          </p:txBody>
        </p:sp>
      </p:grpSp>
    </p:spTree>
    <p:extLst>
      <p:ext uri="{BB962C8B-B14F-4D97-AF65-F5344CB8AC3E}">
        <p14:creationId xmlns:p14="http://schemas.microsoft.com/office/powerpoint/2010/main" val="211055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9"/>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18</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2.6 Google Gemini AI</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a:xfrm>
            <a:off x="838200" y="2093843"/>
            <a:ext cx="4937567" cy="3868807"/>
          </a:xfrm>
        </p:spPr>
        <p:txBody>
          <a:bodyPr/>
          <a:lstStyle/>
          <a:p>
            <a:pPr marL="285750" indent="-285750">
              <a:lnSpc>
                <a:spcPct val="144643"/>
              </a:lnSpc>
              <a:buFont typeface="Wingdings" panose="05000000000000000000" pitchFamily="2" charset="2"/>
              <a:buChar char="q"/>
            </a:pPr>
            <a:r>
              <a:rPr lang="vi-VN" b="1" dirty="0"/>
              <a:t>Các thành phần hướng dẫn chi tiết</a:t>
            </a:r>
            <a:r>
              <a:rPr lang="en-US" b="1" dirty="0"/>
              <a:t>:</a:t>
            </a:r>
            <a:endParaRPr lang="en-US" dirty="0"/>
          </a:p>
          <a:p>
            <a:pPr marL="285750" indent="-285750">
              <a:lnSpc>
                <a:spcPct val="144643"/>
              </a:lnSpc>
              <a:buFont typeface="Wingdings" panose="05000000000000000000" pitchFamily="2" charset="2"/>
              <a:buChar char="§"/>
            </a:pPr>
            <a:r>
              <a:rPr lang="vi-VN" dirty="0" err="1"/>
              <a:t>Prompt</a:t>
            </a:r>
            <a:r>
              <a:rPr lang="en-US" dirty="0"/>
              <a:t> </a:t>
            </a:r>
            <a:r>
              <a:rPr lang="vi-VN" dirty="0"/>
              <a:t>hướng dẫn AI tập trung vào 7 </a:t>
            </a:r>
            <a:r>
              <a:rPr lang="vi-VN" dirty="0" err="1"/>
              <a:t>khía</a:t>
            </a:r>
            <a:r>
              <a:rPr lang="vi-VN" dirty="0"/>
              <a:t> cạnh chính: phong cách mã nguồn, cấu trúc </a:t>
            </a:r>
            <a:r>
              <a:rPr lang="vi-VN" dirty="0" err="1"/>
              <a:t>code</a:t>
            </a:r>
            <a:r>
              <a:rPr lang="vi-VN" dirty="0"/>
              <a:t>, </a:t>
            </a:r>
            <a:r>
              <a:rPr lang="vi-VN" dirty="0" err="1"/>
              <a:t>patterns</a:t>
            </a:r>
            <a:r>
              <a:rPr lang="vi-VN" dirty="0"/>
              <a:t> cú pháp, </a:t>
            </a:r>
            <a:r>
              <a:rPr lang="vi-VN" dirty="0" err="1"/>
              <a:t>documentation</a:t>
            </a:r>
            <a:r>
              <a:rPr lang="vi-VN" dirty="0"/>
              <a:t>, xử lý lỗi</a:t>
            </a:r>
            <a:r>
              <a:rPr lang="en-US" dirty="0"/>
              <a:t>. </a:t>
            </a:r>
            <a:r>
              <a:rPr lang="vi-VN" dirty="0"/>
              <a:t>Tôi đặc biệt nhấn mạnh vào việc phát hiện các dấu hiệu như </a:t>
            </a:r>
            <a:r>
              <a:rPr lang="vi-VN" b="1" dirty="0">
                <a:solidFill>
                  <a:schemeClr val="accent5"/>
                </a:solidFill>
              </a:rPr>
              <a:t>tên biến ngắn gọn/không mô tả</a:t>
            </a:r>
            <a:r>
              <a:rPr lang="vi-VN" dirty="0"/>
              <a:t>, lỗi </a:t>
            </a:r>
            <a:r>
              <a:rPr lang="vi-VN" b="1" dirty="0" err="1">
                <a:solidFill>
                  <a:schemeClr val="accent5"/>
                </a:solidFill>
              </a:rPr>
              <a:t>formatting</a:t>
            </a:r>
            <a:r>
              <a:rPr lang="vi-VN" dirty="0"/>
              <a:t> tĩnh (dòng trống dư thừa, thiếu/dư khoảng trắng), và yêu cầu AI đưa ra </a:t>
            </a:r>
            <a:r>
              <a:rPr lang="en-US" dirty="0" err="1"/>
              <a:t>kết</a:t>
            </a:r>
            <a:r>
              <a:rPr lang="en-US" dirty="0"/>
              <a:t> </a:t>
            </a:r>
            <a:r>
              <a:rPr lang="en-US" dirty="0" err="1"/>
              <a:t>luận</a:t>
            </a:r>
            <a:r>
              <a:rPr lang="en-US" dirty="0"/>
              <a:t> </a:t>
            </a:r>
            <a:r>
              <a:rPr lang="en-US" dirty="0" err="1"/>
              <a:t>tương</a:t>
            </a:r>
            <a:r>
              <a:rPr lang="en-US" dirty="0"/>
              <a:t> </a:t>
            </a:r>
            <a:r>
              <a:rPr lang="en-US" dirty="0" err="1"/>
              <a:t>đối</a:t>
            </a:r>
            <a:r>
              <a:rPr lang="vi-VN" dirty="0"/>
              <a:t>.</a:t>
            </a:r>
          </a:p>
        </p:txBody>
      </p:sp>
      <p:grpSp>
        <p:nvGrpSpPr>
          <p:cNvPr id="11" name="Group 10">
            <a:extLst>
              <a:ext uri="{FF2B5EF4-FFF2-40B4-BE49-F238E27FC236}">
                <a16:creationId xmlns:a16="http://schemas.microsoft.com/office/drawing/2014/main" id="{1025CED9-37E3-5805-C859-EE6197E97BAE}"/>
              </a:ext>
            </a:extLst>
          </p:cNvPr>
          <p:cNvGrpSpPr/>
          <p:nvPr/>
        </p:nvGrpSpPr>
        <p:grpSpPr>
          <a:xfrm>
            <a:off x="7240891" y="2328387"/>
            <a:ext cx="3343520" cy="2691522"/>
            <a:chOff x="7507591" y="2054067"/>
            <a:chExt cx="3343520" cy="2691522"/>
          </a:xfrm>
        </p:grpSpPr>
        <p:pic>
          <p:nvPicPr>
            <p:cNvPr id="8" name="Graphic 7">
              <a:extLst>
                <a:ext uri="{FF2B5EF4-FFF2-40B4-BE49-F238E27FC236}">
                  <a16:creationId xmlns:a16="http://schemas.microsoft.com/office/drawing/2014/main" id="{8372936C-ABD8-FBE8-D133-3F5117322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8160" y="2054067"/>
              <a:ext cx="2082382" cy="2096452"/>
            </a:xfrm>
            <a:prstGeom prst="rect">
              <a:avLst/>
            </a:prstGeom>
          </p:spPr>
        </p:pic>
        <p:sp>
          <p:nvSpPr>
            <p:cNvPr id="10" name="TextBox 9">
              <a:extLst>
                <a:ext uri="{FF2B5EF4-FFF2-40B4-BE49-F238E27FC236}">
                  <a16:creationId xmlns:a16="http://schemas.microsoft.com/office/drawing/2014/main" id="{01876675-B684-1823-8394-1BCE8000A617}"/>
                </a:ext>
              </a:extLst>
            </p:cNvPr>
            <p:cNvSpPr txBox="1"/>
            <p:nvPr/>
          </p:nvSpPr>
          <p:spPr>
            <a:xfrm>
              <a:off x="7507591" y="4345479"/>
              <a:ext cx="3343520" cy="400110"/>
            </a:xfrm>
            <a:prstGeom prst="rect">
              <a:avLst/>
            </a:prstGeom>
            <a:noFill/>
          </p:spPr>
          <p:txBody>
            <a:bodyPr wrap="square">
              <a:spAutoFit/>
            </a:bodyPr>
            <a:lstStyle/>
            <a:p>
              <a:pPr algn="ctr"/>
              <a:r>
                <a:rPr lang="en-US" sz="2000" b="1" dirty="0">
                  <a:solidFill>
                    <a:schemeClr val="accent5"/>
                  </a:solidFill>
                  <a:latin typeface="Fz Poppins ExtBd" pitchFamily="2" charset="0"/>
                  <a:cs typeface="Fz Poppins ExtBd" pitchFamily="2" charset="0"/>
                </a:rPr>
                <a:t>GOOGLE GEMINI</a:t>
              </a:r>
              <a:endParaRPr lang="en-US" sz="2000" dirty="0">
                <a:solidFill>
                  <a:schemeClr val="accent5"/>
                </a:solidFill>
              </a:endParaRPr>
            </a:p>
          </p:txBody>
        </p:sp>
      </p:grpSp>
    </p:spTree>
    <p:extLst>
      <p:ext uri="{BB962C8B-B14F-4D97-AF65-F5344CB8AC3E}">
        <p14:creationId xmlns:p14="http://schemas.microsoft.com/office/powerpoint/2010/main" val="162489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9"/>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19</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 CƠ SỞ LÝ THUYẾT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2.6 Google Gemini AI</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a:xfrm>
            <a:off x="838200" y="2093844"/>
            <a:ext cx="9393195" cy="3775616"/>
          </a:xfrm>
        </p:spPr>
        <p:txBody>
          <a:bodyPr/>
          <a:lstStyle/>
          <a:p>
            <a:pPr marL="285750" indent="-285750">
              <a:lnSpc>
                <a:spcPct val="144643"/>
              </a:lnSpc>
              <a:buFont typeface="Wingdings" panose="05000000000000000000" pitchFamily="2" charset="2"/>
              <a:buChar char="q"/>
            </a:pPr>
            <a:r>
              <a:rPr lang="vi-VN" b="1" dirty="0"/>
              <a:t>Định dạng </a:t>
            </a:r>
            <a:r>
              <a:rPr lang="vi-VN" b="1" dirty="0" err="1"/>
              <a:t>output</a:t>
            </a:r>
            <a:r>
              <a:rPr lang="vi-VN" b="1" dirty="0"/>
              <a:t> và ứng dụng thực tế</a:t>
            </a:r>
            <a:endParaRPr lang="en-US" dirty="0"/>
          </a:p>
          <a:p>
            <a:pPr marL="285750" indent="-285750">
              <a:lnSpc>
                <a:spcPct val="144643"/>
              </a:lnSpc>
              <a:buFont typeface="Wingdings" panose="05000000000000000000" pitchFamily="2" charset="2"/>
              <a:buChar char="§"/>
            </a:pPr>
            <a:r>
              <a:rPr lang="vi-VN" dirty="0"/>
              <a:t>Định dạng </a:t>
            </a:r>
            <a:r>
              <a:rPr lang="vi-VN" dirty="0" err="1"/>
              <a:t>output</a:t>
            </a:r>
            <a:r>
              <a:rPr lang="vi-VN" dirty="0"/>
              <a:t> được chuẩn hóa hoàn toàn bằng</a:t>
            </a:r>
            <a:br>
              <a:rPr lang="en-US" dirty="0"/>
            </a:br>
            <a:r>
              <a:rPr lang="vi-VN" b="1" dirty="0">
                <a:solidFill>
                  <a:schemeClr val="accent5"/>
                </a:solidFill>
              </a:rPr>
              <a:t>MDX </a:t>
            </a:r>
            <a:r>
              <a:rPr lang="vi-VN" b="1" dirty="0" err="1">
                <a:solidFill>
                  <a:schemeClr val="accent5"/>
                </a:solidFill>
              </a:rPr>
              <a:t>format</a:t>
            </a:r>
            <a:r>
              <a:rPr lang="vi-VN" b="1" dirty="0">
                <a:solidFill>
                  <a:schemeClr val="accent5"/>
                </a:solidFill>
              </a:rPr>
              <a:t> </a:t>
            </a:r>
            <a:r>
              <a:rPr lang="vi-VN" dirty="0"/>
              <a:t>với cấu trúc cố định gồm 6 phần:</a:t>
            </a:r>
            <a:endParaRPr lang="en-US" dirty="0"/>
          </a:p>
          <a:p>
            <a:pPr marL="285750" indent="-285750">
              <a:lnSpc>
                <a:spcPct val="144643"/>
              </a:lnSpc>
              <a:buFont typeface="Wingdings" panose="05000000000000000000" pitchFamily="2" charset="2"/>
              <a:buChar char="§"/>
            </a:pPr>
            <a:r>
              <a:rPr lang="vi-VN" dirty="0"/>
              <a:t>Kết quả dự đoán với độ tin cậy và xác suất</a:t>
            </a:r>
            <a:r>
              <a:rPr lang="en-US" dirty="0"/>
              <a:t>.</a:t>
            </a:r>
          </a:p>
          <a:p>
            <a:pPr marL="285750" indent="-285750">
              <a:lnSpc>
                <a:spcPct val="144643"/>
              </a:lnSpc>
              <a:buFont typeface="Wingdings" panose="05000000000000000000" pitchFamily="2" charset="2"/>
              <a:buChar char="§"/>
            </a:pPr>
            <a:r>
              <a:rPr lang="vi-VN" dirty="0"/>
              <a:t>Phân tích chi tiết theo từng tiêu chí</a:t>
            </a:r>
            <a:endParaRPr lang="en-US" dirty="0"/>
          </a:p>
          <a:p>
            <a:pPr marL="285750" indent="-285750">
              <a:lnSpc>
                <a:spcPct val="144643"/>
              </a:lnSpc>
              <a:buFont typeface="Wingdings" panose="05000000000000000000" pitchFamily="2" charset="2"/>
              <a:buChar char="§"/>
            </a:pPr>
            <a:r>
              <a:rPr lang="vi-VN" dirty="0"/>
              <a:t>Chỉ số quan trọng với </a:t>
            </a:r>
            <a:r>
              <a:rPr lang="en-US" dirty="0" err="1"/>
              <a:t>mẫu</a:t>
            </a:r>
            <a:r>
              <a:rPr lang="vi-VN" dirty="0"/>
              <a:t> phát hiện</a:t>
            </a:r>
            <a:endParaRPr lang="en-US" dirty="0"/>
          </a:p>
          <a:p>
            <a:pPr marL="285750" indent="-285750">
              <a:lnSpc>
                <a:spcPct val="144643"/>
              </a:lnSpc>
              <a:buFont typeface="Wingdings" panose="05000000000000000000" pitchFamily="2" charset="2"/>
              <a:buChar char="§"/>
            </a:pPr>
            <a:r>
              <a:rPr lang="vi-VN" dirty="0"/>
              <a:t>Lý do chính, </a:t>
            </a:r>
            <a:r>
              <a:rPr lang="en-US" dirty="0"/>
              <a:t>g</a:t>
            </a:r>
            <a:r>
              <a:rPr lang="vi-VN" dirty="0" err="1"/>
              <a:t>iải</a:t>
            </a:r>
            <a:r>
              <a:rPr lang="vi-VN" dirty="0"/>
              <a:t> thích độ tin cậy, </a:t>
            </a:r>
            <a:endParaRPr lang="en-US" dirty="0"/>
          </a:p>
          <a:p>
            <a:pPr marL="285750" indent="-285750">
              <a:lnSpc>
                <a:spcPct val="144643"/>
              </a:lnSpc>
              <a:buFont typeface="Wingdings" panose="05000000000000000000" pitchFamily="2" charset="2"/>
              <a:buChar char="§"/>
            </a:pPr>
            <a:r>
              <a:rPr lang="vi-VN" dirty="0"/>
              <a:t>Ghi chú bổ sung. </a:t>
            </a:r>
          </a:p>
        </p:txBody>
      </p:sp>
      <p:grpSp>
        <p:nvGrpSpPr>
          <p:cNvPr id="11" name="Group 10">
            <a:extLst>
              <a:ext uri="{FF2B5EF4-FFF2-40B4-BE49-F238E27FC236}">
                <a16:creationId xmlns:a16="http://schemas.microsoft.com/office/drawing/2014/main" id="{1025CED9-37E3-5805-C859-EE6197E97BAE}"/>
              </a:ext>
            </a:extLst>
          </p:cNvPr>
          <p:cNvGrpSpPr/>
          <p:nvPr/>
        </p:nvGrpSpPr>
        <p:grpSpPr>
          <a:xfrm>
            <a:off x="7240891" y="2328387"/>
            <a:ext cx="3343520" cy="2691522"/>
            <a:chOff x="7507591" y="2054067"/>
            <a:chExt cx="3343520" cy="2691522"/>
          </a:xfrm>
        </p:grpSpPr>
        <p:pic>
          <p:nvPicPr>
            <p:cNvPr id="8" name="Graphic 7">
              <a:extLst>
                <a:ext uri="{FF2B5EF4-FFF2-40B4-BE49-F238E27FC236}">
                  <a16:creationId xmlns:a16="http://schemas.microsoft.com/office/drawing/2014/main" id="{8372936C-ABD8-FBE8-D133-3F5117322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8160" y="2054067"/>
              <a:ext cx="2082382" cy="2096452"/>
            </a:xfrm>
            <a:prstGeom prst="rect">
              <a:avLst/>
            </a:prstGeom>
          </p:spPr>
        </p:pic>
        <p:sp>
          <p:nvSpPr>
            <p:cNvPr id="10" name="TextBox 9">
              <a:extLst>
                <a:ext uri="{FF2B5EF4-FFF2-40B4-BE49-F238E27FC236}">
                  <a16:creationId xmlns:a16="http://schemas.microsoft.com/office/drawing/2014/main" id="{01876675-B684-1823-8394-1BCE8000A617}"/>
                </a:ext>
              </a:extLst>
            </p:cNvPr>
            <p:cNvSpPr txBox="1"/>
            <p:nvPr/>
          </p:nvSpPr>
          <p:spPr>
            <a:xfrm>
              <a:off x="7507591" y="4345479"/>
              <a:ext cx="3343520" cy="400110"/>
            </a:xfrm>
            <a:prstGeom prst="rect">
              <a:avLst/>
            </a:prstGeom>
            <a:noFill/>
          </p:spPr>
          <p:txBody>
            <a:bodyPr wrap="square">
              <a:spAutoFit/>
            </a:bodyPr>
            <a:lstStyle/>
            <a:p>
              <a:pPr algn="ctr"/>
              <a:r>
                <a:rPr lang="en-US" sz="2000" b="1" dirty="0">
                  <a:solidFill>
                    <a:schemeClr val="accent5"/>
                  </a:solidFill>
                  <a:latin typeface="Fz Poppins ExtBd" pitchFamily="2" charset="0"/>
                  <a:cs typeface="Fz Poppins ExtBd" pitchFamily="2" charset="0"/>
                </a:rPr>
                <a:t>GOOGLE GEMINI</a:t>
              </a:r>
              <a:endParaRPr lang="en-US" sz="2000" dirty="0">
                <a:solidFill>
                  <a:schemeClr val="accent5"/>
                </a:solidFill>
              </a:endParaRPr>
            </a:p>
          </p:txBody>
        </p:sp>
      </p:grpSp>
    </p:spTree>
    <p:extLst>
      <p:ext uri="{BB962C8B-B14F-4D97-AF65-F5344CB8AC3E}">
        <p14:creationId xmlns:p14="http://schemas.microsoft.com/office/powerpoint/2010/main" val="313042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42" presetClass="path" presetSubtype="0" decel="100000" fill="hold" grpId="1" nodeType="withEffect">
                                  <p:stCondLst>
                                    <p:cond delay="0"/>
                                  </p:stCondLst>
                                  <p:childTnLst>
                                    <p:animMotion origin="layout" path="M -0.01719 -0.00024 L 3.75E-6 4.44444E-6 " pathEditMode="relative" rAng="0" ptsTypes="AA">
                                      <p:cBhvr>
                                        <p:cTn id="9" dur="500" fill="hold"/>
                                        <p:tgtEl>
                                          <p:spTgt spid="9"/>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1B4723-F15F-B0DC-094E-C31828469AC8}"/>
              </a:ext>
            </a:extLst>
          </p:cNvPr>
          <p:cNvSpPr>
            <a:spLocks noGrp="1"/>
          </p:cNvSpPr>
          <p:nvPr>
            <p:ph type="sldNum" sz="quarter" idx="10"/>
          </p:nvPr>
        </p:nvSpPr>
        <p:spPr/>
        <p:txBody>
          <a:bodyPr/>
          <a:lstStyle/>
          <a:p>
            <a:fld id="{A8929BE4-9460-4FFC-82AB-40FA3E28D9A3}" type="slidenum">
              <a:rPr lang="en-US" smtClean="0"/>
              <a:pPr/>
              <a:t>20</a:t>
            </a:fld>
            <a:endParaRPr lang="en-US"/>
          </a:p>
        </p:txBody>
      </p:sp>
      <p:sp>
        <p:nvSpPr>
          <p:cNvPr id="3" name="Text Placeholder 2">
            <a:extLst>
              <a:ext uri="{FF2B5EF4-FFF2-40B4-BE49-F238E27FC236}">
                <a16:creationId xmlns:a16="http://schemas.microsoft.com/office/drawing/2014/main" id="{205B3754-07D4-B7A6-9692-D86654E04B6C}"/>
              </a:ext>
            </a:extLst>
          </p:cNvPr>
          <p:cNvSpPr>
            <a:spLocks noGrp="1"/>
          </p:cNvSpPr>
          <p:nvPr>
            <p:ph type="body" sz="quarter" idx="11"/>
          </p:nvPr>
        </p:nvSpPr>
        <p:spPr/>
        <p:txBody>
          <a:bodyPr/>
          <a:lstStyle/>
          <a:p>
            <a:r>
              <a:rPr lang="en-US" dirty="0"/>
              <a:t>03</a:t>
            </a:r>
          </a:p>
        </p:txBody>
      </p:sp>
      <p:sp>
        <p:nvSpPr>
          <p:cNvPr id="4" name="Text Placeholder 3">
            <a:extLst>
              <a:ext uri="{FF2B5EF4-FFF2-40B4-BE49-F238E27FC236}">
                <a16:creationId xmlns:a16="http://schemas.microsoft.com/office/drawing/2014/main" id="{2EAE002A-7FC1-0EA2-17B2-5FF54F42E28A}"/>
              </a:ext>
            </a:extLst>
          </p:cNvPr>
          <p:cNvSpPr>
            <a:spLocks noGrp="1"/>
          </p:cNvSpPr>
          <p:nvPr>
            <p:ph type="body" sz="quarter" idx="12"/>
          </p:nvPr>
        </p:nvSpPr>
        <p:spPr/>
        <p:txBody>
          <a:bodyPr/>
          <a:lstStyle/>
          <a:p>
            <a:r>
              <a:rPr lang="en-US" sz="5400" dirty="0"/>
              <a:t>THỰC HIỆN HÓA NGHIÊN CỨU</a:t>
            </a:r>
          </a:p>
        </p:txBody>
      </p:sp>
      <p:sp>
        <p:nvSpPr>
          <p:cNvPr id="5" name="Title 4">
            <a:extLst>
              <a:ext uri="{FF2B5EF4-FFF2-40B4-BE49-F238E27FC236}">
                <a16:creationId xmlns:a16="http://schemas.microsoft.com/office/drawing/2014/main" id="{D1B2F9DA-C6A8-C811-386B-07209B90EFEE}"/>
              </a:ext>
            </a:extLst>
          </p:cNvPr>
          <p:cNvSpPr>
            <a:spLocks noGrp="1"/>
          </p:cNvSpPr>
          <p:nvPr>
            <p:ph type="title"/>
          </p:nvPr>
        </p:nvSpPr>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880592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DE6563-A269-4E73-E379-17004740BCB6}"/>
              </a:ext>
            </a:extLst>
          </p:cNvPr>
          <p:cNvSpPr>
            <a:spLocks noGrp="1"/>
          </p:cNvSpPr>
          <p:nvPr>
            <p:ph type="sldNum" sz="quarter" idx="10"/>
          </p:nvPr>
        </p:nvSpPr>
        <p:spPr/>
        <p:txBody>
          <a:bodyPr/>
          <a:lstStyle/>
          <a:p>
            <a:fld id="{A8929BE4-9460-4FFC-82AB-40FA3E28D9A3}" type="slidenum">
              <a:rPr lang="en-US" smtClean="0"/>
              <a:pPr/>
              <a:t>21</a:t>
            </a:fld>
            <a:endParaRPr lang="en-US"/>
          </a:p>
        </p:txBody>
      </p:sp>
      <p:sp>
        <p:nvSpPr>
          <p:cNvPr id="4" name="Text Placeholder 3">
            <a:extLst>
              <a:ext uri="{FF2B5EF4-FFF2-40B4-BE49-F238E27FC236}">
                <a16:creationId xmlns:a16="http://schemas.microsoft.com/office/drawing/2014/main" id="{C21117A4-94E9-D2CA-294A-8450A93AF4C8}"/>
              </a:ext>
            </a:extLst>
          </p:cNvPr>
          <p:cNvSpPr>
            <a:spLocks noGrp="1"/>
          </p:cNvSpPr>
          <p:nvPr>
            <p:ph type="body" sz="quarter" idx="12"/>
          </p:nvPr>
        </p:nvSpPr>
        <p:spPr/>
        <p:txBody>
          <a:bodyPr/>
          <a:lstStyle/>
          <a:p>
            <a:pPr algn="ctr"/>
            <a:r>
              <a:rPr lang="en-US" sz="1800" b="1" dirty="0" err="1">
                <a:solidFill>
                  <a:schemeClr val="accent5"/>
                </a:solidFill>
                <a:latin typeface="Fz Poppins ExtBd" pitchFamily="2" charset="0"/>
                <a:cs typeface="Fz Poppins ExtBd" pitchFamily="2" charset="0"/>
              </a:rPr>
              <a:t>Yêu</a:t>
            </a:r>
            <a:r>
              <a:rPr lang="en-US" sz="1800" b="1" dirty="0">
                <a:solidFill>
                  <a:schemeClr val="accent5"/>
                </a:solidFill>
                <a:latin typeface="Fz Poppins ExtBd" pitchFamily="2" charset="0"/>
                <a:cs typeface="Fz Poppins ExtBd" pitchFamily="2" charset="0"/>
              </a:rPr>
              <a:t> </a:t>
            </a:r>
            <a:r>
              <a:rPr lang="en-US" sz="1800" b="1" dirty="0" err="1">
                <a:solidFill>
                  <a:schemeClr val="accent5"/>
                </a:solidFill>
                <a:latin typeface="Fz Poppins ExtBd" pitchFamily="2" charset="0"/>
                <a:cs typeface="Fz Poppins ExtBd" pitchFamily="2" charset="0"/>
              </a:rPr>
              <a:t>cầu</a:t>
            </a:r>
            <a:r>
              <a:rPr lang="en-US" sz="1800" b="1" dirty="0">
                <a:solidFill>
                  <a:schemeClr val="accent5"/>
                </a:solidFill>
                <a:latin typeface="Fz Poppins ExtBd" pitchFamily="2" charset="0"/>
                <a:cs typeface="Fz Poppins ExtBd" pitchFamily="2" charset="0"/>
              </a:rPr>
              <a:t> phi </a:t>
            </a:r>
            <a:r>
              <a:rPr lang="en-US" sz="1800" b="1" dirty="0" err="1">
                <a:solidFill>
                  <a:schemeClr val="accent5"/>
                </a:solidFill>
                <a:latin typeface="Fz Poppins ExtBd" pitchFamily="2" charset="0"/>
                <a:cs typeface="Fz Poppins ExtBd" pitchFamily="2" charset="0"/>
              </a:rPr>
              <a:t>chức</a:t>
            </a:r>
            <a:r>
              <a:rPr lang="en-US" sz="1800" b="1" dirty="0">
                <a:solidFill>
                  <a:schemeClr val="accent5"/>
                </a:solidFill>
                <a:latin typeface="Fz Poppins ExtBd" pitchFamily="2" charset="0"/>
                <a:cs typeface="Fz Poppins ExtBd" pitchFamily="2" charset="0"/>
              </a:rPr>
              <a:t> </a:t>
            </a:r>
            <a:r>
              <a:rPr lang="en-US" sz="1800" b="1" dirty="0" err="1">
                <a:solidFill>
                  <a:schemeClr val="accent5"/>
                </a:solidFill>
                <a:latin typeface="Fz Poppins ExtBd" pitchFamily="2" charset="0"/>
                <a:cs typeface="Fz Poppins ExtBd" pitchFamily="2" charset="0"/>
              </a:rPr>
              <a:t>năng</a:t>
            </a:r>
            <a:endParaRPr lang="en-US" sz="1800" b="1" dirty="0">
              <a:solidFill>
                <a:schemeClr val="accent5"/>
              </a:solidFill>
              <a:latin typeface="Fz Poppins ExtBd" pitchFamily="2" charset="0"/>
              <a:cs typeface="Fz Poppins ExtBd" pitchFamily="2" charset="0"/>
            </a:endParaRPr>
          </a:p>
          <a:p>
            <a:pPr marL="285750" indent="-285750">
              <a:buFont typeface="Wingdings" panose="05000000000000000000" pitchFamily="2" charset="2"/>
              <a:buChar char="§"/>
            </a:pPr>
            <a:r>
              <a:rPr lang="en-US" dirty="0" err="1"/>
              <a:t>Thời</a:t>
            </a:r>
            <a:r>
              <a:rPr lang="en-US" dirty="0"/>
              <a:t> </a:t>
            </a:r>
            <a:r>
              <a:rPr lang="en-US" dirty="0" err="1"/>
              <a:t>gian</a:t>
            </a:r>
            <a:r>
              <a:rPr lang="en-US" dirty="0"/>
              <a:t> </a:t>
            </a:r>
            <a:r>
              <a:rPr lang="en-US" dirty="0" err="1"/>
              <a:t>phản</a:t>
            </a:r>
            <a:r>
              <a:rPr lang="en-US" dirty="0"/>
              <a:t> </a:t>
            </a:r>
            <a:r>
              <a:rPr lang="en-US" dirty="0" err="1"/>
              <a:t>hồi</a:t>
            </a:r>
            <a:r>
              <a:rPr lang="en-US" dirty="0"/>
              <a:t> </a:t>
            </a:r>
            <a:r>
              <a:rPr lang="en-US" dirty="0" err="1"/>
              <a:t>nhanh</a:t>
            </a:r>
            <a:endParaRPr lang="en-US" dirty="0"/>
          </a:p>
          <a:p>
            <a:pPr marL="285750" indent="-285750">
              <a:buFont typeface="Wingdings" panose="05000000000000000000" pitchFamily="2" charset="2"/>
              <a:buChar char="§"/>
            </a:pPr>
            <a:r>
              <a:rPr lang="en-US" dirty="0" err="1"/>
              <a:t>Xử</a:t>
            </a:r>
            <a:r>
              <a:rPr lang="en-US" dirty="0"/>
              <a:t> </a:t>
            </a:r>
            <a:r>
              <a:rPr lang="en-US" dirty="0" err="1"/>
              <a:t>lý</a:t>
            </a:r>
            <a:r>
              <a:rPr lang="en-US" dirty="0"/>
              <a:t> </a:t>
            </a:r>
            <a:r>
              <a:rPr lang="en-US" dirty="0" err="1"/>
              <a:t>các</a:t>
            </a:r>
            <a:r>
              <a:rPr lang="en-US" dirty="0"/>
              <a:t> </a:t>
            </a:r>
            <a:r>
              <a:rPr lang="en-US" dirty="0" err="1"/>
              <a:t>các</a:t>
            </a:r>
            <a:r>
              <a:rPr lang="en-US" dirty="0"/>
              <a:t> </a:t>
            </a:r>
            <a:r>
              <a:rPr lang="en-US" dirty="0" err="1"/>
              <a:t>tệp</a:t>
            </a:r>
            <a:r>
              <a:rPr lang="en-US" dirty="0"/>
              <a:t> </a:t>
            </a:r>
            <a:r>
              <a:rPr lang="en-US" dirty="0" err="1"/>
              <a:t>có</a:t>
            </a:r>
            <a:r>
              <a:rPr lang="en-US" dirty="0"/>
              <a:t> </a:t>
            </a:r>
            <a:r>
              <a:rPr lang="en-US" dirty="0" err="1"/>
              <a:t>độ</a:t>
            </a:r>
            <a:r>
              <a:rPr lang="en-US" dirty="0"/>
              <a:t> </a:t>
            </a:r>
            <a:r>
              <a:rPr lang="en-US" dirty="0" err="1"/>
              <a:t>dài</a:t>
            </a:r>
            <a:r>
              <a:rPr lang="en-US" dirty="0"/>
              <a:t> </a:t>
            </a:r>
            <a:r>
              <a:rPr lang="en-US" dirty="0" err="1"/>
              <a:t>lớn</a:t>
            </a:r>
            <a:endParaRPr lang="en-US" dirty="0"/>
          </a:p>
          <a:p>
            <a:pPr marL="285750" indent="-285750">
              <a:buFont typeface="Wingdings" panose="05000000000000000000" pitchFamily="2" charset="2"/>
              <a:buChar char="§"/>
            </a:pPr>
            <a:r>
              <a:rPr lang="en-US" dirty="0" err="1"/>
              <a:t>Phân</a:t>
            </a:r>
            <a:r>
              <a:rPr lang="en-US" dirty="0"/>
              <a:t> </a:t>
            </a:r>
            <a:r>
              <a:rPr lang="en-US" dirty="0" err="1"/>
              <a:t>tích</a:t>
            </a:r>
            <a:r>
              <a:rPr lang="en-US" dirty="0"/>
              <a:t> </a:t>
            </a:r>
            <a:r>
              <a:rPr lang="en-US" dirty="0" err="1"/>
              <a:t>nhiều</a:t>
            </a:r>
            <a:r>
              <a:rPr lang="en-US" dirty="0"/>
              <a:t> </a:t>
            </a:r>
            <a:r>
              <a:rPr lang="en-US" dirty="0" err="1"/>
              <a:t>tệp</a:t>
            </a:r>
            <a:r>
              <a:rPr lang="en-US" dirty="0"/>
              <a:t> </a:t>
            </a:r>
            <a:r>
              <a:rPr lang="en-US" dirty="0" err="1"/>
              <a:t>lên</a:t>
            </a:r>
            <a:r>
              <a:rPr lang="en-US" dirty="0"/>
              <a:t> </a:t>
            </a:r>
            <a:r>
              <a:rPr lang="en-US" dirty="0" err="1"/>
              <a:t>đến</a:t>
            </a:r>
            <a:r>
              <a:rPr lang="en-US" dirty="0"/>
              <a:t> 100 </a:t>
            </a:r>
            <a:r>
              <a:rPr lang="en-US" dirty="0" err="1"/>
              <a:t>tệp</a:t>
            </a:r>
            <a:endParaRPr lang="en-US" dirty="0"/>
          </a:p>
          <a:p>
            <a:pPr marL="285750" indent="-285750">
              <a:buFont typeface="Wingdings" panose="05000000000000000000" pitchFamily="2" charset="2"/>
              <a:buChar char="§"/>
            </a:pPr>
            <a:r>
              <a:rPr lang="en-US" dirty="0" err="1"/>
              <a:t>Hiện</a:t>
            </a:r>
            <a:r>
              <a:rPr lang="en-US" dirty="0"/>
              <a:t> </a:t>
            </a:r>
            <a:r>
              <a:rPr lang="en-US" dirty="0" err="1"/>
              <a:t>thị</a:t>
            </a:r>
            <a:r>
              <a:rPr lang="en-US" dirty="0"/>
              <a:t> </a:t>
            </a:r>
            <a:r>
              <a:rPr lang="en-US" dirty="0" err="1"/>
              <a:t>các</a:t>
            </a:r>
            <a:r>
              <a:rPr lang="en-US" dirty="0"/>
              <a:t> </a:t>
            </a:r>
            <a:r>
              <a:rPr lang="en-US" dirty="0" err="1"/>
              <a:t>số</a:t>
            </a:r>
            <a:r>
              <a:rPr lang="en-US" dirty="0"/>
              <a:t> </a:t>
            </a:r>
            <a:r>
              <a:rPr lang="en-US" dirty="0" err="1"/>
              <a:t>liệu</a:t>
            </a:r>
            <a:r>
              <a:rPr lang="en-US" dirty="0"/>
              <a:t> </a:t>
            </a:r>
            <a:r>
              <a:rPr lang="en-US" dirty="0" err="1"/>
              <a:t>phân</a:t>
            </a:r>
            <a:r>
              <a:rPr lang="en-US" dirty="0"/>
              <a:t> </a:t>
            </a:r>
            <a:r>
              <a:rPr lang="en-US" dirty="0" err="1"/>
              <a:t>tích</a:t>
            </a:r>
            <a:r>
              <a:rPr lang="en-US" dirty="0"/>
              <a:t> </a:t>
            </a:r>
            <a:r>
              <a:rPr lang="en-US" dirty="0" err="1"/>
              <a:t>một</a:t>
            </a:r>
            <a:r>
              <a:rPr lang="en-US" dirty="0"/>
              <a:t> </a:t>
            </a:r>
            <a:r>
              <a:rPr lang="en-US" dirty="0" err="1"/>
              <a:t>cách</a:t>
            </a:r>
            <a:r>
              <a:rPr lang="en-US" dirty="0"/>
              <a:t> </a:t>
            </a:r>
            <a:r>
              <a:rPr lang="en-US" dirty="0" err="1"/>
              <a:t>trực</a:t>
            </a:r>
            <a:r>
              <a:rPr lang="en-US" dirty="0"/>
              <a:t> </a:t>
            </a:r>
            <a:r>
              <a:rPr lang="en-US" dirty="0" err="1"/>
              <a:t>quan</a:t>
            </a:r>
            <a:r>
              <a:rPr lang="en-US" dirty="0"/>
              <a:t>, </a:t>
            </a:r>
            <a:r>
              <a:rPr lang="en-US" dirty="0" err="1"/>
              <a:t>dễ</a:t>
            </a:r>
            <a:r>
              <a:rPr lang="en-US" dirty="0"/>
              <a:t> </a:t>
            </a:r>
            <a:r>
              <a:rPr lang="en-US" dirty="0" err="1"/>
              <a:t>quan</a:t>
            </a:r>
            <a:r>
              <a:rPr lang="en-US" dirty="0"/>
              <a:t> </a:t>
            </a:r>
            <a:r>
              <a:rPr lang="en-US" dirty="0" err="1"/>
              <a:t>sát</a:t>
            </a:r>
            <a:r>
              <a:rPr lang="en-US" dirty="0"/>
              <a:t> </a:t>
            </a:r>
            <a:r>
              <a:rPr lang="en-US" dirty="0" err="1"/>
              <a:t>và</a:t>
            </a:r>
            <a:r>
              <a:rPr lang="en-US" dirty="0"/>
              <a:t> </a:t>
            </a:r>
            <a:r>
              <a:rPr lang="en-US" dirty="0" err="1"/>
              <a:t>kết</a:t>
            </a:r>
            <a:r>
              <a:rPr lang="en-US" dirty="0"/>
              <a:t> </a:t>
            </a:r>
            <a:r>
              <a:rPr lang="en-US" dirty="0" err="1"/>
              <a:t>luận</a:t>
            </a:r>
            <a:endParaRPr lang="en-US" dirty="0"/>
          </a:p>
          <a:p>
            <a:endParaRPr lang="en-US" b="1" dirty="0"/>
          </a:p>
        </p:txBody>
      </p:sp>
      <p:sp>
        <p:nvSpPr>
          <p:cNvPr id="7" name="Text Placeholder 6">
            <a:extLst>
              <a:ext uri="{FF2B5EF4-FFF2-40B4-BE49-F238E27FC236}">
                <a16:creationId xmlns:a16="http://schemas.microsoft.com/office/drawing/2014/main" id="{EF69EEEC-8985-E24F-28C8-2347D1BC1E75}"/>
              </a:ext>
            </a:extLst>
          </p:cNvPr>
          <p:cNvSpPr>
            <a:spLocks noGrp="1"/>
          </p:cNvSpPr>
          <p:nvPr>
            <p:ph type="body" sz="quarter" idx="14"/>
          </p:nvPr>
        </p:nvSpPr>
        <p:spPr/>
        <p:txBody>
          <a:bodyPr/>
          <a:lstStyle/>
          <a:p>
            <a:pPr algn="ctr"/>
            <a:r>
              <a:rPr lang="vi-VN" sz="1800" b="1" dirty="0">
                <a:solidFill>
                  <a:schemeClr val="accent5"/>
                </a:solidFill>
                <a:latin typeface="Fz Poppins ExtBd" pitchFamily="2" charset="0"/>
                <a:cs typeface="Fz Poppins ExtBd" pitchFamily="2" charset="0"/>
              </a:rPr>
              <a:t>Yêu cầu chức năng</a:t>
            </a:r>
            <a:endParaRPr lang="en-US" sz="1800" b="1" dirty="0">
              <a:solidFill>
                <a:schemeClr val="accent5"/>
              </a:solidFill>
              <a:latin typeface="Fz Poppins ExtBd" pitchFamily="2" charset="0"/>
              <a:cs typeface="Fz Poppins ExtBd" pitchFamily="2" charset="0"/>
            </a:endParaRPr>
          </a:p>
          <a:p>
            <a:pPr marL="285750" indent="-285750">
              <a:buFont typeface="Wingdings" panose="05000000000000000000" pitchFamily="2" charset="2"/>
              <a:buChar char="q"/>
            </a:pPr>
            <a:r>
              <a:rPr lang="vi-VN" dirty="0"/>
              <a:t>Phân tích mã nguồn đơn lẻ</a:t>
            </a:r>
          </a:p>
          <a:p>
            <a:pPr marL="285750" indent="-285750">
              <a:buFont typeface="Wingdings" panose="05000000000000000000" pitchFamily="2" charset="2"/>
              <a:buChar char="§"/>
            </a:pPr>
            <a:r>
              <a:rPr lang="en-US" dirty="0" err="1"/>
              <a:t>Tải</a:t>
            </a:r>
            <a:r>
              <a:rPr lang="en-US" dirty="0"/>
              <a:t> </a:t>
            </a:r>
            <a:r>
              <a:rPr lang="en-US" dirty="0" err="1"/>
              <a:t>lên</a:t>
            </a:r>
            <a:r>
              <a:rPr lang="en-US" dirty="0"/>
              <a:t> </a:t>
            </a:r>
            <a:r>
              <a:rPr lang="en-US" dirty="0" err="1"/>
              <a:t>tệp</a:t>
            </a:r>
            <a:r>
              <a:rPr lang="en-US" dirty="0"/>
              <a:t> </a:t>
            </a:r>
            <a:r>
              <a:rPr lang="vi-VN" dirty="0"/>
              <a:t>C/C++ (.c, .</a:t>
            </a:r>
            <a:r>
              <a:rPr lang="vi-VN" dirty="0" err="1"/>
              <a:t>cpp</a:t>
            </a:r>
            <a:r>
              <a:rPr lang="vi-VN" dirty="0"/>
              <a:t>, .h, .</a:t>
            </a:r>
            <a:r>
              <a:rPr lang="vi-VN" dirty="0" err="1"/>
              <a:t>hpp</a:t>
            </a:r>
            <a:r>
              <a:rPr lang="vi-VN" dirty="0"/>
              <a:t>)</a:t>
            </a:r>
            <a:endParaRPr lang="en-US" dirty="0"/>
          </a:p>
          <a:p>
            <a:pPr marL="285750" indent="-285750">
              <a:buFont typeface="Wingdings" panose="05000000000000000000" pitchFamily="2" charset="2"/>
              <a:buChar char="§"/>
            </a:pPr>
            <a:r>
              <a:rPr lang="vi-VN" dirty="0"/>
              <a:t>Nhập </a:t>
            </a:r>
            <a:r>
              <a:rPr lang="vi-VN" dirty="0" err="1"/>
              <a:t>code</a:t>
            </a:r>
            <a:r>
              <a:rPr lang="vi-VN" dirty="0"/>
              <a:t> trực ti</a:t>
            </a:r>
            <a:r>
              <a:rPr lang="en-US" dirty="0" err="1"/>
              <a:t>ếp</a:t>
            </a:r>
            <a:endParaRPr lang="en-US" dirty="0"/>
          </a:p>
          <a:p>
            <a:pPr marL="285750" indent="-285750">
              <a:buFont typeface="Wingdings" panose="05000000000000000000" pitchFamily="2" charset="2"/>
              <a:buChar char="§"/>
            </a:pPr>
            <a:r>
              <a:rPr lang="en-US" dirty="0" err="1"/>
              <a:t>Phân</a:t>
            </a:r>
            <a:r>
              <a:rPr lang="en-US" dirty="0"/>
              <a:t> </a:t>
            </a:r>
            <a:r>
              <a:rPr lang="en-US" dirty="0" err="1"/>
              <a:t>tích</a:t>
            </a:r>
            <a:r>
              <a:rPr lang="en-US" dirty="0"/>
              <a:t> </a:t>
            </a:r>
            <a:r>
              <a:rPr lang="en-US" dirty="0" err="1"/>
              <a:t>bằng</a:t>
            </a:r>
            <a:r>
              <a:rPr lang="en-US" dirty="0"/>
              <a:t> AI</a:t>
            </a:r>
          </a:p>
          <a:p>
            <a:pPr marL="285750" indent="-285750">
              <a:buFont typeface="Wingdings" panose="05000000000000000000" pitchFamily="2" charset="2"/>
              <a:buChar char="q"/>
            </a:pPr>
            <a:r>
              <a:rPr lang="en-US" dirty="0" err="1"/>
              <a:t>Phân</a:t>
            </a:r>
            <a:r>
              <a:rPr lang="en-US" dirty="0"/>
              <a:t> </a:t>
            </a:r>
            <a:r>
              <a:rPr lang="en-US" dirty="0" err="1"/>
              <a:t>tích</a:t>
            </a:r>
            <a:r>
              <a:rPr lang="en-US" dirty="0"/>
              <a:t> </a:t>
            </a:r>
            <a:r>
              <a:rPr lang="en-US" dirty="0" err="1"/>
              <a:t>nhiều</a:t>
            </a:r>
            <a:r>
              <a:rPr lang="en-US" dirty="0"/>
              <a:t> </a:t>
            </a:r>
            <a:r>
              <a:rPr lang="en-US" dirty="0" err="1"/>
              <a:t>tệp</a:t>
            </a:r>
            <a:r>
              <a:rPr lang="en-US" dirty="0"/>
              <a:t> </a:t>
            </a:r>
            <a:r>
              <a:rPr lang="en-US" dirty="0" err="1"/>
              <a:t>cùng</a:t>
            </a:r>
            <a:r>
              <a:rPr lang="en-US" dirty="0"/>
              <a:t> </a:t>
            </a:r>
            <a:r>
              <a:rPr lang="en-US" dirty="0" err="1"/>
              <a:t>lúc</a:t>
            </a:r>
            <a:endParaRPr lang="en-US" dirty="0"/>
          </a:p>
          <a:p>
            <a:pPr marL="285750" indent="-285750">
              <a:buFont typeface="Wingdings" panose="05000000000000000000" pitchFamily="2" charset="2"/>
              <a:buChar char="§"/>
            </a:pPr>
            <a:r>
              <a:rPr lang="en-US" dirty="0" err="1"/>
              <a:t>Sử</a:t>
            </a:r>
            <a:r>
              <a:rPr lang="en-US" dirty="0"/>
              <a:t> </a:t>
            </a:r>
            <a:r>
              <a:rPr lang="en-US" dirty="0" err="1"/>
              <a:t>dụng</a:t>
            </a:r>
            <a:r>
              <a:rPr lang="en-US" dirty="0"/>
              <a:t> </a:t>
            </a:r>
            <a:r>
              <a:rPr lang="en-US" dirty="0" err="1"/>
              <a:t>kho</a:t>
            </a:r>
            <a:r>
              <a:rPr lang="en-US" dirty="0"/>
              <a:t> </a:t>
            </a:r>
            <a:r>
              <a:rPr lang="en-US" dirty="0" err="1"/>
              <a:t>lưu</a:t>
            </a:r>
            <a:r>
              <a:rPr lang="en-US" dirty="0"/>
              <a:t> </a:t>
            </a:r>
            <a:r>
              <a:rPr lang="en-US" dirty="0" err="1"/>
              <a:t>trữ</a:t>
            </a:r>
            <a:r>
              <a:rPr lang="en-US" dirty="0"/>
              <a:t> Google Drive</a:t>
            </a:r>
          </a:p>
          <a:p>
            <a:endParaRPr lang="en-US" dirty="0"/>
          </a:p>
        </p:txBody>
      </p:sp>
      <p:sp>
        <p:nvSpPr>
          <p:cNvPr id="8" name="Text Placeholder 3">
            <a:extLst>
              <a:ext uri="{FF2B5EF4-FFF2-40B4-BE49-F238E27FC236}">
                <a16:creationId xmlns:a16="http://schemas.microsoft.com/office/drawing/2014/main" id="{DF02AB69-BC52-2733-1ED1-B15D6C11E709}"/>
              </a:ext>
            </a:extLst>
          </p:cNvPr>
          <p:cNvSpPr>
            <a:spLocks noGrp="1"/>
          </p:cNvSpPr>
          <p:nvPr>
            <p:ph type="body" sz="quarter" idx="11"/>
          </p:nvPr>
        </p:nvSpPr>
        <p:spPr>
          <a:xfrm>
            <a:off x="838200" y="1354138"/>
            <a:ext cx="10515600" cy="295275"/>
          </a:xfrm>
        </p:spPr>
        <p:txBody>
          <a:bodyPr/>
          <a:lstStyle/>
          <a:p>
            <a:r>
              <a:rPr lang="en-US" dirty="0"/>
              <a:t>III. THỰC HIỆN HÓA NGHIÊN CỨU</a:t>
            </a:r>
          </a:p>
        </p:txBody>
      </p:sp>
      <p:sp>
        <p:nvSpPr>
          <p:cNvPr id="9" name="Text Placeholder 5">
            <a:extLst>
              <a:ext uri="{FF2B5EF4-FFF2-40B4-BE49-F238E27FC236}">
                <a16:creationId xmlns:a16="http://schemas.microsoft.com/office/drawing/2014/main" id="{7C5014C2-AB23-A738-5FBE-50A27CA77B7A}"/>
              </a:ext>
            </a:extLst>
          </p:cNvPr>
          <p:cNvSpPr>
            <a:spLocks noGrp="1"/>
          </p:cNvSpPr>
          <p:nvPr>
            <p:ph type="body" sz="quarter" idx="13"/>
          </p:nvPr>
        </p:nvSpPr>
        <p:spPr>
          <a:xfrm>
            <a:off x="838200" y="1649413"/>
            <a:ext cx="10515600" cy="295275"/>
          </a:xfrm>
        </p:spPr>
        <p:txBody>
          <a:bodyPr/>
          <a:lstStyle/>
          <a:p>
            <a:r>
              <a:rPr lang="en-US" dirty="0"/>
              <a:t>3.1 </a:t>
            </a:r>
            <a:r>
              <a:rPr lang="en-US" dirty="0" err="1"/>
              <a:t>Phân</a:t>
            </a:r>
            <a:r>
              <a:rPr lang="en-US" dirty="0"/>
              <a:t> </a:t>
            </a:r>
            <a:r>
              <a:rPr lang="en-US" dirty="0" err="1"/>
              <a:t>tích</a:t>
            </a:r>
            <a:r>
              <a:rPr lang="en-US" dirty="0"/>
              <a:t> </a:t>
            </a:r>
            <a:r>
              <a:rPr lang="en-US" dirty="0" err="1"/>
              <a:t>yêu</a:t>
            </a:r>
            <a:r>
              <a:rPr lang="en-US" dirty="0"/>
              <a:t> </a:t>
            </a:r>
            <a:r>
              <a:rPr lang="en-US" dirty="0" err="1"/>
              <a:t>cầu</a:t>
            </a:r>
            <a:r>
              <a:rPr lang="en-US" dirty="0"/>
              <a:t> </a:t>
            </a:r>
            <a:r>
              <a:rPr lang="en-US" dirty="0" err="1"/>
              <a:t>hệ</a:t>
            </a:r>
            <a:r>
              <a:rPr lang="en-US" dirty="0"/>
              <a:t> </a:t>
            </a:r>
            <a:r>
              <a:rPr lang="en-US" dirty="0" err="1"/>
              <a:t>thống</a:t>
            </a:r>
            <a:endParaRPr lang="en-US" dirty="0"/>
          </a:p>
        </p:txBody>
      </p:sp>
      <p:sp>
        <p:nvSpPr>
          <p:cNvPr id="10" name="Title 4">
            <a:extLst>
              <a:ext uri="{FF2B5EF4-FFF2-40B4-BE49-F238E27FC236}">
                <a16:creationId xmlns:a16="http://schemas.microsoft.com/office/drawing/2014/main" id="{966C6B2E-BDC4-FA9E-4C7C-D0CA00F7DF8C}"/>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94878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8"/>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9"/>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50"/>
                                        <p:tgtEl>
                                          <p:spTgt spid="7"/>
                                        </p:tgtEl>
                                      </p:cBhvr>
                                    </p:animEffect>
                                  </p:childTnLst>
                                </p:cTn>
                              </p:par>
                              <p:par>
                                <p:cTn id="19" presetID="42" presetClass="path" presetSubtype="0" decel="100000" fill="hold" grpId="1" nodeType="withEffect">
                                  <p:stCondLst>
                                    <p:cond delay="0"/>
                                  </p:stCondLst>
                                  <p:childTnLst>
                                    <p:animMotion origin="layout" path="M 1.25E-6 0.03889 L 1.25E-6 1.85185E-6 " pathEditMode="relative" rAng="0" ptsTypes="AA">
                                      <p:cBhvr>
                                        <p:cTn id="20" dur="500" fill="hold"/>
                                        <p:tgtEl>
                                          <p:spTgt spid="7"/>
                                        </p:tgtEl>
                                        <p:attrNameLst>
                                          <p:attrName>ppt_x</p:attrName>
                                          <p:attrName>ppt_y</p:attrName>
                                        </p:attrNameLst>
                                      </p:cBhvr>
                                      <p:rCtr x="0" y="-1944"/>
                                    </p:animMotion>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250"/>
                                        <p:tgtEl>
                                          <p:spTgt spid="4"/>
                                        </p:tgtEl>
                                      </p:cBhvr>
                                    </p:animEffect>
                                  </p:childTnLst>
                                </p:cTn>
                              </p:par>
                              <p:par>
                                <p:cTn id="25" presetID="42" presetClass="path" presetSubtype="0" decel="100000" fill="hold" grpId="1" nodeType="withEffect">
                                  <p:stCondLst>
                                    <p:cond delay="0"/>
                                  </p:stCondLst>
                                  <p:childTnLst>
                                    <p:animMotion origin="layout" path="M 1.25E-6 0.03889 L 1.25E-6 1.85185E-6 " pathEditMode="relative" rAng="0" ptsTypes="AA">
                                      <p:cBhvr>
                                        <p:cTn id="26" dur="500" fill="hold"/>
                                        <p:tgtEl>
                                          <p:spTgt spid="4"/>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7" grpId="0"/>
      <p:bldP spid="7" grpId="1"/>
      <p:bldP spid="8" grpId="0"/>
      <p:bldP spid="8" grpId="1"/>
      <p:bldP spid="9" grpId="0"/>
      <p:bldP spid="9"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22</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III. THỰC HIỆN HÓA NGHIÊN CỨU</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3.2 </a:t>
            </a:r>
            <a:r>
              <a:rPr lang="en-US" dirty="0" err="1"/>
              <a:t>Kiến</a:t>
            </a:r>
            <a:r>
              <a:rPr lang="en-US" dirty="0"/>
              <a:t> </a:t>
            </a:r>
            <a:r>
              <a:rPr lang="en-US" dirty="0" err="1"/>
              <a:t>trúc</a:t>
            </a:r>
            <a:r>
              <a:rPr lang="en-US" dirty="0"/>
              <a:t> </a:t>
            </a:r>
            <a:r>
              <a:rPr lang="en-US" dirty="0" err="1"/>
              <a:t>hệ</a:t>
            </a:r>
            <a:r>
              <a:rPr lang="en-US" dirty="0"/>
              <a:t> </a:t>
            </a:r>
            <a:r>
              <a:rPr lang="en-US" dirty="0" err="1"/>
              <a:t>thống</a:t>
            </a:r>
            <a:endParaRPr lang="en-US" dirty="0"/>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9" name="Text Placeholder 8">
            <a:extLst>
              <a:ext uri="{FF2B5EF4-FFF2-40B4-BE49-F238E27FC236}">
                <a16:creationId xmlns:a16="http://schemas.microsoft.com/office/drawing/2014/main" id="{B8F82B3C-33E7-3868-0E32-60CE5CC57746}"/>
              </a:ext>
            </a:extLst>
          </p:cNvPr>
          <p:cNvSpPr>
            <a:spLocks noGrp="1"/>
          </p:cNvSpPr>
          <p:nvPr>
            <p:ph type="body" sz="quarter" idx="12"/>
          </p:nvPr>
        </p:nvSpPr>
        <p:spPr>
          <a:xfrm>
            <a:off x="838200" y="2174538"/>
            <a:ext cx="3573780" cy="3114744"/>
          </a:xfrm>
        </p:spPr>
        <p:txBody>
          <a:bodyPr/>
          <a:lstStyle/>
          <a:p>
            <a:r>
              <a:rPr lang="en-US" b="1" dirty="0"/>
              <a:t>1️⃣ </a:t>
            </a:r>
            <a:r>
              <a:rPr lang="en-US" b="1" dirty="0" err="1"/>
              <a:t>Gửi</a:t>
            </a:r>
            <a:r>
              <a:rPr lang="en-US" b="1" dirty="0"/>
              <a:t> code </a:t>
            </a:r>
            <a:r>
              <a:rPr lang="en-US" b="1" dirty="0" err="1"/>
              <a:t>lên</a:t>
            </a:r>
            <a:r>
              <a:rPr lang="en-US" b="1" dirty="0"/>
              <a:t> </a:t>
            </a:r>
            <a:r>
              <a:rPr lang="en-US" b="1" dirty="0" err="1"/>
              <a:t>hệ</a:t>
            </a:r>
            <a:r>
              <a:rPr lang="en-US" b="1" dirty="0"/>
              <a:t> </a:t>
            </a:r>
            <a:r>
              <a:rPr lang="en-US" b="1" dirty="0" err="1"/>
              <a:t>thống</a:t>
            </a:r>
            <a:endParaRPr lang="en-US" b="1" dirty="0"/>
          </a:p>
          <a:p>
            <a:r>
              <a:rPr lang="en-US" b="1" dirty="0"/>
              <a:t>2️⃣ </a:t>
            </a:r>
            <a:r>
              <a:rPr lang="en-US" b="1" dirty="0" err="1"/>
              <a:t>Tiếp</a:t>
            </a:r>
            <a:r>
              <a:rPr lang="en-US" b="1" dirty="0"/>
              <a:t> </a:t>
            </a:r>
            <a:r>
              <a:rPr lang="en-US" b="1" dirty="0" err="1"/>
              <a:t>nhận</a:t>
            </a:r>
            <a:r>
              <a:rPr lang="en-US" b="1" dirty="0"/>
              <a:t> </a:t>
            </a:r>
            <a:r>
              <a:rPr lang="en-US" b="1" dirty="0" err="1"/>
              <a:t>yêu</a:t>
            </a:r>
            <a:r>
              <a:rPr lang="en-US" b="1" dirty="0"/>
              <a:t> </a:t>
            </a:r>
            <a:r>
              <a:rPr lang="en-US" b="1" dirty="0" err="1"/>
              <a:t>cầu</a:t>
            </a:r>
            <a:r>
              <a:rPr lang="en-US" b="1" dirty="0"/>
              <a:t>, </a:t>
            </a:r>
            <a:r>
              <a:rPr lang="en-US" b="1" dirty="0" err="1"/>
              <a:t>gửi</a:t>
            </a:r>
            <a:r>
              <a:rPr lang="en-US" b="1" dirty="0"/>
              <a:t> code </a:t>
            </a:r>
            <a:r>
              <a:rPr lang="en-US" b="1" dirty="0" err="1"/>
              <a:t>cho</a:t>
            </a:r>
            <a:r>
              <a:rPr lang="en-US" b="1" dirty="0"/>
              <a:t> module </a:t>
            </a:r>
            <a:r>
              <a:rPr lang="en-US" b="1" dirty="0" err="1"/>
              <a:t>tương</a:t>
            </a:r>
            <a:r>
              <a:rPr lang="en-US" b="1" dirty="0"/>
              <a:t> </a:t>
            </a:r>
            <a:r>
              <a:rPr lang="en-US" b="1" dirty="0" err="1"/>
              <a:t>ứng</a:t>
            </a:r>
            <a:endParaRPr lang="en-US" b="1" dirty="0"/>
          </a:p>
          <a:p>
            <a:r>
              <a:rPr lang="en-US" b="1" dirty="0"/>
              <a:t>3️⃣ </a:t>
            </a:r>
            <a:r>
              <a:rPr lang="en-US" b="1" dirty="0" err="1"/>
              <a:t>Phân</a:t>
            </a:r>
            <a:r>
              <a:rPr lang="en-US" b="1" dirty="0"/>
              <a:t> </a:t>
            </a:r>
            <a:r>
              <a:rPr lang="en-US" b="1" dirty="0" err="1"/>
              <a:t>phối</a:t>
            </a:r>
            <a:r>
              <a:rPr lang="en-US" b="1" dirty="0"/>
              <a:t> </a:t>
            </a:r>
            <a:r>
              <a:rPr lang="en-US" b="1" dirty="0" err="1"/>
              <a:t>cho</a:t>
            </a:r>
            <a:r>
              <a:rPr lang="en-US" b="1" dirty="0"/>
              <a:t> </a:t>
            </a:r>
            <a:r>
              <a:rPr lang="en-US" b="1" dirty="0" err="1"/>
              <a:t>các</a:t>
            </a:r>
            <a:r>
              <a:rPr lang="en-US" b="1" dirty="0"/>
              <a:t> module </a:t>
            </a:r>
            <a:r>
              <a:rPr lang="en-US" b="1" dirty="0" err="1"/>
              <a:t>phân</a:t>
            </a:r>
            <a:r>
              <a:rPr lang="en-US" b="1" dirty="0"/>
              <a:t> </a:t>
            </a:r>
            <a:r>
              <a:rPr lang="en-US" b="1" dirty="0" err="1"/>
              <a:t>tích</a:t>
            </a:r>
            <a:endParaRPr lang="en-US" b="1" dirty="0"/>
          </a:p>
          <a:p>
            <a:r>
              <a:rPr lang="en-US" b="1" dirty="0"/>
              <a:t>4️⃣  </a:t>
            </a:r>
            <a:r>
              <a:rPr lang="en-US" b="1" dirty="0" err="1"/>
              <a:t>Chuẩn</a:t>
            </a:r>
            <a:r>
              <a:rPr lang="en-US" b="1" dirty="0"/>
              <a:t> </a:t>
            </a:r>
            <a:r>
              <a:rPr lang="en-US" b="1" dirty="0" err="1"/>
              <a:t>hóa</a:t>
            </a:r>
            <a:r>
              <a:rPr lang="en-US" b="1" dirty="0"/>
              <a:t>, </a:t>
            </a:r>
            <a:r>
              <a:rPr lang="en-US" b="1" dirty="0" err="1"/>
              <a:t>định</a:t>
            </a:r>
            <a:r>
              <a:rPr lang="en-US" b="1" dirty="0"/>
              <a:t> </a:t>
            </a:r>
            <a:r>
              <a:rPr lang="en-US" b="1" dirty="0" err="1"/>
              <a:t>dạng</a:t>
            </a:r>
            <a:r>
              <a:rPr lang="en-US" b="1" dirty="0"/>
              <a:t> </a:t>
            </a:r>
            <a:r>
              <a:rPr lang="en-US" b="1" dirty="0" err="1"/>
              <a:t>dữ</a:t>
            </a:r>
            <a:r>
              <a:rPr lang="en-US" b="1" dirty="0"/>
              <a:t> </a:t>
            </a:r>
            <a:r>
              <a:rPr lang="en-US" b="1" dirty="0" err="1"/>
              <a:t>liệu</a:t>
            </a:r>
            <a:r>
              <a:rPr lang="en-US" b="1" dirty="0"/>
              <a:t> </a:t>
            </a:r>
            <a:r>
              <a:rPr lang="en-US" b="1" dirty="0" err="1"/>
              <a:t>phân</a:t>
            </a:r>
            <a:r>
              <a:rPr lang="en-US" b="1" dirty="0"/>
              <a:t> </a:t>
            </a:r>
            <a:r>
              <a:rPr lang="en-US" b="1" dirty="0" err="1"/>
              <a:t>tích</a:t>
            </a:r>
            <a:r>
              <a:rPr lang="en-US" b="1" dirty="0"/>
              <a:t> </a:t>
            </a:r>
            <a:r>
              <a:rPr lang="en-US" b="1" dirty="0" err="1"/>
              <a:t>và</a:t>
            </a:r>
            <a:r>
              <a:rPr lang="en-US" b="1" dirty="0"/>
              <a:t> </a:t>
            </a:r>
            <a:r>
              <a:rPr lang="en-US" b="1" dirty="0" err="1"/>
              <a:t>trả</a:t>
            </a:r>
            <a:r>
              <a:rPr lang="en-US" b="1" dirty="0"/>
              <a:t> </a:t>
            </a:r>
            <a:r>
              <a:rPr lang="en-US" b="1" dirty="0" err="1"/>
              <a:t>kết</a:t>
            </a:r>
            <a:r>
              <a:rPr lang="en-US" b="1" dirty="0"/>
              <a:t> </a:t>
            </a:r>
            <a:r>
              <a:rPr lang="en-US" b="1" dirty="0" err="1"/>
              <a:t>quả</a:t>
            </a:r>
            <a:endParaRPr lang="en-US" b="1" dirty="0"/>
          </a:p>
        </p:txBody>
      </p:sp>
      <p:pic>
        <p:nvPicPr>
          <p:cNvPr id="10" name="Picture 9" descr="A screenshot of a computer&#10;&#10;AI-generated content may be incorrect.">
            <a:extLst>
              <a:ext uri="{FF2B5EF4-FFF2-40B4-BE49-F238E27FC236}">
                <a16:creationId xmlns:a16="http://schemas.microsoft.com/office/drawing/2014/main" id="{71283B45-F39B-FC52-63CA-A64F39791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1796" y="1452562"/>
            <a:ext cx="7418729" cy="4558697"/>
          </a:xfrm>
          <a:prstGeom prst="rect">
            <a:avLst/>
          </a:prstGeom>
        </p:spPr>
      </p:pic>
    </p:spTree>
    <p:extLst>
      <p:ext uri="{BB962C8B-B14F-4D97-AF65-F5344CB8AC3E}">
        <p14:creationId xmlns:p14="http://schemas.microsoft.com/office/powerpoint/2010/main" val="766762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1B4723-F15F-B0DC-094E-C31828469AC8}"/>
              </a:ext>
            </a:extLst>
          </p:cNvPr>
          <p:cNvSpPr>
            <a:spLocks noGrp="1"/>
          </p:cNvSpPr>
          <p:nvPr>
            <p:ph type="sldNum" sz="quarter" idx="10"/>
          </p:nvPr>
        </p:nvSpPr>
        <p:spPr/>
        <p:txBody>
          <a:bodyPr/>
          <a:lstStyle/>
          <a:p>
            <a:fld id="{A8929BE4-9460-4FFC-82AB-40FA3E28D9A3}" type="slidenum">
              <a:rPr lang="en-US" smtClean="0"/>
              <a:pPr/>
              <a:t>23</a:t>
            </a:fld>
            <a:endParaRPr lang="en-US"/>
          </a:p>
        </p:txBody>
      </p:sp>
      <p:sp>
        <p:nvSpPr>
          <p:cNvPr id="3" name="Text Placeholder 2">
            <a:extLst>
              <a:ext uri="{FF2B5EF4-FFF2-40B4-BE49-F238E27FC236}">
                <a16:creationId xmlns:a16="http://schemas.microsoft.com/office/drawing/2014/main" id="{205B3754-07D4-B7A6-9692-D86654E04B6C}"/>
              </a:ext>
            </a:extLst>
          </p:cNvPr>
          <p:cNvSpPr>
            <a:spLocks noGrp="1"/>
          </p:cNvSpPr>
          <p:nvPr>
            <p:ph type="body" sz="quarter" idx="11"/>
          </p:nvPr>
        </p:nvSpPr>
        <p:spPr/>
        <p:txBody>
          <a:bodyPr/>
          <a:lstStyle/>
          <a:p>
            <a:r>
              <a:rPr lang="en-US" dirty="0"/>
              <a:t>04</a:t>
            </a:r>
          </a:p>
        </p:txBody>
      </p:sp>
      <p:sp>
        <p:nvSpPr>
          <p:cNvPr id="4" name="Text Placeholder 3">
            <a:extLst>
              <a:ext uri="{FF2B5EF4-FFF2-40B4-BE49-F238E27FC236}">
                <a16:creationId xmlns:a16="http://schemas.microsoft.com/office/drawing/2014/main" id="{2EAE002A-7FC1-0EA2-17B2-5FF54F42E28A}"/>
              </a:ext>
            </a:extLst>
          </p:cNvPr>
          <p:cNvSpPr>
            <a:spLocks noGrp="1"/>
          </p:cNvSpPr>
          <p:nvPr>
            <p:ph type="body" sz="quarter" idx="12"/>
          </p:nvPr>
        </p:nvSpPr>
        <p:spPr/>
        <p:txBody>
          <a:bodyPr/>
          <a:lstStyle/>
          <a:p>
            <a:r>
              <a:rPr lang="en-US" sz="5400" dirty="0"/>
              <a:t>TRIỂN KHAI VÀ</a:t>
            </a:r>
            <a:br>
              <a:rPr lang="en-US" sz="5400" dirty="0"/>
            </a:br>
            <a:r>
              <a:rPr lang="en-US" sz="5400" dirty="0"/>
              <a:t>KẾT QUẢ NGHIÊN CỨU</a:t>
            </a:r>
          </a:p>
        </p:txBody>
      </p:sp>
      <p:sp>
        <p:nvSpPr>
          <p:cNvPr id="5" name="Title 4">
            <a:extLst>
              <a:ext uri="{FF2B5EF4-FFF2-40B4-BE49-F238E27FC236}">
                <a16:creationId xmlns:a16="http://schemas.microsoft.com/office/drawing/2014/main" id="{D1B2F9DA-C6A8-C811-386B-07209B90EFEE}"/>
              </a:ext>
            </a:extLst>
          </p:cNvPr>
          <p:cNvSpPr>
            <a:spLocks noGrp="1"/>
          </p:cNvSpPr>
          <p:nvPr>
            <p:ph type="title"/>
          </p:nvPr>
        </p:nvSpPr>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256634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24</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093843"/>
            <a:ext cx="6192795" cy="3940245"/>
          </a:xfrm>
        </p:spPr>
        <p:txBody>
          <a:bodyPr/>
          <a:lstStyle/>
          <a:p>
            <a:pPr algn="just"/>
            <a:r>
              <a:rPr lang="vi-VN" sz="1400" b="1" dirty="0">
                <a:solidFill>
                  <a:schemeClr val="accent5"/>
                </a:solidFill>
              </a:rPr>
              <a:t>Mục đích chính: </a:t>
            </a:r>
            <a:r>
              <a:rPr lang="vi-VN" sz="1400" dirty="0"/>
              <a:t>Trích xuất các đặc trưng về cấu trúc ngữ pháp và </a:t>
            </a:r>
            <a:r>
              <a:rPr lang="vi-VN" sz="1400" dirty="0" err="1"/>
              <a:t>logic</a:t>
            </a:r>
            <a:r>
              <a:rPr lang="vi-VN" sz="1400" dirty="0"/>
              <a:t> của mã nguồn thông qua </a:t>
            </a:r>
            <a:r>
              <a:rPr lang="vi-VN" sz="1400" dirty="0" err="1"/>
              <a:t>Abstract</a:t>
            </a:r>
            <a:r>
              <a:rPr lang="vi-VN" sz="1400" dirty="0"/>
              <a:t> </a:t>
            </a:r>
            <a:r>
              <a:rPr lang="vi-VN" sz="1400" dirty="0" err="1"/>
              <a:t>Syntax</a:t>
            </a:r>
            <a:r>
              <a:rPr lang="vi-VN" sz="1400" dirty="0"/>
              <a:t> Tre</a:t>
            </a:r>
            <a:r>
              <a:rPr lang="en-US" sz="1400" dirty="0"/>
              <a:t>e</a:t>
            </a:r>
          </a:p>
          <a:p>
            <a:pPr marL="285750" indent="-285750" algn="just">
              <a:buFont typeface="Wingdings" panose="05000000000000000000" pitchFamily="2" charset="2"/>
              <a:buChar char="q"/>
            </a:pPr>
            <a:r>
              <a:rPr lang="en-US" sz="1400" b="1" dirty="0" err="1"/>
              <a:t>Cách</a:t>
            </a:r>
            <a:r>
              <a:rPr lang="en-US" sz="1400" b="1" dirty="0"/>
              <a:t> </a:t>
            </a:r>
            <a:r>
              <a:rPr lang="en-US" sz="1400" b="1" dirty="0" err="1"/>
              <a:t>triển</a:t>
            </a:r>
            <a:r>
              <a:rPr lang="en-US" sz="1400" b="1" dirty="0"/>
              <a:t> </a:t>
            </a:r>
            <a:r>
              <a:rPr lang="en-US" sz="1400" b="1" dirty="0" err="1"/>
              <a:t>khai</a:t>
            </a:r>
            <a:r>
              <a:rPr lang="en-US" sz="1400" b="1" dirty="0"/>
              <a:t>:</a:t>
            </a:r>
          </a:p>
          <a:p>
            <a:pPr marL="285750" indent="-285750" algn="just">
              <a:buFont typeface="Wingdings" panose="05000000000000000000" pitchFamily="2" charset="2"/>
              <a:buChar char="§"/>
            </a:pPr>
            <a:r>
              <a:rPr lang="vi-VN" sz="1400" dirty="0"/>
              <a:t>Phân tích cấu trúc </a:t>
            </a:r>
            <a:r>
              <a:rPr lang="vi-VN" sz="1400" dirty="0" err="1"/>
              <a:t>code</a:t>
            </a:r>
            <a:r>
              <a:rPr lang="vi-VN" sz="1400" dirty="0"/>
              <a:t> C/C++ thông qua các </a:t>
            </a:r>
            <a:r>
              <a:rPr lang="en-US" sz="1400" dirty="0" err="1"/>
              <a:t>mẫu</a:t>
            </a:r>
            <a:r>
              <a:rPr lang="vi-VN" sz="1400" dirty="0"/>
              <a:t> về khai báo hàm, cấu trúc điều khiển, khai báo biến</a:t>
            </a:r>
            <a:endParaRPr lang="en-US" sz="1400" dirty="0"/>
          </a:p>
          <a:p>
            <a:pPr marL="285750" indent="-285750" algn="just">
              <a:buFont typeface="Wingdings" panose="05000000000000000000" pitchFamily="2" charset="2"/>
              <a:buChar char="§"/>
            </a:pPr>
            <a:r>
              <a:rPr lang="vi-VN" sz="1400" dirty="0"/>
              <a:t>Chuẩn hóa tất cả đặc trưng theo </a:t>
            </a:r>
            <a:r>
              <a:rPr lang="en-US" sz="1400" dirty="0" err="1"/>
              <a:t>số</a:t>
            </a:r>
            <a:r>
              <a:rPr lang="en-US" sz="1400" dirty="0"/>
              <a:t> </a:t>
            </a:r>
            <a:r>
              <a:rPr lang="en-US" sz="1400" dirty="0" err="1"/>
              <a:t>lượng</a:t>
            </a:r>
            <a:r>
              <a:rPr lang="en-US" sz="1400" dirty="0"/>
              <a:t> </a:t>
            </a:r>
            <a:r>
              <a:rPr lang="en-US" sz="1400" dirty="0" err="1"/>
              <a:t>dòng</a:t>
            </a:r>
            <a:r>
              <a:rPr lang="en-US" sz="1400" dirty="0"/>
              <a:t> code </a:t>
            </a:r>
            <a:r>
              <a:rPr lang="vi-VN" sz="1400" dirty="0"/>
              <a:t>để đảm bảo khả năng so sánh</a:t>
            </a:r>
          </a:p>
          <a:p>
            <a:pPr marL="285750" indent="-285750" algn="just">
              <a:buFont typeface="Wingdings" panose="05000000000000000000" pitchFamily="2" charset="2"/>
              <a:buChar char="§"/>
            </a:pPr>
            <a:r>
              <a:rPr lang="vi-VN" sz="1400" dirty="0"/>
              <a:t>Tập trung vào việc phát hiện những khác biệt tinh tế giữa </a:t>
            </a:r>
            <a:r>
              <a:rPr lang="vi-VN" sz="1400" dirty="0" err="1"/>
              <a:t>code</a:t>
            </a:r>
            <a:r>
              <a:rPr lang="vi-VN" sz="1400" dirty="0"/>
              <a:t> do AI tạo ra (cấu trúc đều đặn, độ sâu lồng nhau vừa phải) và </a:t>
            </a:r>
            <a:r>
              <a:rPr lang="vi-VN" sz="1400" dirty="0" err="1"/>
              <a:t>code</a:t>
            </a:r>
            <a:r>
              <a:rPr lang="vi-VN" sz="1400" dirty="0"/>
              <a:t> do con người viết</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4.1 </a:t>
            </a:r>
            <a:r>
              <a:rPr lang="vi-VN" dirty="0"/>
              <a:t>AST </a:t>
            </a:r>
            <a:r>
              <a:rPr lang="vi-VN" dirty="0" err="1"/>
              <a:t>Analyzer</a:t>
            </a:r>
            <a:r>
              <a:rPr lang="vi-VN" dirty="0"/>
              <a:t> </a:t>
            </a:r>
            <a:r>
              <a:rPr lang="vi-VN" dirty="0" err="1"/>
              <a:t>Module</a:t>
            </a:r>
            <a:r>
              <a:rPr lang="vi-VN" dirty="0"/>
              <a:t> - Phân tích cấu trúc mã nguồn</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9" name="Graphic 8">
            <a:extLst>
              <a:ext uri="{FF2B5EF4-FFF2-40B4-BE49-F238E27FC236}">
                <a16:creationId xmlns:a16="http://schemas.microsoft.com/office/drawing/2014/main" id="{FA8E0B95-A35E-E79B-6E4E-F4DA8F2811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44947" y="1944688"/>
            <a:ext cx="3453714" cy="345371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2724505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3.75E-6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200" fill="hold"/>
                                            <p:tgtEl>
                                              <p:spTgt spid="9"/>
                                            </p:tgtEl>
                                            <p:attrNameLst>
                                              <p:attrName>ppt_w</p:attrName>
                                            </p:attrNameLst>
                                          </p:cBhvr>
                                          <p:tavLst>
                                            <p:tav tm="0">
                                              <p:val>
                                                <p:fltVal val="0"/>
                                              </p:val>
                                            </p:tav>
                                            <p:tav tm="100000">
                                              <p:val>
                                                <p:strVal val="#ppt_w"/>
                                              </p:val>
                                            </p:tav>
                                          </p:tavLst>
                                        </p:anim>
                                        <p:anim calcmode="lin" valueType="num">
                                          <p:cBhvr>
                                            <p:cTn id="25" dur="200" fill="hold"/>
                                            <p:tgtEl>
                                              <p:spTgt spid="9"/>
                                            </p:tgtEl>
                                            <p:attrNameLst>
                                              <p:attrName>ppt_h</p:attrName>
                                            </p:attrNameLst>
                                          </p:cBhvr>
                                          <p:tavLst>
                                            <p:tav tm="0">
                                              <p:val>
                                                <p:fltVal val="0"/>
                                              </p:val>
                                            </p:tav>
                                            <p:tav tm="100000">
                                              <p:val>
                                                <p:strVal val="#ppt_h"/>
                                              </p:val>
                                            </p:tav>
                                          </p:tavLst>
                                        </p:anim>
                                      </p:childTnLst>
                                    </p:cTn>
                                  </p:par>
                                  <p:par>
                                    <p:cTn id="26" presetID="6" presetClass="emph" presetSubtype="0" fill="hold" nodeType="withEffect" p14:presetBounceEnd="99000">
                                      <p:stCondLst>
                                        <p:cond delay="0"/>
                                      </p:stCondLst>
                                      <p:childTnLst>
                                        <p:animScale p14:bounceEnd="99000">
                                          <p:cBhvr>
                                            <p:cTn id="27" dur="1000" fill="hold"/>
                                            <p:tgtEl>
                                              <p:spTgt spid="9"/>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9"/>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3.75E-6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200" fill="hold"/>
                                            <p:tgtEl>
                                              <p:spTgt spid="9"/>
                                            </p:tgtEl>
                                            <p:attrNameLst>
                                              <p:attrName>ppt_w</p:attrName>
                                            </p:attrNameLst>
                                          </p:cBhvr>
                                          <p:tavLst>
                                            <p:tav tm="0">
                                              <p:val>
                                                <p:fltVal val="0"/>
                                              </p:val>
                                            </p:tav>
                                            <p:tav tm="100000">
                                              <p:val>
                                                <p:strVal val="#ppt_w"/>
                                              </p:val>
                                            </p:tav>
                                          </p:tavLst>
                                        </p:anim>
                                        <p:anim calcmode="lin" valueType="num">
                                          <p:cBhvr>
                                            <p:cTn id="25" dur="200" fill="hold"/>
                                            <p:tgtEl>
                                              <p:spTgt spid="9"/>
                                            </p:tgtEl>
                                            <p:attrNameLst>
                                              <p:attrName>ppt_h</p:attrName>
                                            </p:attrNameLst>
                                          </p:cBhvr>
                                          <p:tavLst>
                                            <p:tav tm="0">
                                              <p:val>
                                                <p:fltVal val="0"/>
                                              </p:val>
                                            </p:tav>
                                            <p:tav tm="100000">
                                              <p:val>
                                                <p:strVal val="#ppt_h"/>
                                              </p:val>
                                            </p:tav>
                                          </p:tavLst>
                                        </p:anim>
                                      </p:childTnLst>
                                    </p:cTn>
                                  </p:par>
                                  <p:par>
                                    <p:cTn id="26" presetID="6" presetClass="emph" presetSubtype="0" fill="hold" nodeType="withEffect">
                                      <p:stCondLst>
                                        <p:cond delay="0"/>
                                      </p:stCondLst>
                                      <p:childTnLst>
                                        <p:animScale>
                                          <p:cBhvr>
                                            <p:cTn id="27" dur="1000" fill="hold"/>
                                            <p:tgtEl>
                                              <p:spTgt spid="9"/>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9"/>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25</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1" y="2093843"/>
            <a:ext cx="5257800" cy="3940245"/>
          </a:xfrm>
        </p:spPr>
        <p:txBody>
          <a:bodyPr/>
          <a:lstStyle/>
          <a:p>
            <a:pPr marL="285750" indent="-285750" algn="just">
              <a:buFont typeface="Wingdings" panose="05000000000000000000" pitchFamily="2" charset="2"/>
              <a:buChar char="q"/>
            </a:pPr>
            <a:r>
              <a:rPr lang="vi-VN" sz="1400" b="1" dirty="0"/>
              <a:t>Giá trị phân tích:</a:t>
            </a:r>
          </a:p>
          <a:p>
            <a:pPr marL="285750" indent="-285750" algn="just">
              <a:buFont typeface="Wingdings" panose="05000000000000000000" pitchFamily="2" charset="2"/>
              <a:buChar char="§"/>
            </a:pPr>
            <a:r>
              <a:rPr lang="vi-VN" sz="1400" dirty="0"/>
              <a:t>Cung cấp cái nhìn sâu về mức độ phức tạp và tổ chức của </a:t>
            </a:r>
            <a:r>
              <a:rPr lang="vi-VN" sz="1400" dirty="0" err="1"/>
              <a:t>code</a:t>
            </a:r>
            <a:endParaRPr lang="vi-VN" sz="1400" dirty="0"/>
          </a:p>
          <a:p>
            <a:pPr marL="285750" indent="-285750" algn="just">
              <a:buFont typeface="Wingdings" panose="05000000000000000000" pitchFamily="2" charset="2"/>
              <a:buChar char="§"/>
            </a:pPr>
            <a:r>
              <a:rPr lang="vi-VN" sz="1400" dirty="0"/>
              <a:t>Phát hiện </a:t>
            </a:r>
            <a:r>
              <a:rPr lang="vi-VN" sz="1400" dirty="0" err="1"/>
              <a:t>patterns</a:t>
            </a:r>
            <a:r>
              <a:rPr lang="vi-VN" sz="1400" dirty="0"/>
              <a:t> đặc trưng của AI trong việc sử dụng cấu trúc điều khiển</a:t>
            </a:r>
          </a:p>
          <a:p>
            <a:pPr marL="285750" indent="-285750" algn="just">
              <a:buFont typeface="Wingdings" panose="05000000000000000000" pitchFamily="2" charset="2"/>
              <a:buChar char="§"/>
            </a:pPr>
            <a:r>
              <a:rPr lang="vi-VN" sz="1400" dirty="0"/>
              <a:t>Hỗ trợ phân loại dựa trên các chỉ số về độ sâu cây cú pháp và mật độ </a:t>
            </a:r>
            <a:r>
              <a:rPr lang="vi-VN" sz="1400" dirty="0" err="1"/>
              <a:t>node</a:t>
            </a:r>
            <a:endParaRPr lang="vi-VN" sz="1400" dirty="0"/>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4.2 </a:t>
            </a:r>
            <a:r>
              <a:rPr lang="vi-VN" dirty="0"/>
              <a:t>AST </a:t>
            </a:r>
            <a:r>
              <a:rPr lang="vi-VN" dirty="0" err="1"/>
              <a:t>Analyzer</a:t>
            </a:r>
            <a:r>
              <a:rPr lang="vi-VN" dirty="0"/>
              <a:t> </a:t>
            </a:r>
            <a:r>
              <a:rPr lang="vi-VN" dirty="0" err="1"/>
              <a:t>Module</a:t>
            </a:r>
            <a:r>
              <a:rPr lang="vi-VN" dirty="0"/>
              <a:t> - Phân tích cấu trúc mã nguồn</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12" name="Graphic 11">
            <a:extLst>
              <a:ext uri="{FF2B5EF4-FFF2-40B4-BE49-F238E27FC236}">
                <a16:creationId xmlns:a16="http://schemas.microsoft.com/office/drawing/2014/main" id="{83531C5F-526A-87C6-7A26-3E10DBCA19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97811" y="1754873"/>
            <a:ext cx="3453714" cy="345371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7242103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5E-6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200" fill="hold"/>
                                            <p:tgtEl>
                                              <p:spTgt spid="12"/>
                                            </p:tgtEl>
                                            <p:attrNameLst>
                                              <p:attrName>ppt_w</p:attrName>
                                            </p:attrNameLst>
                                          </p:cBhvr>
                                          <p:tavLst>
                                            <p:tav tm="0">
                                              <p:val>
                                                <p:fltVal val="0"/>
                                              </p:val>
                                            </p:tav>
                                            <p:tav tm="100000">
                                              <p:val>
                                                <p:strVal val="#ppt_w"/>
                                              </p:val>
                                            </p:tav>
                                          </p:tavLst>
                                        </p:anim>
                                        <p:anim calcmode="lin" valueType="num">
                                          <p:cBhvr>
                                            <p:cTn id="25" dur="200" fill="hold"/>
                                            <p:tgtEl>
                                              <p:spTgt spid="12"/>
                                            </p:tgtEl>
                                            <p:attrNameLst>
                                              <p:attrName>ppt_h</p:attrName>
                                            </p:attrNameLst>
                                          </p:cBhvr>
                                          <p:tavLst>
                                            <p:tav tm="0">
                                              <p:val>
                                                <p:fltVal val="0"/>
                                              </p:val>
                                            </p:tav>
                                            <p:tav tm="100000">
                                              <p:val>
                                                <p:strVal val="#ppt_h"/>
                                              </p:val>
                                            </p:tav>
                                          </p:tavLst>
                                        </p:anim>
                                      </p:childTnLst>
                                    </p:cTn>
                                  </p:par>
                                  <p:par>
                                    <p:cTn id="26" presetID="6" presetClass="emph" presetSubtype="0" fill="hold" nodeType="withEffect" p14:presetBounceEnd="99000">
                                      <p:stCondLst>
                                        <p:cond delay="0"/>
                                      </p:stCondLst>
                                      <p:childTnLst>
                                        <p:animScale p14:bounceEnd="99000">
                                          <p:cBhvr>
                                            <p:cTn id="27" dur="1000" fill="hold"/>
                                            <p:tgtEl>
                                              <p:spTgt spid="12"/>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12"/>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5E-6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200" fill="hold"/>
                                            <p:tgtEl>
                                              <p:spTgt spid="12"/>
                                            </p:tgtEl>
                                            <p:attrNameLst>
                                              <p:attrName>ppt_w</p:attrName>
                                            </p:attrNameLst>
                                          </p:cBhvr>
                                          <p:tavLst>
                                            <p:tav tm="0">
                                              <p:val>
                                                <p:fltVal val="0"/>
                                              </p:val>
                                            </p:tav>
                                            <p:tav tm="100000">
                                              <p:val>
                                                <p:strVal val="#ppt_w"/>
                                              </p:val>
                                            </p:tav>
                                          </p:tavLst>
                                        </p:anim>
                                        <p:anim calcmode="lin" valueType="num">
                                          <p:cBhvr>
                                            <p:cTn id="25" dur="200" fill="hold"/>
                                            <p:tgtEl>
                                              <p:spTgt spid="12"/>
                                            </p:tgtEl>
                                            <p:attrNameLst>
                                              <p:attrName>ppt_h</p:attrName>
                                            </p:attrNameLst>
                                          </p:cBhvr>
                                          <p:tavLst>
                                            <p:tav tm="0">
                                              <p:val>
                                                <p:fltVal val="0"/>
                                              </p:val>
                                            </p:tav>
                                            <p:tav tm="100000">
                                              <p:val>
                                                <p:strVal val="#ppt_h"/>
                                              </p:val>
                                            </p:tav>
                                          </p:tavLst>
                                        </p:anim>
                                      </p:childTnLst>
                                    </p:cTn>
                                  </p:par>
                                  <p:par>
                                    <p:cTn id="26" presetID="6" presetClass="emph" presetSubtype="0" fill="hold" nodeType="withEffect">
                                      <p:stCondLst>
                                        <p:cond delay="0"/>
                                      </p:stCondLst>
                                      <p:childTnLst>
                                        <p:animScale>
                                          <p:cBhvr>
                                            <p:cTn id="27" dur="1000" fill="hold"/>
                                            <p:tgtEl>
                                              <p:spTgt spid="12"/>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12"/>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26</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093843"/>
            <a:ext cx="10515600" cy="3940245"/>
          </a:xfrm>
        </p:spPr>
        <p:txBody>
          <a:bodyPr/>
          <a:lstStyle/>
          <a:p>
            <a:pPr algn="just"/>
            <a:r>
              <a:rPr lang="vi-VN" sz="1400" b="1" dirty="0">
                <a:solidFill>
                  <a:schemeClr val="accent5"/>
                </a:solidFill>
              </a:rPr>
              <a:t>Mục đích chính: </a:t>
            </a:r>
            <a:r>
              <a:rPr lang="vi-VN" sz="1400" dirty="0"/>
              <a:t>Phát hiện các đặc điểm "không hoàn hảo" và "không nhất quán" đặc trưng của mã nguồn do con người viết</a:t>
            </a:r>
          </a:p>
          <a:p>
            <a:pPr marL="285750" indent="-285750" algn="just">
              <a:buFont typeface="Wingdings" panose="05000000000000000000" pitchFamily="2" charset="2"/>
              <a:buChar char="q"/>
            </a:pPr>
            <a:r>
              <a:rPr lang="vi-VN" sz="1400" b="1" dirty="0"/>
              <a:t>Cách triển khai:</a:t>
            </a:r>
          </a:p>
          <a:p>
            <a:pPr marL="285750" indent="-285750" algn="just">
              <a:buFont typeface="Wingdings" panose="05000000000000000000" pitchFamily="2" charset="2"/>
              <a:buChar char="§"/>
            </a:pPr>
            <a:r>
              <a:rPr lang="vi-VN" sz="1400" dirty="0"/>
              <a:t>Phân tích chi tiết từng </a:t>
            </a:r>
            <a:r>
              <a:rPr lang="vi-VN" sz="1400" dirty="0" err="1"/>
              <a:t>khía</a:t>
            </a:r>
            <a:r>
              <a:rPr lang="vi-VN" sz="1400" dirty="0"/>
              <a:t> cạnh </a:t>
            </a:r>
            <a:r>
              <a:rPr lang="vi-VN" sz="1400" dirty="0" err="1"/>
              <a:t>formatting</a:t>
            </a:r>
            <a:r>
              <a:rPr lang="vi-VN" sz="1400" dirty="0"/>
              <a:t> và </a:t>
            </a:r>
            <a:r>
              <a:rPr lang="vi-VN" sz="1400" dirty="0" err="1"/>
              <a:t>style</a:t>
            </a:r>
            <a:endParaRPr lang="en-US" sz="1400" dirty="0"/>
          </a:p>
          <a:p>
            <a:pPr marL="285750" indent="-285750" algn="just">
              <a:buFont typeface="Wingdings" panose="05000000000000000000" pitchFamily="2" charset="2"/>
              <a:buChar char="§"/>
            </a:pPr>
            <a:r>
              <a:rPr lang="vi-VN" sz="1400" dirty="0"/>
              <a:t>Tập trung vào việc phát hiện các lỗi về khoảng trắng, thụt lề, quy tắt đặt tên mà con người thường mắc phải</a:t>
            </a:r>
          </a:p>
          <a:p>
            <a:pPr marL="285750" indent="-285750" algn="just">
              <a:buFont typeface="Wingdings" panose="05000000000000000000" pitchFamily="2" charset="2"/>
              <a:buChar char="§"/>
            </a:pPr>
            <a:r>
              <a:rPr lang="vi-VN" sz="1400" dirty="0"/>
              <a:t>Tính toán điểm dựa trên tổng hợp tất cả các </a:t>
            </a:r>
            <a:r>
              <a:rPr lang="en-US" sz="1400" dirty="0" err="1"/>
              <a:t>mẫu</a:t>
            </a:r>
            <a:r>
              <a:rPr lang="vi-VN" sz="1400" dirty="0"/>
              <a:t> không nhất quán</a:t>
            </a:r>
          </a:p>
          <a:p>
            <a:pPr marL="285750" indent="-285750" algn="just">
              <a:buFont typeface="Wingdings" panose="05000000000000000000" pitchFamily="2" charset="2"/>
              <a:buChar char="§"/>
            </a:pPr>
            <a:r>
              <a:rPr lang="vi-VN" sz="1400" dirty="0"/>
              <a:t>Sử dụng các thư viện </a:t>
            </a:r>
            <a:r>
              <a:rPr lang="vi-VN" sz="1400" dirty="0" err="1"/>
              <a:t>Python</a:t>
            </a:r>
            <a:r>
              <a:rPr lang="vi-VN" sz="1400" dirty="0"/>
              <a:t> chuẩn để </a:t>
            </a:r>
            <a:r>
              <a:rPr lang="en-US" sz="1400" dirty="0" err="1"/>
              <a:t>tìm</a:t>
            </a:r>
            <a:r>
              <a:rPr lang="en-US" sz="1400" dirty="0"/>
              <a:t> </a:t>
            </a:r>
            <a:r>
              <a:rPr lang="en-US" sz="1400" dirty="0" err="1"/>
              <a:t>các</a:t>
            </a:r>
            <a:r>
              <a:rPr lang="en-US" sz="1400" dirty="0"/>
              <a:t> </a:t>
            </a:r>
            <a:r>
              <a:rPr lang="en-US" sz="1400" dirty="0" err="1"/>
              <a:t>mẫu</a:t>
            </a:r>
            <a:r>
              <a:rPr lang="en-US" sz="1400" dirty="0"/>
              <a:t> </a:t>
            </a:r>
            <a:r>
              <a:rPr lang="vi-VN" sz="1400" dirty="0"/>
              <a:t>và phân tích thống kê</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4.3 Human Style Analyzer Module - </a:t>
            </a:r>
            <a:r>
              <a:rPr lang="en-US" dirty="0" err="1"/>
              <a:t>Phát</a:t>
            </a:r>
            <a:r>
              <a:rPr lang="en-US" dirty="0"/>
              <a:t> </a:t>
            </a:r>
            <a:r>
              <a:rPr lang="en-US" dirty="0" err="1"/>
              <a:t>hiện</a:t>
            </a:r>
            <a:r>
              <a:rPr lang="en-US" dirty="0"/>
              <a:t> </a:t>
            </a:r>
            <a:r>
              <a:rPr lang="en-US" dirty="0" err="1"/>
              <a:t>phong</a:t>
            </a:r>
            <a:r>
              <a:rPr lang="en-US" dirty="0"/>
              <a:t> </a:t>
            </a:r>
            <a:r>
              <a:rPr lang="en-US" dirty="0" err="1"/>
              <a:t>cách</a:t>
            </a:r>
            <a:r>
              <a:rPr lang="en-US" dirty="0"/>
              <a:t> </a:t>
            </a:r>
            <a:r>
              <a:rPr lang="en-US" dirty="0" err="1"/>
              <a:t>lập</a:t>
            </a:r>
            <a:r>
              <a:rPr lang="en-US" dirty="0"/>
              <a:t> </a:t>
            </a:r>
            <a:r>
              <a:rPr lang="en-US" dirty="0" err="1"/>
              <a:t>trình</a:t>
            </a:r>
            <a:r>
              <a:rPr lang="en-US" dirty="0"/>
              <a:t> </a:t>
            </a:r>
            <a:r>
              <a:rPr lang="en-US" dirty="0" err="1"/>
              <a:t>tự</a:t>
            </a:r>
            <a:r>
              <a:rPr lang="en-US" dirty="0"/>
              <a:t> </a:t>
            </a:r>
            <a:r>
              <a:rPr lang="en-US" dirty="0" err="1"/>
              <a:t>nhiên</a:t>
            </a:r>
            <a:endParaRPr lang="vi-VN" dirty="0"/>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32448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0 -2.59259E-6 " pathEditMode="relative" rAng="0" ptsTypes="AA">
                                      <p:cBhvr>
                                        <p:cTn id="20"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27</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093843"/>
            <a:ext cx="4135395" cy="3940245"/>
          </a:xfrm>
        </p:spPr>
        <p:txBody>
          <a:bodyPr/>
          <a:lstStyle/>
          <a:p>
            <a:pPr marL="285750" indent="-285750" algn="just">
              <a:buFont typeface="Wingdings" panose="05000000000000000000" pitchFamily="2" charset="2"/>
              <a:buChar char="q"/>
            </a:pPr>
            <a:r>
              <a:rPr lang="vi-VN" sz="1400" b="1" dirty="0"/>
              <a:t>Giá trị phân tích:</a:t>
            </a:r>
          </a:p>
          <a:p>
            <a:pPr marL="285750" indent="-285750" algn="just">
              <a:buFont typeface="Wingdings" panose="05000000000000000000" pitchFamily="2" charset="2"/>
              <a:buChar char="§"/>
            </a:pPr>
            <a:r>
              <a:rPr lang="vi-VN" sz="1400" dirty="0"/>
              <a:t>Phát hiện "dấu ấn cá nhân" trong cách viết </a:t>
            </a:r>
            <a:r>
              <a:rPr lang="vi-VN" sz="1400" dirty="0" err="1"/>
              <a:t>code</a:t>
            </a:r>
            <a:r>
              <a:rPr lang="vi-VN" sz="1400" dirty="0"/>
              <a:t> của lập trình viên</a:t>
            </a:r>
          </a:p>
          <a:p>
            <a:pPr marL="285750" indent="-285750" algn="just">
              <a:buFont typeface="Wingdings" panose="05000000000000000000" pitchFamily="2" charset="2"/>
              <a:buChar char="§"/>
            </a:pPr>
            <a:r>
              <a:rPr lang="vi-VN" sz="1400" dirty="0"/>
              <a:t>Phân biệt giữa phong cách </a:t>
            </a:r>
            <a:r>
              <a:rPr lang="vi-VN" sz="1400" dirty="0" err="1"/>
              <a:t>coding</a:t>
            </a:r>
            <a:r>
              <a:rPr lang="vi-VN" sz="1400" dirty="0"/>
              <a:t> tự nhiên của con người và phong cách chuẩn mực của AI</a:t>
            </a:r>
          </a:p>
          <a:p>
            <a:pPr marL="285750" indent="-285750" algn="just">
              <a:buFont typeface="Wingdings" panose="05000000000000000000" pitchFamily="2" charset="2"/>
              <a:buChar char="§"/>
            </a:pPr>
            <a:r>
              <a:rPr lang="vi-VN" sz="1400" dirty="0"/>
              <a:t>Đánh giá mức độ "tự nhiên" của </a:t>
            </a:r>
            <a:r>
              <a:rPr lang="vi-VN" sz="1400" dirty="0" err="1"/>
              <a:t>code</a:t>
            </a:r>
            <a:r>
              <a:rPr lang="vi-VN" sz="1400" dirty="0"/>
              <a:t> dựa trên các sai sót </a:t>
            </a:r>
            <a:r>
              <a:rPr lang="vi-VN" sz="1400" dirty="0" err="1"/>
              <a:t>formatting</a:t>
            </a:r>
            <a:r>
              <a:rPr lang="vi-VN" sz="1400" dirty="0"/>
              <a:t> thông thường</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4.3 Human Style Analyzer Module - </a:t>
            </a:r>
            <a:r>
              <a:rPr lang="en-US" dirty="0" err="1"/>
              <a:t>Phát</a:t>
            </a:r>
            <a:r>
              <a:rPr lang="en-US" dirty="0"/>
              <a:t> </a:t>
            </a:r>
            <a:r>
              <a:rPr lang="en-US" dirty="0" err="1"/>
              <a:t>hiện</a:t>
            </a:r>
            <a:r>
              <a:rPr lang="en-US" dirty="0"/>
              <a:t> </a:t>
            </a:r>
            <a:r>
              <a:rPr lang="en-US" dirty="0" err="1"/>
              <a:t>phong</a:t>
            </a:r>
            <a:r>
              <a:rPr lang="en-US" dirty="0"/>
              <a:t> </a:t>
            </a:r>
            <a:r>
              <a:rPr lang="en-US" dirty="0" err="1"/>
              <a:t>cách</a:t>
            </a:r>
            <a:r>
              <a:rPr lang="en-US" dirty="0"/>
              <a:t> </a:t>
            </a:r>
            <a:r>
              <a:rPr lang="en-US" dirty="0" err="1"/>
              <a:t>lập</a:t>
            </a:r>
            <a:r>
              <a:rPr lang="en-US" dirty="0"/>
              <a:t> </a:t>
            </a:r>
            <a:r>
              <a:rPr lang="en-US" dirty="0" err="1"/>
              <a:t>trình</a:t>
            </a:r>
            <a:r>
              <a:rPr lang="en-US" dirty="0"/>
              <a:t> </a:t>
            </a:r>
            <a:r>
              <a:rPr lang="en-US" dirty="0" err="1"/>
              <a:t>tự</a:t>
            </a:r>
            <a:r>
              <a:rPr lang="en-US" dirty="0"/>
              <a:t> </a:t>
            </a:r>
            <a:r>
              <a:rPr lang="en-US" dirty="0" err="1"/>
              <a:t>nhiên</a:t>
            </a:r>
            <a:endParaRPr lang="vi-VN" dirty="0"/>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12" name="Graphic 11">
            <a:extLst>
              <a:ext uri="{FF2B5EF4-FFF2-40B4-BE49-F238E27FC236}">
                <a16:creationId xmlns:a16="http://schemas.microsoft.com/office/drawing/2014/main" id="{3F6FDE73-8E92-EE98-4479-967D58B449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90953" y="2307444"/>
            <a:ext cx="3142444" cy="3142444"/>
          </a:xfrm>
          <a:prstGeom prst="rect">
            <a:avLst/>
          </a:prstGeom>
        </p:spPr>
      </p:pic>
    </p:spTree>
    <p:extLst>
      <p:ext uri="{BB962C8B-B14F-4D97-AF65-F5344CB8AC3E}">
        <p14:creationId xmlns:p14="http://schemas.microsoft.com/office/powerpoint/2010/main" val="314516770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1.25E-6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200" fill="hold"/>
                                            <p:tgtEl>
                                              <p:spTgt spid="12"/>
                                            </p:tgtEl>
                                            <p:attrNameLst>
                                              <p:attrName>ppt_w</p:attrName>
                                            </p:attrNameLst>
                                          </p:cBhvr>
                                          <p:tavLst>
                                            <p:tav tm="0">
                                              <p:val>
                                                <p:fltVal val="0"/>
                                              </p:val>
                                            </p:tav>
                                            <p:tav tm="100000">
                                              <p:val>
                                                <p:strVal val="#ppt_w"/>
                                              </p:val>
                                            </p:tav>
                                          </p:tavLst>
                                        </p:anim>
                                        <p:anim calcmode="lin" valueType="num">
                                          <p:cBhvr>
                                            <p:cTn id="25" dur="200" fill="hold"/>
                                            <p:tgtEl>
                                              <p:spTgt spid="12"/>
                                            </p:tgtEl>
                                            <p:attrNameLst>
                                              <p:attrName>ppt_h</p:attrName>
                                            </p:attrNameLst>
                                          </p:cBhvr>
                                          <p:tavLst>
                                            <p:tav tm="0">
                                              <p:val>
                                                <p:fltVal val="0"/>
                                              </p:val>
                                            </p:tav>
                                            <p:tav tm="100000">
                                              <p:val>
                                                <p:strVal val="#ppt_h"/>
                                              </p:val>
                                            </p:tav>
                                          </p:tavLst>
                                        </p:anim>
                                      </p:childTnLst>
                                    </p:cTn>
                                  </p:par>
                                  <p:par>
                                    <p:cTn id="26" presetID="6" presetClass="emph" presetSubtype="0" fill="hold" nodeType="withEffect" p14:presetBounceEnd="99000">
                                      <p:stCondLst>
                                        <p:cond delay="0"/>
                                      </p:stCondLst>
                                      <p:childTnLst>
                                        <p:animScale p14:bounceEnd="99000">
                                          <p:cBhvr>
                                            <p:cTn id="27" dur="1000" fill="hold"/>
                                            <p:tgtEl>
                                              <p:spTgt spid="12"/>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12"/>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1.25E-6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200" fill="hold"/>
                                            <p:tgtEl>
                                              <p:spTgt spid="12"/>
                                            </p:tgtEl>
                                            <p:attrNameLst>
                                              <p:attrName>ppt_w</p:attrName>
                                            </p:attrNameLst>
                                          </p:cBhvr>
                                          <p:tavLst>
                                            <p:tav tm="0">
                                              <p:val>
                                                <p:fltVal val="0"/>
                                              </p:val>
                                            </p:tav>
                                            <p:tav tm="100000">
                                              <p:val>
                                                <p:strVal val="#ppt_w"/>
                                              </p:val>
                                            </p:tav>
                                          </p:tavLst>
                                        </p:anim>
                                        <p:anim calcmode="lin" valueType="num">
                                          <p:cBhvr>
                                            <p:cTn id="25" dur="200" fill="hold"/>
                                            <p:tgtEl>
                                              <p:spTgt spid="12"/>
                                            </p:tgtEl>
                                            <p:attrNameLst>
                                              <p:attrName>ppt_h</p:attrName>
                                            </p:attrNameLst>
                                          </p:cBhvr>
                                          <p:tavLst>
                                            <p:tav tm="0">
                                              <p:val>
                                                <p:fltVal val="0"/>
                                              </p:val>
                                            </p:tav>
                                            <p:tav tm="100000">
                                              <p:val>
                                                <p:strVal val="#ppt_h"/>
                                              </p:val>
                                            </p:tav>
                                          </p:tavLst>
                                        </p:anim>
                                      </p:childTnLst>
                                    </p:cTn>
                                  </p:par>
                                  <p:par>
                                    <p:cTn id="26" presetID="6" presetClass="emph" presetSubtype="0" fill="hold" nodeType="withEffect">
                                      <p:stCondLst>
                                        <p:cond delay="0"/>
                                      </p:stCondLst>
                                      <p:childTnLst>
                                        <p:animScale>
                                          <p:cBhvr>
                                            <p:cTn id="27" dur="1000" fill="hold"/>
                                            <p:tgtEl>
                                              <p:spTgt spid="12"/>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12"/>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28</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199" y="2093843"/>
            <a:ext cx="5327823" cy="3940245"/>
          </a:xfrm>
        </p:spPr>
        <p:txBody>
          <a:bodyPr/>
          <a:lstStyle/>
          <a:p>
            <a:pPr algn="just"/>
            <a:r>
              <a:rPr lang="vi-VN" sz="1400" b="1" dirty="0">
                <a:solidFill>
                  <a:schemeClr val="accent5"/>
                </a:solidFill>
              </a:rPr>
              <a:t>Mục đích chính: </a:t>
            </a:r>
            <a:r>
              <a:rPr lang="vi-VN" sz="1400" dirty="0"/>
              <a:t>Tận dụng sức mạnh của mô hình ngôn ngữ lớn để phân tích </a:t>
            </a:r>
            <a:r>
              <a:rPr lang="vi-VN" sz="1400" dirty="0" err="1"/>
              <a:t>code</a:t>
            </a:r>
            <a:r>
              <a:rPr lang="vi-VN" sz="1400" dirty="0"/>
              <a:t> từ góc độ của lập trình viên chuyên nghiệp</a:t>
            </a:r>
          </a:p>
          <a:p>
            <a:pPr marL="285750" indent="-285750" algn="just">
              <a:buFont typeface="Wingdings" panose="05000000000000000000" pitchFamily="2" charset="2"/>
              <a:buChar char="q"/>
            </a:pPr>
            <a:r>
              <a:rPr lang="vi-VN" sz="1400" b="1" dirty="0"/>
              <a:t>Cách triển khai:</a:t>
            </a:r>
          </a:p>
          <a:p>
            <a:pPr marL="285750" indent="-285750" algn="just">
              <a:buFont typeface="Wingdings" panose="05000000000000000000" pitchFamily="2" charset="2"/>
              <a:buChar char="§"/>
            </a:pPr>
            <a:r>
              <a:rPr lang="vi-VN" sz="1400" dirty="0"/>
              <a:t>Tích hợp với </a:t>
            </a:r>
            <a:r>
              <a:rPr lang="vi-VN" sz="1400" dirty="0" err="1"/>
              <a:t>Google</a:t>
            </a:r>
            <a:r>
              <a:rPr lang="vi-VN" sz="1400" dirty="0"/>
              <a:t> </a:t>
            </a:r>
            <a:r>
              <a:rPr lang="vi-VN" sz="1400" dirty="0" err="1"/>
              <a:t>Gemini</a:t>
            </a:r>
            <a:r>
              <a:rPr lang="vi-VN" sz="1400"/>
              <a:t> API</a:t>
            </a:r>
            <a:endParaRPr lang="vi-VN" sz="1400" dirty="0"/>
          </a:p>
          <a:p>
            <a:pPr marL="285750" indent="-285750" algn="just">
              <a:buFont typeface="Wingdings" panose="05000000000000000000" pitchFamily="2" charset="2"/>
              <a:buChar char="§"/>
            </a:pPr>
            <a:r>
              <a:rPr lang="vi-VN" sz="1400" dirty="0"/>
              <a:t>Thiết kế </a:t>
            </a:r>
            <a:r>
              <a:rPr lang="vi-VN" sz="1400" dirty="0" err="1"/>
              <a:t>prompt</a:t>
            </a:r>
            <a:r>
              <a:rPr lang="vi-VN" sz="1400" dirty="0"/>
              <a:t> </a:t>
            </a:r>
            <a:r>
              <a:rPr lang="vi-VN" sz="1400" dirty="0" err="1"/>
              <a:t>engineering</a:t>
            </a:r>
            <a:r>
              <a:rPr lang="vi-VN" sz="1400" dirty="0"/>
              <a:t> chi tiết với 200+ dòng hướng dẫn và 8 </a:t>
            </a:r>
            <a:r>
              <a:rPr lang="vi-VN" sz="1400" dirty="0" err="1"/>
              <a:t>khía</a:t>
            </a:r>
            <a:r>
              <a:rPr lang="vi-VN" sz="1400" dirty="0"/>
              <a:t> cạnh phân tích</a:t>
            </a:r>
          </a:p>
          <a:p>
            <a:pPr marL="285750" indent="-285750" algn="just">
              <a:buFont typeface="Wingdings" panose="05000000000000000000" pitchFamily="2" charset="2"/>
              <a:buChar char="§"/>
            </a:pPr>
            <a:r>
              <a:rPr lang="vi-VN" sz="1400" dirty="0"/>
              <a:t>Bao gồm phân tích về phong cách </a:t>
            </a:r>
            <a:r>
              <a:rPr lang="vi-VN" sz="1400" dirty="0" err="1"/>
              <a:t>coding</a:t>
            </a:r>
            <a:r>
              <a:rPr lang="vi-VN" sz="1400" dirty="0"/>
              <a:t>, cấu trúc </a:t>
            </a:r>
            <a:r>
              <a:rPr lang="vi-VN" sz="1400" dirty="0" err="1"/>
              <a:t>code</a:t>
            </a:r>
            <a:r>
              <a:rPr lang="vi-VN" sz="1400" dirty="0"/>
              <a:t>, </a:t>
            </a:r>
            <a:r>
              <a:rPr lang="vi-VN" sz="1400" dirty="0" err="1"/>
              <a:t>patterns</a:t>
            </a:r>
            <a:r>
              <a:rPr lang="vi-VN" sz="1400" dirty="0"/>
              <a:t> cú pháp, </a:t>
            </a:r>
            <a:r>
              <a:rPr lang="vi-VN" sz="1400" dirty="0" err="1"/>
              <a:t>documentation</a:t>
            </a:r>
            <a:r>
              <a:rPr lang="vi-VN" sz="1400" dirty="0"/>
              <a:t>, và các chỉ số AI/</a:t>
            </a:r>
            <a:r>
              <a:rPr lang="vi-VN" sz="1400" dirty="0" err="1"/>
              <a:t>Human</a:t>
            </a:r>
            <a:endParaRPr lang="vi-VN" sz="1400" dirty="0"/>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4.4 AI Analysis Module - </a:t>
            </a:r>
            <a:r>
              <a:rPr lang="en-US" dirty="0" err="1"/>
              <a:t>Phân</a:t>
            </a:r>
            <a:r>
              <a:rPr lang="en-US" dirty="0"/>
              <a:t> </a:t>
            </a:r>
            <a:r>
              <a:rPr lang="en-US" dirty="0" err="1"/>
              <a:t>tích</a:t>
            </a:r>
            <a:r>
              <a:rPr lang="en-US" dirty="0"/>
              <a:t> </a:t>
            </a:r>
            <a:r>
              <a:rPr lang="en-US" dirty="0" err="1"/>
              <a:t>thông</a:t>
            </a:r>
            <a:r>
              <a:rPr lang="en-US" dirty="0"/>
              <a:t> </a:t>
            </a:r>
            <a:r>
              <a:rPr lang="en-US" dirty="0" err="1"/>
              <a:t>minh</a:t>
            </a:r>
            <a:r>
              <a:rPr lang="en-US" dirty="0"/>
              <a:t> </a:t>
            </a:r>
            <a:r>
              <a:rPr lang="en-US" dirty="0" err="1"/>
              <a:t>với</a:t>
            </a:r>
            <a:r>
              <a:rPr lang="en-US" dirty="0"/>
              <a:t> Google Gemini</a:t>
            </a:r>
            <a:endParaRPr lang="vi-VN" dirty="0"/>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grpSp>
        <p:nvGrpSpPr>
          <p:cNvPr id="8" name="Group 7">
            <a:extLst>
              <a:ext uri="{FF2B5EF4-FFF2-40B4-BE49-F238E27FC236}">
                <a16:creationId xmlns:a16="http://schemas.microsoft.com/office/drawing/2014/main" id="{6B9D4A2D-B9DB-A292-ACE4-264790DBD5FD}"/>
              </a:ext>
            </a:extLst>
          </p:cNvPr>
          <p:cNvGrpSpPr/>
          <p:nvPr/>
        </p:nvGrpSpPr>
        <p:grpSpPr>
          <a:xfrm>
            <a:off x="7240891" y="2328387"/>
            <a:ext cx="3343520" cy="2691522"/>
            <a:chOff x="7507591" y="2054067"/>
            <a:chExt cx="3343520" cy="2691522"/>
          </a:xfrm>
        </p:grpSpPr>
        <p:pic>
          <p:nvPicPr>
            <p:cNvPr id="9" name="Graphic 8">
              <a:extLst>
                <a:ext uri="{FF2B5EF4-FFF2-40B4-BE49-F238E27FC236}">
                  <a16:creationId xmlns:a16="http://schemas.microsoft.com/office/drawing/2014/main" id="{A3881E42-40CB-CB29-A026-4A526668E7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8160" y="2054067"/>
              <a:ext cx="2082382" cy="2096452"/>
            </a:xfrm>
            <a:prstGeom prst="rect">
              <a:avLst/>
            </a:prstGeom>
          </p:spPr>
        </p:pic>
        <p:sp>
          <p:nvSpPr>
            <p:cNvPr id="10" name="TextBox 9">
              <a:extLst>
                <a:ext uri="{FF2B5EF4-FFF2-40B4-BE49-F238E27FC236}">
                  <a16:creationId xmlns:a16="http://schemas.microsoft.com/office/drawing/2014/main" id="{BB99AA44-42FD-1934-F0AC-97496D406681}"/>
                </a:ext>
              </a:extLst>
            </p:cNvPr>
            <p:cNvSpPr txBox="1"/>
            <p:nvPr/>
          </p:nvSpPr>
          <p:spPr>
            <a:xfrm>
              <a:off x="7507591" y="4345479"/>
              <a:ext cx="3343520" cy="400110"/>
            </a:xfrm>
            <a:prstGeom prst="rect">
              <a:avLst/>
            </a:prstGeom>
            <a:noFill/>
          </p:spPr>
          <p:txBody>
            <a:bodyPr wrap="square">
              <a:spAutoFit/>
            </a:bodyPr>
            <a:lstStyle/>
            <a:p>
              <a:pPr algn="ctr"/>
              <a:r>
                <a:rPr lang="en-US" sz="2000" b="1" dirty="0">
                  <a:solidFill>
                    <a:schemeClr val="accent5"/>
                  </a:solidFill>
                  <a:latin typeface="Fz Poppins ExtBd" pitchFamily="2" charset="0"/>
                  <a:cs typeface="Fz Poppins ExtBd" pitchFamily="2" charset="0"/>
                </a:rPr>
                <a:t>GOOGLE GEMINI</a:t>
              </a:r>
              <a:endParaRPr lang="en-US" sz="2000" dirty="0">
                <a:solidFill>
                  <a:schemeClr val="accent5"/>
                </a:solidFill>
              </a:endParaRPr>
            </a:p>
          </p:txBody>
        </p:sp>
      </p:grpSp>
    </p:spTree>
    <p:extLst>
      <p:ext uri="{BB962C8B-B14F-4D97-AF65-F5344CB8AC3E}">
        <p14:creationId xmlns:p14="http://schemas.microsoft.com/office/powerpoint/2010/main" val="3160138532"/>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4.16667E-7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200" fill="hold"/>
                                            <p:tgtEl>
                                              <p:spTgt spid="8"/>
                                            </p:tgtEl>
                                            <p:attrNameLst>
                                              <p:attrName>ppt_w</p:attrName>
                                            </p:attrNameLst>
                                          </p:cBhvr>
                                          <p:tavLst>
                                            <p:tav tm="0">
                                              <p:val>
                                                <p:fltVal val="0"/>
                                              </p:val>
                                            </p:tav>
                                            <p:tav tm="100000">
                                              <p:val>
                                                <p:strVal val="#ppt_w"/>
                                              </p:val>
                                            </p:tav>
                                          </p:tavLst>
                                        </p:anim>
                                        <p:anim calcmode="lin" valueType="num">
                                          <p:cBhvr>
                                            <p:cTn id="25" dur="200" fill="hold"/>
                                            <p:tgtEl>
                                              <p:spTgt spid="8"/>
                                            </p:tgtEl>
                                            <p:attrNameLst>
                                              <p:attrName>ppt_h</p:attrName>
                                            </p:attrNameLst>
                                          </p:cBhvr>
                                          <p:tavLst>
                                            <p:tav tm="0">
                                              <p:val>
                                                <p:fltVal val="0"/>
                                              </p:val>
                                            </p:tav>
                                            <p:tav tm="100000">
                                              <p:val>
                                                <p:strVal val="#ppt_h"/>
                                              </p:val>
                                            </p:tav>
                                          </p:tavLst>
                                        </p:anim>
                                      </p:childTnLst>
                                    </p:cTn>
                                  </p:par>
                                  <p:par>
                                    <p:cTn id="26" presetID="6" presetClass="emph" presetSubtype="0" fill="hold" nodeType="withEffect" p14:presetBounceEnd="99000">
                                      <p:stCondLst>
                                        <p:cond delay="0"/>
                                      </p:stCondLst>
                                      <p:childTnLst>
                                        <p:animScale p14:bounceEnd="99000">
                                          <p:cBhvr>
                                            <p:cTn id="27" dur="1000" fill="hold"/>
                                            <p:tgtEl>
                                              <p:spTgt spid="8"/>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4.16667E-7 -2.59259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200" fill="hold"/>
                                            <p:tgtEl>
                                              <p:spTgt spid="8"/>
                                            </p:tgtEl>
                                            <p:attrNameLst>
                                              <p:attrName>ppt_w</p:attrName>
                                            </p:attrNameLst>
                                          </p:cBhvr>
                                          <p:tavLst>
                                            <p:tav tm="0">
                                              <p:val>
                                                <p:fltVal val="0"/>
                                              </p:val>
                                            </p:tav>
                                            <p:tav tm="100000">
                                              <p:val>
                                                <p:strVal val="#ppt_w"/>
                                              </p:val>
                                            </p:tav>
                                          </p:tavLst>
                                        </p:anim>
                                        <p:anim calcmode="lin" valueType="num">
                                          <p:cBhvr>
                                            <p:cTn id="25" dur="200" fill="hold"/>
                                            <p:tgtEl>
                                              <p:spTgt spid="8"/>
                                            </p:tgtEl>
                                            <p:attrNameLst>
                                              <p:attrName>ppt_h</p:attrName>
                                            </p:attrNameLst>
                                          </p:cBhvr>
                                          <p:tavLst>
                                            <p:tav tm="0">
                                              <p:val>
                                                <p:fltVal val="0"/>
                                              </p:val>
                                            </p:tav>
                                            <p:tav tm="100000">
                                              <p:val>
                                                <p:strVal val="#ppt_h"/>
                                              </p:val>
                                            </p:tav>
                                          </p:tavLst>
                                        </p:anim>
                                      </p:childTnLst>
                                    </p:cTn>
                                  </p:par>
                                  <p:par>
                                    <p:cTn id="26" presetID="6" presetClass="emph" presetSubtype="0" fill="hold" nodeType="withEffect">
                                      <p:stCondLst>
                                        <p:cond delay="0"/>
                                      </p:stCondLst>
                                      <p:childTnLst>
                                        <p:animScale>
                                          <p:cBhvr>
                                            <p:cTn id="27" dur="1000" fill="hold"/>
                                            <p:tgtEl>
                                              <p:spTgt spid="8"/>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29</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093843"/>
            <a:ext cx="3798194" cy="3940245"/>
          </a:xfrm>
        </p:spPr>
        <p:txBody>
          <a:bodyPr/>
          <a:lstStyle/>
          <a:p>
            <a:pPr marL="285750" indent="-285750" algn="just">
              <a:buFont typeface="Wingdings" panose="05000000000000000000" pitchFamily="2" charset="2"/>
              <a:buChar char="q"/>
            </a:pPr>
            <a:r>
              <a:rPr lang="vi-VN" sz="1400" b="1" dirty="0"/>
              <a:t>Giá trị phân tích:</a:t>
            </a:r>
          </a:p>
          <a:p>
            <a:pPr marL="285750" indent="-285750" algn="just">
              <a:buFont typeface="Wingdings" panose="05000000000000000000" pitchFamily="2" charset="2"/>
              <a:buChar char="§"/>
            </a:pPr>
            <a:r>
              <a:rPr lang="vi-VN" sz="1400" dirty="0"/>
              <a:t>Cung cấp phân tích chuyên sâu với khả năng lập luận và xử lý ngôn ngữ tự nhiên</a:t>
            </a:r>
          </a:p>
          <a:p>
            <a:pPr marL="285750" indent="-285750" algn="just">
              <a:buFont typeface="Wingdings" panose="05000000000000000000" pitchFamily="2" charset="2"/>
              <a:buChar char="§"/>
            </a:pPr>
            <a:r>
              <a:rPr lang="vi-VN" sz="1400" dirty="0"/>
              <a:t>Phát hiện các </a:t>
            </a:r>
            <a:r>
              <a:rPr lang="vi-VN" sz="1400" dirty="0" err="1"/>
              <a:t>patterns</a:t>
            </a:r>
            <a:r>
              <a:rPr lang="vi-VN" sz="1400" dirty="0"/>
              <a:t> tinh tế mà các phương pháp </a:t>
            </a:r>
            <a:r>
              <a:rPr lang="vi-VN" sz="1400" dirty="0" err="1"/>
              <a:t>heuristic</a:t>
            </a:r>
            <a:r>
              <a:rPr lang="vi-VN" sz="1400" dirty="0"/>
              <a:t> truyền thống khó nắm bắt</a:t>
            </a:r>
          </a:p>
          <a:p>
            <a:pPr marL="285750" indent="-285750" algn="just">
              <a:buFont typeface="Wingdings" panose="05000000000000000000" pitchFamily="2" charset="2"/>
              <a:buChar char="§"/>
            </a:pPr>
            <a:r>
              <a:rPr lang="vi-VN" sz="1400" dirty="0"/>
              <a:t>Đưa ra kết luận với độ tin cậy và giải thích chi tiết bằng ngôn ngữ tự nhiên</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4.4 AI Analysis Module - </a:t>
            </a:r>
            <a:r>
              <a:rPr lang="en-US" dirty="0" err="1"/>
              <a:t>Phân</a:t>
            </a:r>
            <a:r>
              <a:rPr lang="en-US" dirty="0"/>
              <a:t> </a:t>
            </a:r>
            <a:r>
              <a:rPr lang="en-US" dirty="0" err="1"/>
              <a:t>tích</a:t>
            </a:r>
            <a:r>
              <a:rPr lang="en-US" dirty="0"/>
              <a:t> </a:t>
            </a:r>
            <a:r>
              <a:rPr lang="en-US" dirty="0" err="1"/>
              <a:t>thông</a:t>
            </a:r>
            <a:r>
              <a:rPr lang="en-US" dirty="0"/>
              <a:t> </a:t>
            </a:r>
            <a:r>
              <a:rPr lang="en-US" dirty="0" err="1"/>
              <a:t>minh</a:t>
            </a:r>
            <a:r>
              <a:rPr lang="en-US" dirty="0"/>
              <a:t> </a:t>
            </a:r>
            <a:r>
              <a:rPr lang="en-US" dirty="0" err="1"/>
              <a:t>với</a:t>
            </a:r>
            <a:r>
              <a:rPr lang="en-US" dirty="0"/>
              <a:t> Google Gemini</a:t>
            </a:r>
            <a:endParaRPr lang="vi-VN" dirty="0"/>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16" name="Picture 15" descr="A screenshot of a computer&#10;&#10;AI-generated content may be incorrect.">
            <a:extLst>
              <a:ext uri="{FF2B5EF4-FFF2-40B4-BE49-F238E27FC236}">
                <a16:creationId xmlns:a16="http://schemas.microsoft.com/office/drawing/2014/main" id="{55AC50F1-521F-667C-B66A-57AAEB2AA7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211" y="2093843"/>
            <a:ext cx="5967220" cy="3574869"/>
          </a:xfrm>
          <a:prstGeom prst="rect">
            <a:avLst/>
          </a:prstGeom>
          <a:effectLst>
            <a:outerShdw blurRad="63500" sx="102000" sy="102000" algn="ctr" rotWithShape="0">
              <a:prstClr val="black">
                <a:alpha val="13000"/>
              </a:prstClr>
            </a:outerShdw>
          </a:effectLst>
        </p:spPr>
      </p:pic>
    </p:spTree>
    <p:extLst>
      <p:ext uri="{BB962C8B-B14F-4D97-AF65-F5344CB8AC3E}">
        <p14:creationId xmlns:p14="http://schemas.microsoft.com/office/powerpoint/2010/main" val="221182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8.33333E-7 -2.59259E-6 " pathEditMode="relative" rAng="0" ptsTypes="AA">
                                      <p:cBhvr>
                                        <p:cTn id="20"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30</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093843"/>
            <a:ext cx="3905250" cy="3940245"/>
          </a:xfrm>
        </p:spPr>
        <p:txBody>
          <a:bodyPr/>
          <a:lstStyle/>
          <a:p>
            <a:pPr algn="just"/>
            <a:r>
              <a:rPr lang="en-US" sz="1400" dirty="0" err="1"/>
              <a:t>Đây</a:t>
            </a:r>
            <a:r>
              <a:rPr lang="en-US" sz="1400" dirty="0"/>
              <a:t> </a:t>
            </a:r>
            <a:r>
              <a:rPr lang="en-US" sz="1400" dirty="0" err="1"/>
              <a:t>là</a:t>
            </a:r>
            <a:r>
              <a:rPr lang="en-US" sz="1400" dirty="0"/>
              <a:t> </a:t>
            </a:r>
            <a:r>
              <a:rPr lang="en-US" sz="1400" dirty="0" err="1"/>
              <a:t>giao</a:t>
            </a:r>
            <a:r>
              <a:rPr lang="en-US" sz="1400" dirty="0"/>
              <a:t> </a:t>
            </a:r>
            <a:r>
              <a:rPr lang="en-US" sz="1400" dirty="0" err="1"/>
              <a:t>diện</a:t>
            </a:r>
            <a:r>
              <a:rPr lang="en-US" sz="1400" dirty="0"/>
              <a:t> </a:t>
            </a:r>
            <a:r>
              <a:rPr lang="en-US" sz="1400" dirty="0" err="1"/>
              <a:t>chính</a:t>
            </a:r>
            <a:r>
              <a:rPr lang="en-US" sz="1400" dirty="0"/>
              <a:t>, </a:t>
            </a:r>
            <a:r>
              <a:rPr lang="en-US" sz="1400" dirty="0" err="1"/>
              <a:t>hiện</a:t>
            </a:r>
            <a:r>
              <a:rPr lang="en-US" sz="1400" dirty="0"/>
              <a:t> </a:t>
            </a:r>
            <a:r>
              <a:rPr lang="en-US" sz="1400" dirty="0" err="1"/>
              <a:t>thị</a:t>
            </a:r>
            <a:r>
              <a:rPr lang="en-US" sz="1400" dirty="0"/>
              <a:t> </a:t>
            </a:r>
            <a:r>
              <a:rPr lang="en-US" sz="1400" dirty="0" err="1"/>
              <a:t>vùng</a:t>
            </a:r>
            <a:r>
              <a:rPr lang="en-US" sz="1400" dirty="0"/>
              <a:t> </a:t>
            </a:r>
            <a:r>
              <a:rPr lang="en-US" sz="1400" dirty="0" err="1"/>
              <a:t>nhập</a:t>
            </a:r>
            <a:r>
              <a:rPr lang="en-US" sz="1400" dirty="0"/>
              <a:t> </a:t>
            </a:r>
            <a:r>
              <a:rPr lang="en-US" sz="1400" dirty="0" err="1"/>
              <a:t>liệu</a:t>
            </a:r>
            <a:r>
              <a:rPr lang="en-US" sz="1400" dirty="0"/>
              <a:t> </a:t>
            </a:r>
            <a:r>
              <a:rPr lang="en-US" sz="1400" dirty="0" err="1"/>
              <a:t>với</a:t>
            </a:r>
            <a:r>
              <a:rPr lang="en-US" sz="1400" dirty="0"/>
              <a:t> </a:t>
            </a:r>
            <a:r>
              <a:rPr lang="en-US" sz="1400" dirty="0" err="1"/>
              <a:t>kết</a:t>
            </a:r>
            <a:r>
              <a:rPr lang="en-US" sz="1400" dirty="0"/>
              <a:t> </a:t>
            </a:r>
            <a:r>
              <a:rPr lang="en-US" sz="1400" dirty="0" err="1"/>
              <a:t>quả</a:t>
            </a:r>
            <a:r>
              <a:rPr lang="en-US" sz="1400" dirty="0"/>
              <a:t> </a:t>
            </a:r>
            <a:r>
              <a:rPr lang="en-US" sz="1400" dirty="0" err="1"/>
              <a:t>phân</a:t>
            </a:r>
            <a:r>
              <a:rPr lang="en-US" sz="1400" dirty="0"/>
              <a:t> </a:t>
            </a:r>
            <a:r>
              <a:rPr lang="en-US" sz="1400" dirty="0" err="1"/>
              <a:t>tích</a:t>
            </a:r>
            <a:r>
              <a:rPr lang="en-US" sz="1400" dirty="0"/>
              <a:t> </a:t>
            </a:r>
            <a:r>
              <a:rPr lang="en-US" sz="1400" dirty="0" err="1"/>
              <a:t>mã</a:t>
            </a:r>
            <a:r>
              <a:rPr lang="en-US" sz="1400" dirty="0"/>
              <a:t> </a:t>
            </a:r>
            <a:r>
              <a:rPr lang="en-US" sz="1400" dirty="0" err="1"/>
              <a:t>nguồn</a:t>
            </a:r>
            <a:r>
              <a:rPr lang="en-US" sz="1400" dirty="0"/>
              <a:t> </a:t>
            </a:r>
            <a:r>
              <a:rPr lang="en-US" sz="1400" dirty="0" err="1"/>
              <a:t>đơn</a:t>
            </a:r>
            <a:r>
              <a:rPr lang="en-US" sz="1400" dirty="0"/>
              <a:t> </a:t>
            </a:r>
            <a:r>
              <a:rPr lang="en-US" sz="1400" dirty="0" err="1"/>
              <a:t>lẻ</a:t>
            </a:r>
            <a:r>
              <a:rPr lang="en-US" sz="1400" dirty="0"/>
              <a:t>.</a:t>
            </a:r>
          </a:p>
          <a:p>
            <a:pPr marL="285750" indent="-285750" algn="just">
              <a:buFont typeface="Wingdings" panose="05000000000000000000" pitchFamily="2" charset="2"/>
              <a:buChar char="§"/>
            </a:pPr>
            <a:r>
              <a:rPr lang="en-US" sz="1400" b="1" dirty="0">
                <a:solidFill>
                  <a:schemeClr val="accent5"/>
                </a:solidFill>
              </a:rPr>
              <a:t>Menu </a:t>
            </a:r>
            <a:r>
              <a:rPr lang="en-US" sz="1400" b="1" dirty="0" err="1">
                <a:solidFill>
                  <a:schemeClr val="accent5"/>
                </a:solidFill>
              </a:rPr>
              <a:t>tùy</a:t>
            </a:r>
            <a:r>
              <a:rPr lang="en-US" sz="1400" b="1" dirty="0">
                <a:solidFill>
                  <a:schemeClr val="accent5"/>
                </a:solidFill>
              </a:rPr>
              <a:t> </a:t>
            </a:r>
            <a:r>
              <a:rPr lang="en-US" sz="1400" b="1" dirty="0" err="1">
                <a:solidFill>
                  <a:schemeClr val="accent5"/>
                </a:solidFill>
              </a:rPr>
              <a:t>chọn</a:t>
            </a:r>
            <a:r>
              <a:rPr lang="en-US" sz="1400" b="1" dirty="0">
                <a:solidFill>
                  <a:schemeClr val="accent5"/>
                </a:solidFill>
              </a:rPr>
              <a:t> </a:t>
            </a:r>
            <a:r>
              <a:rPr lang="en-US" sz="1400" b="1" dirty="0" err="1">
                <a:solidFill>
                  <a:schemeClr val="accent5"/>
                </a:solidFill>
              </a:rPr>
              <a:t>phương</a:t>
            </a:r>
            <a:r>
              <a:rPr lang="en-US" sz="1400" b="1" dirty="0">
                <a:solidFill>
                  <a:schemeClr val="accent5"/>
                </a:solidFill>
              </a:rPr>
              <a:t> </a:t>
            </a:r>
            <a:r>
              <a:rPr lang="en-US" sz="1400" b="1" dirty="0" err="1">
                <a:solidFill>
                  <a:schemeClr val="accent5"/>
                </a:solidFill>
              </a:rPr>
              <a:t>thức</a:t>
            </a:r>
            <a:r>
              <a:rPr lang="en-US" sz="1400" b="1" dirty="0">
                <a:solidFill>
                  <a:schemeClr val="accent5"/>
                </a:solidFill>
              </a:rPr>
              <a:t> </a:t>
            </a:r>
            <a:r>
              <a:rPr lang="en-US" sz="1400" b="1" dirty="0" err="1">
                <a:solidFill>
                  <a:schemeClr val="accent5"/>
                </a:solidFill>
              </a:rPr>
              <a:t>phân</a:t>
            </a:r>
            <a:r>
              <a:rPr lang="en-US" sz="1400" b="1" dirty="0">
                <a:solidFill>
                  <a:schemeClr val="accent5"/>
                </a:solidFill>
              </a:rPr>
              <a:t> </a:t>
            </a:r>
            <a:r>
              <a:rPr lang="en-US" sz="1400" b="1" dirty="0" err="1">
                <a:solidFill>
                  <a:schemeClr val="accent5"/>
                </a:solidFill>
              </a:rPr>
              <a:t>tích</a:t>
            </a:r>
            <a:endParaRPr lang="en-US" sz="1400" b="1" dirty="0">
              <a:solidFill>
                <a:schemeClr val="accent5"/>
              </a:solidFill>
            </a:endParaRPr>
          </a:p>
          <a:p>
            <a:pPr marL="285750" indent="-285750" algn="just">
              <a:buFont typeface="Wingdings" panose="05000000000000000000" pitchFamily="2" charset="2"/>
              <a:buChar char="§"/>
            </a:pPr>
            <a:r>
              <a:rPr lang="en-US" sz="1400" b="1" dirty="0" err="1">
                <a:solidFill>
                  <a:schemeClr val="accent5"/>
                </a:solidFill>
              </a:rPr>
              <a:t>Vùng</a:t>
            </a:r>
            <a:r>
              <a:rPr lang="en-US" sz="1400" b="1" dirty="0">
                <a:solidFill>
                  <a:schemeClr val="accent5"/>
                </a:solidFill>
              </a:rPr>
              <a:t> </a:t>
            </a:r>
            <a:r>
              <a:rPr lang="en-US" sz="1400" b="1" dirty="0" err="1">
                <a:solidFill>
                  <a:schemeClr val="accent5"/>
                </a:solidFill>
              </a:rPr>
              <a:t>nhập</a:t>
            </a:r>
            <a:r>
              <a:rPr lang="en-US" sz="1400" b="1" dirty="0">
                <a:solidFill>
                  <a:schemeClr val="accent5"/>
                </a:solidFill>
              </a:rPr>
              <a:t> </a:t>
            </a:r>
            <a:r>
              <a:rPr lang="en-US" sz="1400" b="1" dirty="0" err="1">
                <a:solidFill>
                  <a:schemeClr val="accent5"/>
                </a:solidFill>
              </a:rPr>
              <a:t>liệu</a:t>
            </a:r>
            <a:r>
              <a:rPr lang="en-US" sz="1400" b="1" dirty="0">
                <a:solidFill>
                  <a:schemeClr val="accent5"/>
                </a:solidFill>
              </a:rPr>
              <a:t>: </a:t>
            </a:r>
            <a:r>
              <a:rPr lang="en-US" sz="1400" dirty="0"/>
              <a:t>Monaco Editor </a:t>
            </a:r>
            <a:r>
              <a:rPr lang="en-US" sz="1400" dirty="0" err="1"/>
              <a:t>với</a:t>
            </a:r>
            <a:r>
              <a:rPr lang="en-US" sz="1400" dirty="0"/>
              <a:t> syntax highlighting, IntelliSense, code folding, file upload drag &amp; drop</a:t>
            </a:r>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4.5 </a:t>
            </a:r>
            <a:r>
              <a:rPr lang="vi-VN" dirty="0"/>
              <a:t>Giao diện chọn phương thức phân tích và trình soạn thảo mã nguồn</a:t>
            </a:r>
            <a:endParaRPr lang="en-US" dirty="0"/>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9" name="Picture 8" descr="A screenshot of a computer&#10;&#10;AI-generated content may be incorrect.">
            <a:extLst>
              <a:ext uri="{FF2B5EF4-FFF2-40B4-BE49-F238E27FC236}">
                <a16:creationId xmlns:a16="http://schemas.microsoft.com/office/drawing/2014/main" id="{B4CFAF01-D29F-F897-B4C8-C69FA8D202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9917" y="1993901"/>
            <a:ext cx="5634498" cy="3850073"/>
          </a:xfrm>
          <a:prstGeom prst="rect">
            <a:avLst/>
          </a:prstGeom>
          <a:effectLst>
            <a:outerShdw blurRad="63500" sx="102000" sy="102000" algn="ctr" rotWithShape="0">
              <a:prstClr val="black">
                <a:alpha val="13000"/>
              </a:prstClr>
            </a:outerShdw>
          </a:effectLst>
        </p:spPr>
      </p:pic>
    </p:spTree>
    <p:extLst>
      <p:ext uri="{BB962C8B-B14F-4D97-AF65-F5344CB8AC3E}">
        <p14:creationId xmlns:p14="http://schemas.microsoft.com/office/powerpoint/2010/main" val="106586954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1.25E-6 1.85185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200" fill="hold"/>
                                            <p:tgtEl>
                                              <p:spTgt spid="9"/>
                                            </p:tgtEl>
                                            <p:attrNameLst>
                                              <p:attrName>ppt_w</p:attrName>
                                            </p:attrNameLst>
                                          </p:cBhvr>
                                          <p:tavLst>
                                            <p:tav tm="0">
                                              <p:val>
                                                <p:fltVal val="0"/>
                                              </p:val>
                                            </p:tav>
                                            <p:tav tm="100000">
                                              <p:val>
                                                <p:strVal val="#ppt_w"/>
                                              </p:val>
                                            </p:tav>
                                          </p:tavLst>
                                        </p:anim>
                                        <p:anim calcmode="lin" valueType="num">
                                          <p:cBhvr>
                                            <p:cTn id="25" dur="200" fill="hold"/>
                                            <p:tgtEl>
                                              <p:spTgt spid="9"/>
                                            </p:tgtEl>
                                            <p:attrNameLst>
                                              <p:attrName>ppt_h</p:attrName>
                                            </p:attrNameLst>
                                          </p:cBhvr>
                                          <p:tavLst>
                                            <p:tav tm="0">
                                              <p:val>
                                                <p:fltVal val="0"/>
                                              </p:val>
                                            </p:tav>
                                            <p:tav tm="100000">
                                              <p:val>
                                                <p:strVal val="#ppt_h"/>
                                              </p:val>
                                            </p:tav>
                                          </p:tavLst>
                                        </p:anim>
                                      </p:childTnLst>
                                    </p:cTn>
                                  </p:par>
                                  <p:par>
                                    <p:cTn id="26" presetID="6" presetClass="emph" presetSubtype="0" fill="hold" nodeType="withEffect" p14:presetBounceEnd="99000">
                                      <p:stCondLst>
                                        <p:cond delay="0"/>
                                      </p:stCondLst>
                                      <p:childTnLst>
                                        <p:animScale p14:bounceEnd="99000">
                                          <p:cBhvr>
                                            <p:cTn id="27" dur="1000" fill="hold"/>
                                            <p:tgtEl>
                                              <p:spTgt spid="9"/>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9"/>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4"/>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1.25E-6 1.85185E-6 " pathEditMode="relative" rAng="0" ptsTypes="AA">
                                          <p:cBhvr>
                                            <p:cTn id="20" dur="500" fill="hold"/>
                                            <p:tgtEl>
                                              <p:spTgt spid="5"/>
                                            </p:tgtEl>
                                            <p:attrNameLst>
                                              <p:attrName>ppt_x</p:attrName>
                                              <p:attrName>ppt_y</p:attrName>
                                            </p:attrNameLst>
                                          </p:cBhvr>
                                          <p:rCtr x="859" y="0"/>
                                        </p:animMotion>
                                      </p:childTnLst>
                                    </p:cTn>
                                  </p:par>
                                </p:childTnLst>
                              </p:cTn>
                            </p:par>
                            <p:par>
                              <p:cTn id="21" fill="hold">
                                <p:stCondLst>
                                  <p:cond delay="1000"/>
                                </p:stCondLst>
                                <p:childTnLst>
                                  <p:par>
                                    <p:cTn id="22" presetID="23" presetClass="entr" presetSubtype="16"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200" fill="hold"/>
                                            <p:tgtEl>
                                              <p:spTgt spid="9"/>
                                            </p:tgtEl>
                                            <p:attrNameLst>
                                              <p:attrName>ppt_w</p:attrName>
                                            </p:attrNameLst>
                                          </p:cBhvr>
                                          <p:tavLst>
                                            <p:tav tm="0">
                                              <p:val>
                                                <p:fltVal val="0"/>
                                              </p:val>
                                            </p:tav>
                                            <p:tav tm="100000">
                                              <p:val>
                                                <p:strVal val="#ppt_w"/>
                                              </p:val>
                                            </p:tav>
                                          </p:tavLst>
                                        </p:anim>
                                        <p:anim calcmode="lin" valueType="num">
                                          <p:cBhvr>
                                            <p:cTn id="25" dur="200" fill="hold"/>
                                            <p:tgtEl>
                                              <p:spTgt spid="9"/>
                                            </p:tgtEl>
                                            <p:attrNameLst>
                                              <p:attrName>ppt_h</p:attrName>
                                            </p:attrNameLst>
                                          </p:cBhvr>
                                          <p:tavLst>
                                            <p:tav tm="0">
                                              <p:val>
                                                <p:fltVal val="0"/>
                                              </p:val>
                                            </p:tav>
                                            <p:tav tm="100000">
                                              <p:val>
                                                <p:strVal val="#ppt_h"/>
                                              </p:val>
                                            </p:tav>
                                          </p:tavLst>
                                        </p:anim>
                                      </p:childTnLst>
                                    </p:cTn>
                                  </p:par>
                                  <p:par>
                                    <p:cTn id="26" presetID="6" presetClass="emph" presetSubtype="0" fill="hold" nodeType="withEffect">
                                      <p:stCondLst>
                                        <p:cond delay="0"/>
                                      </p:stCondLst>
                                      <p:childTnLst>
                                        <p:animScale>
                                          <p:cBhvr>
                                            <p:cTn id="27" dur="1000" fill="hold"/>
                                            <p:tgtEl>
                                              <p:spTgt spid="9"/>
                                            </p:tgtEl>
                                          </p:cBhvr>
                                          <p:by x="110000" y="110000"/>
                                        </p:animScale>
                                      </p:childTnLst>
                                    </p:cTn>
                                  </p:par>
                                  <p:par>
                                    <p:cTn id="28" presetID="6" presetClass="emph" presetSubtype="0" accel="50000" decel="50000" fill="hold" nodeType="withEffect">
                                      <p:stCondLst>
                                        <p:cond delay="0"/>
                                      </p:stCondLst>
                                      <p:childTnLst>
                                        <p:animScale>
                                          <p:cBhvr>
                                            <p:cTn id="29" dur="250" fill="hold"/>
                                            <p:tgtEl>
                                              <p:spTgt spid="9"/>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31</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093843"/>
            <a:ext cx="3905250" cy="3940245"/>
          </a:xfrm>
        </p:spPr>
        <p:txBody>
          <a:bodyPr/>
          <a:lstStyle/>
          <a:p>
            <a:pPr algn="just"/>
            <a:r>
              <a:rPr lang="en-US" sz="1400" dirty="0"/>
              <a:t>Giao </a:t>
            </a:r>
            <a:r>
              <a:rPr lang="en-US" sz="1400" dirty="0" err="1"/>
              <a:t>diện</a:t>
            </a:r>
            <a:r>
              <a:rPr lang="en-US" sz="1400" dirty="0"/>
              <a:t> </a:t>
            </a:r>
            <a:r>
              <a:rPr lang="vi-VN" sz="1400" dirty="0"/>
              <a:t>cung cấp một cái nhìn toàn diện về việc so sánh các đặc trưng của mã nguồn với tập dữ liệu cơ sở được xây dựng từ </a:t>
            </a:r>
            <a:r>
              <a:rPr lang="vi-VN" sz="1400" dirty="0" err="1"/>
              <a:t>code</a:t>
            </a:r>
            <a:r>
              <a:rPr lang="vi-VN" sz="1400" dirty="0"/>
              <a:t> mẫu của AI và </a:t>
            </a:r>
            <a:r>
              <a:rPr lang="vi-VN" sz="1400" dirty="0" err="1"/>
              <a:t>code</a:t>
            </a:r>
            <a:r>
              <a:rPr lang="vi-VN" sz="1400" dirty="0"/>
              <a:t> mẫu của người. Giao diện hiển thị so sánh với thống kê tổng quan: tổng số đặc trưng được so sánh, số lượng đặc trưng giống AI, giống người và trung lập.</a:t>
            </a:r>
            <a:endParaRPr lang="en-US" sz="1400" dirty="0"/>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4.6 Dashboard </a:t>
            </a:r>
            <a:r>
              <a:rPr lang="en-US" dirty="0" err="1"/>
              <a:t>kết</a:t>
            </a:r>
            <a:r>
              <a:rPr lang="en-US" dirty="0"/>
              <a:t> </a:t>
            </a:r>
            <a:r>
              <a:rPr lang="en-US" dirty="0" err="1"/>
              <a:t>quả</a:t>
            </a:r>
            <a:r>
              <a:rPr lang="en-US" dirty="0"/>
              <a:t> </a:t>
            </a:r>
            <a:r>
              <a:rPr lang="en-US" dirty="0" err="1"/>
              <a:t>phân</a:t>
            </a:r>
            <a:r>
              <a:rPr lang="en-US" dirty="0"/>
              <a:t> </a:t>
            </a:r>
            <a:r>
              <a:rPr lang="en-US" dirty="0" err="1"/>
              <a:t>tích</a:t>
            </a:r>
            <a:r>
              <a:rPr lang="en-US" dirty="0"/>
              <a:t> </a:t>
            </a:r>
            <a:r>
              <a:rPr lang="en-US" dirty="0" err="1"/>
              <a:t>với</a:t>
            </a:r>
            <a:r>
              <a:rPr lang="en-US" dirty="0"/>
              <a:t> baseline</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8" name="Picture 7" descr="A screenshot of a computer&#10;&#10;AI-generated content may be incorrect.">
            <a:extLst>
              <a:ext uri="{FF2B5EF4-FFF2-40B4-BE49-F238E27FC236}">
                <a16:creationId xmlns:a16="http://schemas.microsoft.com/office/drawing/2014/main" id="{879E15C6-F4E4-1E61-9E17-4E2587B4B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6234" y="1600200"/>
            <a:ext cx="5055503" cy="4178375"/>
          </a:xfrm>
          <a:prstGeom prst="rect">
            <a:avLst/>
          </a:prstGeom>
          <a:effectLst>
            <a:outerShdw blurRad="63500" sx="102000" sy="102000" algn="ctr" rotWithShape="0">
              <a:prstClr val="black">
                <a:alpha val="13000"/>
              </a:prstClr>
            </a:outerShdw>
          </a:effectLst>
        </p:spPr>
      </p:pic>
    </p:spTree>
    <p:extLst>
      <p:ext uri="{BB962C8B-B14F-4D97-AF65-F5344CB8AC3E}">
        <p14:creationId xmlns:p14="http://schemas.microsoft.com/office/powerpoint/2010/main" val="398303965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50"/>
                                            <p:tgtEl>
                                              <p:spTgt spid="5"/>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5"/>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200" fill="hold"/>
                                            <p:tgtEl>
                                              <p:spTgt spid="8"/>
                                            </p:tgtEl>
                                            <p:attrNameLst>
                                              <p:attrName>ppt_w</p:attrName>
                                            </p:attrNameLst>
                                          </p:cBhvr>
                                          <p:tavLst>
                                            <p:tav tm="0">
                                              <p:val>
                                                <p:fltVal val="0"/>
                                              </p:val>
                                            </p:tav>
                                            <p:tav tm="100000">
                                              <p:val>
                                                <p:strVal val="#ppt_w"/>
                                              </p:val>
                                            </p:tav>
                                          </p:tavLst>
                                        </p:anim>
                                        <p:anim calcmode="lin" valueType="num">
                                          <p:cBhvr>
                                            <p:cTn id="20" dur="200" fill="hold"/>
                                            <p:tgtEl>
                                              <p:spTgt spid="8"/>
                                            </p:tgtEl>
                                            <p:attrNameLst>
                                              <p:attrName>ppt_h</p:attrName>
                                            </p:attrNameLst>
                                          </p:cBhvr>
                                          <p:tavLst>
                                            <p:tav tm="0">
                                              <p:val>
                                                <p:fltVal val="0"/>
                                              </p:val>
                                            </p:tav>
                                            <p:tav tm="100000">
                                              <p:val>
                                                <p:strVal val="#ppt_h"/>
                                              </p:val>
                                            </p:tav>
                                          </p:tavLst>
                                        </p:anim>
                                      </p:childTnLst>
                                    </p:cTn>
                                  </p:par>
                                  <p:par>
                                    <p:cTn id="21" presetID="6" presetClass="emph" presetSubtype="0" fill="hold" nodeType="withEffect" p14:presetBounceEnd="99000">
                                      <p:stCondLst>
                                        <p:cond delay="0"/>
                                      </p:stCondLst>
                                      <p:childTnLst>
                                        <p:animScale p14:bounceEnd="99000">
                                          <p:cBhvr>
                                            <p:cTn id="22" dur="1000" fill="hold"/>
                                            <p:tgtEl>
                                              <p:spTgt spid="8"/>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50"/>
                                            <p:tgtEl>
                                              <p:spTgt spid="5"/>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5"/>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200" fill="hold"/>
                                            <p:tgtEl>
                                              <p:spTgt spid="8"/>
                                            </p:tgtEl>
                                            <p:attrNameLst>
                                              <p:attrName>ppt_w</p:attrName>
                                            </p:attrNameLst>
                                          </p:cBhvr>
                                          <p:tavLst>
                                            <p:tav tm="0">
                                              <p:val>
                                                <p:fltVal val="0"/>
                                              </p:val>
                                            </p:tav>
                                            <p:tav tm="100000">
                                              <p:val>
                                                <p:strVal val="#ppt_w"/>
                                              </p:val>
                                            </p:tav>
                                          </p:tavLst>
                                        </p:anim>
                                        <p:anim calcmode="lin" valueType="num">
                                          <p:cBhvr>
                                            <p:cTn id="20" dur="200" fill="hold"/>
                                            <p:tgtEl>
                                              <p:spTgt spid="8"/>
                                            </p:tgtEl>
                                            <p:attrNameLst>
                                              <p:attrName>ppt_h</p:attrName>
                                            </p:attrNameLst>
                                          </p:cBhvr>
                                          <p:tavLst>
                                            <p:tav tm="0">
                                              <p:val>
                                                <p:fltVal val="0"/>
                                              </p:val>
                                            </p:tav>
                                            <p:tav tm="100000">
                                              <p:val>
                                                <p:strVal val="#ppt_h"/>
                                              </p:val>
                                            </p:tav>
                                          </p:tavLst>
                                        </p:anim>
                                      </p:childTnLst>
                                    </p:cTn>
                                  </p:par>
                                  <p:par>
                                    <p:cTn id="21" presetID="6" presetClass="emph" presetSubtype="0" fill="hold" nodeType="withEffect">
                                      <p:stCondLst>
                                        <p:cond delay="0"/>
                                      </p:stCondLst>
                                      <p:childTnLst>
                                        <p:animScale>
                                          <p:cBhvr>
                                            <p:cTn id="22" dur="1000" fill="hold"/>
                                            <p:tgtEl>
                                              <p:spTgt spid="8"/>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153372-D738-4797-831B-A7F9F03A6C26}"/>
              </a:ext>
            </a:extLst>
          </p:cNvPr>
          <p:cNvSpPr>
            <a:spLocks noGrp="1"/>
          </p:cNvSpPr>
          <p:nvPr>
            <p:ph type="sldNum" sz="quarter" idx="10"/>
          </p:nvPr>
        </p:nvSpPr>
        <p:spPr/>
        <p:txBody>
          <a:bodyPr/>
          <a:lstStyle/>
          <a:p>
            <a:fld id="{A8929BE4-9460-4FFC-82AB-40FA3E28D9A3}" type="slidenum">
              <a:rPr lang="en-US" smtClean="0"/>
              <a:pPr/>
              <a:t>32</a:t>
            </a:fld>
            <a:endParaRPr lang="en-US"/>
          </a:p>
        </p:txBody>
      </p:sp>
      <p:sp>
        <p:nvSpPr>
          <p:cNvPr id="4" name="Text Placeholder 3">
            <a:extLst>
              <a:ext uri="{FF2B5EF4-FFF2-40B4-BE49-F238E27FC236}">
                <a16:creationId xmlns:a16="http://schemas.microsoft.com/office/drawing/2014/main" id="{D65B6AFC-6D5B-0459-17D5-22DE3B26F4A9}"/>
              </a:ext>
            </a:extLst>
          </p:cNvPr>
          <p:cNvSpPr>
            <a:spLocks noGrp="1"/>
          </p:cNvSpPr>
          <p:nvPr>
            <p:ph type="body" sz="quarter" idx="11"/>
          </p:nvPr>
        </p:nvSpPr>
        <p:spPr/>
        <p:txBody>
          <a:bodyPr/>
          <a:lstStyle/>
          <a:p>
            <a:r>
              <a:rPr lang="en-US" dirty="0"/>
              <a:t>IV. KẾT QUẢ NGHIÊN CỨU</a:t>
            </a:r>
          </a:p>
        </p:txBody>
      </p:sp>
      <p:sp>
        <p:nvSpPr>
          <p:cNvPr id="5" name="Text Placeholder 4">
            <a:extLst>
              <a:ext uri="{FF2B5EF4-FFF2-40B4-BE49-F238E27FC236}">
                <a16:creationId xmlns:a16="http://schemas.microsoft.com/office/drawing/2014/main" id="{373EBBF3-10FD-30B2-FA3B-65A20A96DBF4}"/>
              </a:ext>
            </a:extLst>
          </p:cNvPr>
          <p:cNvSpPr>
            <a:spLocks noGrp="1"/>
          </p:cNvSpPr>
          <p:nvPr>
            <p:ph type="body" sz="quarter" idx="12"/>
          </p:nvPr>
        </p:nvSpPr>
        <p:spPr>
          <a:xfrm>
            <a:off x="838200" y="2093843"/>
            <a:ext cx="4953000" cy="3940245"/>
          </a:xfrm>
        </p:spPr>
        <p:txBody>
          <a:bodyPr/>
          <a:lstStyle/>
          <a:p>
            <a:pPr algn="just"/>
            <a:r>
              <a:rPr lang="en-US" sz="1400" dirty="0"/>
              <a:t>Ở </a:t>
            </a:r>
            <a:r>
              <a:rPr lang="en-US" sz="1400" dirty="0" err="1"/>
              <a:t>giao</a:t>
            </a:r>
            <a:r>
              <a:rPr lang="en-US" sz="1400" dirty="0"/>
              <a:t> </a:t>
            </a:r>
            <a:r>
              <a:rPr lang="en-US" sz="1400" dirty="0" err="1"/>
              <a:t>diện</a:t>
            </a:r>
            <a:r>
              <a:rPr lang="en-US" sz="1400" dirty="0"/>
              <a:t> </a:t>
            </a:r>
            <a:r>
              <a:rPr lang="en-US" sz="1400" dirty="0" err="1"/>
              <a:t>này</a:t>
            </a:r>
            <a:r>
              <a:rPr lang="en-US" sz="1400" dirty="0"/>
              <a:t> </a:t>
            </a:r>
            <a:r>
              <a:rPr lang="en-US" sz="1400" dirty="0" err="1"/>
              <a:t>thì</a:t>
            </a:r>
            <a:r>
              <a:rPr lang="en-US" sz="1400" dirty="0"/>
              <a:t> </a:t>
            </a:r>
            <a:r>
              <a:rPr lang="vi-VN" sz="1400" dirty="0"/>
              <a:t>hệ thống</a:t>
            </a:r>
            <a:r>
              <a:rPr lang="en-US" sz="1400" dirty="0"/>
              <a:t> </a:t>
            </a:r>
            <a:r>
              <a:rPr lang="en-US" sz="1400" dirty="0" err="1"/>
              <a:t>sẽ</a:t>
            </a:r>
            <a:r>
              <a:rPr lang="vi-VN" sz="1400" dirty="0"/>
              <a:t> tích hợp mô </a:t>
            </a:r>
            <a:r>
              <a:rPr lang="vi-VN" sz="1400" b="1" dirty="0" err="1">
                <a:solidFill>
                  <a:schemeClr val="accent5"/>
                </a:solidFill>
              </a:rPr>
              <a:t>Google</a:t>
            </a:r>
            <a:r>
              <a:rPr lang="vi-VN" sz="1400" b="1" dirty="0">
                <a:solidFill>
                  <a:schemeClr val="accent5"/>
                </a:solidFill>
              </a:rPr>
              <a:t> </a:t>
            </a:r>
            <a:r>
              <a:rPr lang="vi-VN" sz="1400" b="1" dirty="0" err="1">
                <a:solidFill>
                  <a:schemeClr val="accent5"/>
                </a:solidFill>
              </a:rPr>
              <a:t>Gemini</a:t>
            </a:r>
            <a:r>
              <a:rPr lang="vi-VN" sz="1400" b="1" dirty="0">
                <a:solidFill>
                  <a:schemeClr val="accent5"/>
                </a:solidFill>
              </a:rPr>
              <a:t> 2.0 </a:t>
            </a:r>
            <a:r>
              <a:rPr lang="vi-VN" sz="1400" b="1" dirty="0" err="1">
                <a:solidFill>
                  <a:schemeClr val="accent5"/>
                </a:solidFill>
              </a:rPr>
              <a:t>Flash</a:t>
            </a:r>
            <a:r>
              <a:rPr lang="vi-VN" sz="1400" dirty="0"/>
              <a:t> để đưa ra phân tích thông minh kèm theo giải thích bằng ngôn ngữ tự nhiên. Kết quả phân tích được hiển thị rõ ràng nhờ MDX </a:t>
            </a:r>
            <a:r>
              <a:rPr lang="vi-VN" sz="1400" dirty="0" err="1"/>
              <a:t>renderer</a:t>
            </a:r>
            <a:r>
              <a:rPr lang="vi-VN" sz="1400" dirty="0"/>
              <a:t>, bao gồm:</a:t>
            </a:r>
            <a:endParaRPr lang="en-US" sz="1400" dirty="0"/>
          </a:p>
          <a:p>
            <a:pPr marL="285750" indent="-285750" algn="just">
              <a:lnSpc>
                <a:spcPct val="117857"/>
              </a:lnSpc>
              <a:buFont typeface="Wingdings" panose="05000000000000000000" pitchFamily="2" charset="2"/>
              <a:buChar char="§"/>
            </a:pPr>
            <a:r>
              <a:rPr lang="vi-VN" sz="1400" dirty="0"/>
              <a:t>Kết quả dự đoán cùng mức độ tin cậy.</a:t>
            </a:r>
          </a:p>
          <a:p>
            <a:pPr marL="285750" indent="-285750" algn="just">
              <a:lnSpc>
                <a:spcPct val="117857"/>
              </a:lnSpc>
              <a:buFont typeface="Wingdings" panose="05000000000000000000" pitchFamily="2" charset="2"/>
              <a:buChar char="§"/>
            </a:pPr>
            <a:r>
              <a:rPr lang="vi-VN" sz="1400" dirty="0"/>
              <a:t>Đánh giá chi tiết về phong cách lập trình, cấu trúc </a:t>
            </a:r>
            <a:r>
              <a:rPr lang="vi-VN" sz="1400" dirty="0" err="1"/>
              <a:t>code</a:t>
            </a:r>
            <a:r>
              <a:rPr lang="vi-VN" sz="1400" dirty="0"/>
              <a:t>, cách dùng cú pháp và chất lượng ghi chú (</a:t>
            </a:r>
            <a:r>
              <a:rPr lang="vi-VN" sz="1400" dirty="0" err="1"/>
              <a:t>documentation</a:t>
            </a:r>
            <a:r>
              <a:rPr lang="vi-VN" sz="1400" dirty="0"/>
              <a:t>).</a:t>
            </a:r>
          </a:p>
          <a:p>
            <a:pPr marL="285750" indent="-285750" algn="just">
              <a:lnSpc>
                <a:spcPct val="117857"/>
              </a:lnSpc>
              <a:buFont typeface="Wingdings" panose="05000000000000000000" pitchFamily="2" charset="2"/>
              <a:buChar char="§"/>
            </a:pPr>
            <a:r>
              <a:rPr lang="vi-VN" sz="1400" dirty="0"/>
              <a:t>Nhận diện các đặc điểm thường thấy trong </a:t>
            </a:r>
            <a:r>
              <a:rPr lang="vi-VN" sz="1400" dirty="0" err="1"/>
              <a:t>code</a:t>
            </a:r>
            <a:r>
              <a:rPr lang="vi-VN" sz="1400" dirty="0"/>
              <a:t> AI và </a:t>
            </a:r>
            <a:r>
              <a:rPr lang="vi-VN" sz="1400" dirty="0" err="1"/>
              <a:t>code</a:t>
            </a:r>
            <a:r>
              <a:rPr lang="vi-VN" sz="1400" dirty="0"/>
              <a:t> của con người, kèm lý do giải thích cho từng kết luận.</a:t>
            </a:r>
          </a:p>
          <a:p>
            <a:pPr algn="just"/>
            <a:endParaRPr lang="en-US" sz="1400" dirty="0"/>
          </a:p>
          <a:p>
            <a:pPr algn="just"/>
            <a:endParaRPr lang="en-US" sz="1400" dirty="0"/>
          </a:p>
        </p:txBody>
      </p:sp>
      <p:sp>
        <p:nvSpPr>
          <p:cNvPr id="6" name="Text Placeholder 5">
            <a:extLst>
              <a:ext uri="{FF2B5EF4-FFF2-40B4-BE49-F238E27FC236}">
                <a16:creationId xmlns:a16="http://schemas.microsoft.com/office/drawing/2014/main" id="{C094C9F9-80D4-2435-9C7B-52673862DABE}"/>
              </a:ext>
            </a:extLst>
          </p:cNvPr>
          <p:cNvSpPr>
            <a:spLocks noGrp="1"/>
          </p:cNvSpPr>
          <p:nvPr>
            <p:ph type="body" sz="quarter" idx="13"/>
          </p:nvPr>
        </p:nvSpPr>
        <p:spPr/>
        <p:txBody>
          <a:bodyPr/>
          <a:lstStyle/>
          <a:p>
            <a:r>
              <a:rPr lang="en-US" dirty="0"/>
              <a:t>4.7 Giao </a:t>
            </a:r>
            <a:r>
              <a:rPr lang="en-US" dirty="0" err="1"/>
              <a:t>diện</a:t>
            </a:r>
            <a:r>
              <a:rPr lang="en-US" dirty="0"/>
              <a:t> </a:t>
            </a:r>
            <a:r>
              <a:rPr lang="en-US" dirty="0" err="1"/>
              <a:t>phân</a:t>
            </a:r>
            <a:r>
              <a:rPr lang="en-US" dirty="0"/>
              <a:t> </a:t>
            </a:r>
            <a:r>
              <a:rPr lang="en-US" dirty="0" err="1"/>
              <a:t>tích</a:t>
            </a:r>
            <a:r>
              <a:rPr lang="en-US" dirty="0"/>
              <a:t> </a:t>
            </a:r>
            <a:r>
              <a:rPr lang="en-US" dirty="0" err="1"/>
              <a:t>với</a:t>
            </a:r>
            <a:r>
              <a:rPr lang="en-US" dirty="0"/>
              <a:t> Google Gemini</a:t>
            </a:r>
          </a:p>
        </p:txBody>
      </p:sp>
      <p:sp>
        <p:nvSpPr>
          <p:cNvPr id="7" name="Title 4">
            <a:extLst>
              <a:ext uri="{FF2B5EF4-FFF2-40B4-BE49-F238E27FC236}">
                <a16:creationId xmlns:a16="http://schemas.microsoft.com/office/drawing/2014/main" id="{48854A1D-5BCC-55E7-E273-C6972BE3C073}"/>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pic>
        <p:nvPicPr>
          <p:cNvPr id="9" name="Picture 8" descr="A screenshot of a computer&#10;&#10;AI-generated content may be incorrect.">
            <a:extLst>
              <a:ext uri="{FF2B5EF4-FFF2-40B4-BE49-F238E27FC236}">
                <a16:creationId xmlns:a16="http://schemas.microsoft.com/office/drawing/2014/main" id="{B4CFAF01-D29F-F897-B4C8-C69FA8D202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1937" y="1993901"/>
            <a:ext cx="5634498" cy="3850073"/>
          </a:xfrm>
          <a:prstGeom prst="rect">
            <a:avLst/>
          </a:prstGeom>
          <a:effectLst>
            <a:outerShdw blurRad="63500" sx="102000" sy="102000" algn="ctr" rotWithShape="0">
              <a:prstClr val="black">
                <a:alpha val="13000"/>
              </a:prstClr>
            </a:outerShdw>
          </a:effectLst>
        </p:spPr>
      </p:pic>
    </p:spTree>
    <p:extLst>
      <p:ext uri="{BB962C8B-B14F-4D97-AF65-F5344CB8AC3E}">
        <p14:creationId xmlns:p14="http://schemas.microsoft.com/office/powerpoint/2010/main" val="119915569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50"/>
                                            <p:tgtEl>
                                              <p:spTgt spid="5"/>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5"/>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200" fill="hold"/>
                                            <p:tgtEl>
                                              <p:spTgt spid="9"/>
                                            </p:tgtEl>
                                            <p:attrNameLst>
                                              <p:attrName>ppt_w</p:attrName>
                                            </p:attrNameLst>
                                          </p:cBhvr>
                                          <p:tavLst>
                                            <p:tav tm="0">
                                              <p:val>
                                                <p:fltVal val="0"/>
                                              </p:val>
                                            </p:tav>
                                            <p:tav tm="100000">
                                              <p:val>
                                                <p:strVal val="#ppt_w"/>
                                              </p:val>
                                            </p:tav>
                                          </p:tavLst>
                                        </p:anim>
                                        <p:anim calcmode="lin" valueType="num">
                                          <p:cBhvr>
                                            <p:cTn id="20" dur="200" fill="hold"/>
                                            <p:tgtEl>
                                              <p:spTgt spid="9"/>
                                            </p:tgtEl>
                                            <p:attrNameLst>
                                              <p:attrName>ppt_h</p:attrName>
                                            </p:attrNameLst>
                                          </p:cBhvr>
                                          <p:tavLst>
                                            <p:tav tm="0">
                                              <p:val>
                                                <p:fltVal val="0"/>
                                              </p:val>
                                            </p:tav>
                                            <p:tav tm="100000">
                                              <p:val>
                                                <p:strVal val="#ppt_h"/>
                                              </p:val>
                                            </p:tav>
                                          </p:tavLst>
                                        </p:anim>
                                      </p:childTnLst>
                                    </p:cTn>
                                  </p:par>
                                  <p:par>
                                    <p:cTn id="21" presetID="6" presetClass="emph" presetSubtype="0" fill="hold" nodeType="withEffect" p14:presetBounceEnd="99000">
                                      <p:stCondLst>
                                        <p:cond delay="0"/>
                                      </p:stCondLst>
                                      <p:childTnLst>
                                        <p:animScale p14:bounceEnd="99000">
                                          <p:cBhvr>
                                            <p:cTn id="22" dur="1000" fill="hold"/>
                                            <p:tgtEl>
                                              <p:spTgt spid="9"/>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9"/>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6"/>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50"/>
                                            <p:tgtEl>
                                              <p:spTgt spid="5"/>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5"/>
                                            </p:tgtEl>
                                            <p:attrNameLst>
                                              <p:attrName>ppt_x</p:attrName>
                                              <p:attrName>ppt_y</p:attrName>
                                            </p:attrNameLst>
                                          </p:cBhvr>
                                          <p:rCtr x="859" y="0"/>
                                        </p:animMotion>
                                      </p:childTnLst>
                                    </p:cTn>
                                  </p:par>
                                </p:childTnLst>
                              </p:cTn>
                            </p:par>
                            <p:par>
                              <p:cTn id="16" fill="hold">
                                <p:stCondLst>
                                  <p:cond delay="1000"/>
                                </p:stCondLst>
                                <p:childTnLst>
                                  <p:par>
                                    <p:cTn id="17" presetID="23" presetClass="entr" presetSubtype="16"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200" fill="hold"/>
                                            <p:tgtEl>
                                              <p:spTgt spid="9"/>
                                            </p:tgtEl>
                                            <p:attrNameLst>
                                              <p:attrName>ppt_w</p:attrName>
                                            </p:attrNameLst>
                                          </p:cBhvr>
                                          <p:tavLst>
                                            <p:tav tm="0">
                                              <p:val>
                                                <p:fltVal val="0"/>
                                              </p:val>
                                            </p:tav>
                                            <p:tav tm="100000">
                                              <p:val>
                                                <p:strVal val="#ppt_w"/>
                                              </p:val>
                                            </p:tav>
                                          </p:tavLst>
                                        </p:anim>
                                        <p:anim calcmode="lin" valueType="num">
                                          <p:cBhvr>
                                            <p:cTn id="20" dur="200" fill="hold"/>
                                            <p:tgtEl>
                                              <p:spTgt spid="9"/>
                                            </p:tgtEl>
                                            <p:attrNameLst>
                                              <p:attrName>ppt_h</p:attrName>
                                            </p:attrNameLst>
                                          </p:cBhvr>
                                          <p:tavLst>
                                            <p:tav tm="0">
                                              <p:val>
                                                <p:fltVal val="0"/>
                                              </p:val>
                                            </p:tav>
                                            <p:tav tm="100000">
                                              <p:val>
                                                <p:strVal val="#ppt_h"/>
                                              </p:val>
                                            </p:tav>
                                          </p:tavLst>
                                        </p:anim>
                                      </p:childTnLst>
                                    </p:cTn>
                                  </p:par>
                                  <p:par>
                                    <p:cTn id="21" presetID="6" presetClass="emph" presetSubtype="0" fill="hold" nodeType="withEffect">
                                      <p:stCondLst>
                                        <p:cond delay="0"/>
                                      </p:stCondLst>
                                      <p:childTnLst>
                                        <p:animScale>
                                          <p:cBhvr>
                                            <p:cTn id="22" dur="1000" fill="hold"/>
                                            <p:tgtEl>
                                              <p:spTgt spid="9"/>
                                            </p:tgtEl>
                                          </p:cBhvr>
                                          <p:by x="110000" y="110000"/>
                                        </p:animScale>
                                      </p:childTnLst>
                                    </p:cTn>
                                  </p:par>
                                  <p:par>
                                    <p:cTn id="23" presetID="6" presetClass="emph" presetSubtype="0" accel="50000" decel="50000" fill="hold" nodeType="withEffect">
                                      <p:stCondLst>
                                        <p:cond delay="0"/>
                                      </p:stCondLst>
                                      <p:childTnLst>
                                        <p:animScale>
                                          <p:cBhvr>
                                            <p:cTn id="24" dur="250" fill="hold"/>
                                            <p:tgtEl>
                                              <p:spTgt spid="9"/>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1B4723-F15F-B0DC-094E-C31828469AC8}"/>
              </a:ext>
            </a:extLst>
          </p:cNvPr>
          <p:cNvSpPr>
            <a:spLocks noGrp="1"/>
          </p:cNvSpPr>
          <p:nvPr>
            <p:ph type="sldNum" sz="quarter" idx="10"/>
          </p:nvPr>
        </p:nvSpPr>
        <p:spPr/>
        <p:txBody>
          <a:bodyPr/>
          <a:lstStyle/>
          <a:p>
            <a:fld id="{A8929BE4-9460-4FFC-82AB-40FA3E28D9A3}" type="slidenum">
              <a:rPr lang="en-US" smtClean="0"/>
              <a:pPr/>
              <a:t>33</a:t>
            </a:fld>
            <a:endParaRPr lang="en-US"/>
          </a:p>
        </p:txBody>
      </p:sp>
      <p:sp>
        <p:nvSpPr>
          <p:cNvPr id="3" name="Text Placeholder 2">
            <a:extLst>
              <a:ext uri="{FF2B5EF4-FFF2-40B4-BE49-F238E27FC236}">
                <a16:creationId xmlns:a16="http://schemas.microsoft.com/office/drawing/2014/main" id="{205B3754-07D4-B7A6-9692-D86654E04B6C}"/>
              </a:ext>
            </a:extLst>
          </p:cNvPr>
          <p:cNvSpPr>
            <a:spLocks noGrp="1"/>
          </p:cNvSpPr>
          <p:nvPr>
            <p:ph type="body" sz="quarter" idx="11"/>
          </p:nvPr>
        </p:nvSpPr>
        <p:spPr/>
        <p:txBody>
          <a:bodyPr/>
          <a:lstStyle/>
          <a:p>
            <a:r>
              <a:rPr lang="en-US" dirty="0"/>
              <a:t>05</a:t>
            </a:r>
          </a:p>
        </p:txBody>
      </p:sp>
      <p:sp>
        <p:nvSpPr>
          <p:cNvPr id="4" name="Text Placeholder 3">
            <a:extLst>
              <a:ext uri="{FF2B5EF4-FFF2-40B4-BE49-F238E27FC236}">
                <a16:creationId xmlns:a16="http://schemas.microsoft.com/office/drawing/2014/main" id="{2EAE002A-7FC1-0EA2-17B2-5FF54F42E28A}"/>
              </a:ext>
            </a:extLst>
          </p:cNvPr>
          <p:cNvSpPr>
            <a:spLocks noGrp="1"/>
          </p:cNvSpPr>
          <p:nvPr>
            <p:ph type="body" sz="quarter" idx="12"/>
          </p:nvPr>
        </p:nvSpPr>
        <p:spPr>
          <a:xfrm>
            <a:off x="838200" y="2909887"/>
            <a:ext cx="10515600" cy="1343025"/>
          </a:xfrm>
        </p:spPr>
        <p:txBody>
          <a:bodyPr/>
          <a:lstStyle/>
          <a:p>
            <a:r>
              <a:rPr lang="en-US" sz="5400" dirty="0"/>
              <a:t>KẾT LUẬN VÀ</a:t>
            </a:r>
            <a:br>
              <a:rPr lang="en-US" sz="5400" dirty="0"/>
            </a:br>
            <a:r>
              <a:rPr lang="en-US" sz="5400" dirty="0"/>
              <a:t>HƯỚNG PHÁT TRIỂN</a:t>
            </a:r>
          </a:p>
        </p:txBody>
      </p:sp>
      <p:sp>
        <p:nvSpPr>
          <p:cNvPr id="5" name="Title 4">
            <a:extLst>
              <a:ext uri="{FF2B5EF4-FFF2-40B4-BE49-F238E27FC236}">
                <a16:creationId xmlns:a16="http://schemas.microsoft.com/office/drawing/2014/main" id="{D1B2F9DA-C6A8-C811-386B-07209B90EFEE}"/>
              </a:ext>
            </a:extLst>
          </p:cNvPr>
          <p:cNvSpPr>
            <a:spLocks noGrp="1"/>
          </p:cNvSpPr>
          <p:nvPr>
            <p:ph type="title"/>
          </p:nvPr>
        </p:nvSpPr>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142224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CC34F5-6E59-2DB7-151D-55DD183CD1AE}"/>
              </a:ext>
            </a:extLst>
          </p:cNvPr>
          <p:cNvSpPr>
            <a:spLocks noGrp="1"/>
          </p:cNvSpPr>
          <p:nvPr>
            <p:ph type="sldNum" sz="quarter" idx="10"/>
          </p:nvPr>
        </p:nvSpPr>
        <p:spPr/>
        <p:txBody>
          <a:bodyPr/>
          <a:lstStyle/>
          <a:p>
            <a:fld id="{A8929BE4-9460-4FFC-82AB-40FA3E28D9A3}" type="slidenum">
              <a:rPr lang="en-US" smtClean="0"/>
              <a:pPr/>
              <a:t>34</a:t>
            </a:fld>
            <a:endParaRPr lang="en-US"/>
          </a:p>
        </p:txBody>
      </p:sp>
      <p:sp>
        <p:nvSpPr>
          <p:cNvPr id="5" name="Text Placeholder 4">
            <a:extLst>
              <a:ext uri="{FF2B5EF4-FFF2-40B4-BE49-F238E27FC236}">
                <a16:creationId xmlns:a16="http://schemas.microsoft.com/office/drawing/2014/main" id="{7D3D36B2-DE60-D980-BDFC-FF8FBA20E157}"/>
              </a:ext>
            </a:extLst>
          </p:cNvPr>
          <p:cNvSpPr>
            <a:spLocks noGrp="1"/>
          </p:cNvSpPr>
          <p:nvPr>
            <p:ph type="body" sz="quarter" idx="12"/>
          </p:nvPr>
        </p:nvSpPr>
        <p:spPr>
          <a:xfrm>
            <a:off x="838200" y="2093843"/>
            <a:ext cx="10515600" cy="3868807"/>
          </a:xfrm>
        </p:spPr>
        <p:txBody>
          <a:bodyPr/>
          <a:lstStyle/>
          <a:p>
            <a:r>
              <a:rPr lang="en-US" dirty="0" err="1"/>
              <a:t>Đề</a:t>
            </a:r>
            <a:r>
              <a:rPr lang="en-US" dirty="0"/>
              <a:t> </a:t>
            </a:r>
            <a:r>
              <a:rPr lang="en-US" dirty="0" err="1"/>
              <a:t>tài</a:t>
            </a:r>
            <a:r>
              <a:rPr lang="en-US" dirty="0"/>
              <a:t> </a:t>
            </a:r>
            <a:r>
              <a:rPr lang="vi-VN" dirty="0"/>
              <a:t>“</a:t>
            </a:r>
            <a:r>
              <a:rPr lang="vi-VN" b="1" dirty="0">
                <a:solidFill>
                  <a:schemeClr val="accent5"/>
                </a:solidFill>
              </a:rPr>
              <a:t>Xây dựng cơ chế phát hiện AI-</a:t>
            </a:r>
            <a:r>
              <a:rPr lang="vi-VN" b="1" dirty="0" err="1">
                <a:solidFill>
                  <a:schemeClr val="accent5"/>
                </a:solidFill>
              </a:rPr>
              <a:t>generated</a:t>
            </a:r>
            <a:r>
              <a:rPr lang="vi-VN" b="1" dirty="0">
                <a:solidFill>
                  <a:schemeClr val="accent5"/>
                </a:solidFill>
              </a:rPr>
              <a:t> </a:t>
            </a:r>
            <a:r>
              <a:rPr lang="vi-VN" b="1" dirty="0" err="1">
                <a:solidFill>
                  <a:schemeClr val="accent5"/>
                </a:solidFill>
              </a:rPr>
              <a:t>code</a:t>
            </a:r>
            <a:r>
              <a:rPr lang="vi-VN" b="1" dirty="0">
                <a:solidFill>
                  <a:schemeClr val="accent5"/>
                </a:solidFill>
              </a:rPr>
              <a:t> trong bài tập lập trình sinh viên</a:t>
            </a:r>
            <a:r>
              <a:rPr lang="vi-VN" dirty="0"/>
              <a:t>” đã thành công trong việc đạt được các mục tiêu ban đầu thông qua việc phát triển một hệ thống phân tích mã nguồn toàn diện và đa chiều. Hệ thống gồm bốn mô-đun phân tích chuyên </a:t>
            </a:r>
            <a:r>
              <a:rPr lang="vi-VN" dirty="0" err="1"/>
              <a:t>biệ</a:t>
            </a:r>
            <a:r>
              <a:rPr lang="en-US" dirty="0"/>
              <a:t>t</a:t>
            </a:r>
          </a:p>
          <a:p>
            <a:pPr marL="285750" indent="-285750">
              <a:buFont typeface="Wingdings" panose="05000000000000000000" pitchFamily="2" charset="2"/>
              <a:buChar char="§"/>
            </a:pPr>
            <a:r>
              <a:rPr lang="vi-VN" b="1" dirty="0">
                <a:solidFill>
                  <a:schemeClr val="accent5"/>
                </a:solidFill>
              </a:rPr>
              <a:t>AST </a:t>
            </a:r>
            <a:r>
              <a:rPr lang="vi-VN" b="1" dirty="0" err="1">
                <a:solidFill>
                  <a:schemeClr val="accent5"/>
                </a:solidFill>
              </a:rPr>
              <a:t>Analyzer</a:t>
            </a:r>
            <a:r>
              <a:rPr lang="vi-VN" b="1" dirty="0">
                <a:solidFill>
                  <a:schemeClr val="accent5"/>
                </a:solidFill>
              </a:rPr>
              <a:t>: </a:t>
            </a:r>
            <a:r>
              <a:rPr lang="vi-VN" dirty="0"/>
              <a:t>trích xuất hơn 25 đặc trưng về cấu trúc mã.</a:t>
            </a:r>
          </a:p>
          <a:p>
            <a:pPr marL="285750" indent="-285750">
              <a:buFont typeface="Wingdings" panose="05000000000000000000" pitchFamily="2" charset="2"/>
              <a:buChar char="§"/>
            </a:pPr>
            <a:r>
              <a:rPr lang="en-US" b="1" dirty="0">
                <a:solidFill>
                  <a:schemeClr val="accent5"/>
                </a:solidFill>
              </a:rPr>
              <a:t>Code</a:t>
            </a:r>
            <a:r>
              <a:rPr lang="vi-VN" b="1" dirty="0">
                <a:solidFill>
                  <a:schemeClr val="accent5"/>
                </a:solidFill>
              </a:rPr>
              <a:t> </a:t>
            </a:r>
            <a:r>
              <a:rPr lang="vi-VN" b="1" dirty="0" err="1">
                <a:solidFill>
                  <a:schemeClr val="accent5"/>
                </a:solidFill>
              </a:rPr>
              <a:t>Style</a:t>
            </a:r>
            <a:r>
              <a:rPr lang="vi-VN" b="1" dirty="0">
                <a:solidFill>
                  <a:schemeClr val="accent5"/>
                </a:solidFill>
              </a:rPr>
              <a:t> </a:t>
            </a:r>
            <a:r>
              <a:rPr lang="vi-VN" b="1" dirty="0" err="1">
                <a:solidFill>
                  <a:schemeClr val="accent5"/>
                </a:solidFill>
              </a:rPr>
              <a:t>Analyzer</a:t>
            </a:r>
            <a:r>
              <a:rPr lang="vi-VN" b="1" dirty="0">
                <a:solidFill>
                  <a:schemeClr val="accent5"/>
                </a:solidFill>
              </a:rPr>
              <a:t>: </a:t>
            </a:r>
            <a:r>
              <a:rPr lang="vi-VN" dirty="0"/>
              <a:t>phát hiện hơn 39 mẫu đặc trưng cho sự thiếu nhất quán thường gặp trong phong cách lập trình của con người.</a:t>
            </a:r>
          </a:p>
          <a:p>
            <a:pPr marL="285750" indent="-285750">
              <a:buFont typeface="Wingdings" panose="05000000000000000000" pitchFamily="2" charset="2"/>
              <a:buChar char="§"/>
            </a:pPr>
            <a:r>
              <a:rPr lang="vi-VN" b="1" dirty="0">
                <a:solidFill>
                  <a:schemeClr val="accent5"/>
                </a:solidFill>
              </a:rPr>
              <a:t>AI </a:t>
            </a:r>
            <a:r>
              <a:rPr lang="vi-VN" b="1" dirty="0" err="1">
                <a:solidFill>
                  <a:schemeClr val="accent5"/>
                </a:solidFill>
              </a:rPr>
              <a:t>Analysis</a:t>
            </a:r>
            <a:r>
              <a:rPr lang="vi-VN" b="1" dirty="0">
                <a:solidFill>
                  <a:schemeClr val="accent5"/>
                </a:solidFill>
              </a:rPr>
              <a:t> </a:t>
            </a:r>
            <a:r>
              <a:rPr lang="vi-VN" b="1" dirty="0" err="1">
                <a:solidFill>
                  <a:schemeClr val="accent5"/>
                </a:solidFill>
              </a:rPr>
              <a:t>Module</a:t>
            </a:r>
            <a:r>
              <a:rPr lang="vi-VN" b="1" dirty="0">
                <a:solidFill>
                  <a:schemeClr val="accent5"/>
                </a:solidFill>
              </a:rPr>
              <a:t>: </a:t>
            </a:r>
            <a:r>
              <a:rPr lang="vi-VN" dirty="0"/>
              <a:t>tận dụng các mô hình ngôn ngữ lớn tiên tiến để đưa ra phân tích và giải thích thông minh.</a:t>
            </a:r>
          </a:p>
          <a:p>
            <a:endParaRPr lang="en-US" dirty="0"/>
          </a:p>
        </p:txBody>
      </p:sp>
      <p:sp>
        <p:nvSpPr>
          <p:cNvPr id="7" name="Text Placeholder 3">
            <a:extLst>
              <a:ext uri="{FF2B5EF4-FFF2-40B4-BE49-F238E27FC236}">
                <a16:creationId xmlns:a16="http://schemas.microsoft.com/office/drawing/2014/main" id="{100BED53-3CBB-0392-FB05-D55CEA3964E9}"/>
              </a:ext>
            </a:extLst>
          </p:cNvPr>
          <p:cNvSpPr>
            <a:spLocks noGrp="1"/>
          </p:cNvSpPr>
          <p:nvPr>
            <p:ph type="body" sz="quarter" idx="11"/>
          </p:nvPr>
        </p:nvSpPr>
        <p:spPr>
          <a:xfrm>
            <a:off x="838200" y="1304925"/>
            <a:ext cx="10515600" cy="295275"/>
          </a:xfrm>
        </p:spPr>
        <p:txBody>
          <a:bodyPr/>
          <a:lstStyle/>
          <a:p>
            <a:r>
              <a:rPr lang="en-US" dirty="0"/>
              <a:t>V. KẾT LUẬN VÀ HƯỚNG PHÁT TRIỂN</a:t>
            </a:r>
          </a:p>
        </p:txBody>
      </p:sp>
      <p:sp>
        <p:nvSpPr>
          <p:cNvPr id="8" name="Text Placeholder 5">
            <a:extLst>
              <a:ext uri="{FF2B5EF4-FFF2-40B4-BE49-F238E27FC236}">
                <a16:creationId xmlns:a16="http://schemas.microsoft.com/office/drawing/2014/main" id="{2B2BC588-2604-DCAB-0F12-8E9C8D9B5A8E}"/>
              </a:ext>
            </a:extLst>
          </p:cNvPr>
          <p:cNvSpPr>
            <a:spLocks noGrp="1"/>
          </p:cNvSpPr>
          <p:nvPr>
            <p:ph type="body" sz="quarter" idx="13"/>
          </p:nvPr>
        </p:nvSpPr>
        <p:spPr>
          <a:xfrm>
            <a:off x="838200" y="1649413"/>
            <a:ext cx="10515600" cy="295275"/>
          </a:xfrm>
        </p:spPr>
        <p:txBody>
          <a:bodyPr/>
          <a:lstStyle/>
          <a:p>
            <a:r>
              <a:rPr lang="en-US" dirty="0"/>
              <a:t>5.1 </a:t>
            </a:r>
            <a:r>
              <a:rPr lang="en-US" dirty="0" err="1"/>
              <a:t>Kết</a:t>
            </a:r>
            <a:r>
              <a:rPr lang="en-US" dirty="0"/>
              <a:t> </a:t>
            </a:r>
            <a:r>
              <a:rPr lang="en-US" dirty="0" err="1"/>
              <a:t>luận</a:t>
            </a:r>
            <a:endParaRPr lang="en-US" dirty="0"/>
          </a:p>
        </p:txBody>
      </p:sp>
      <p:sp>
        <p:nvSpPr>
          <p:cNvPr id="9" name="Title 4">
            <a:extLst>
              <a:ext uri="{FF2B5EF4-FFF2-40B4-BE49-F238E27FC236}">
                <a16:creationId xmlns:a16="http://schemas.microsoft.com/office/drawing/2014/main" id="{0E12B5FB-D18B-F58A-B80B-0A9ABC5988E1}"/>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76799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8"/>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7"/>
                                        </p:tgtEl>
                                        <p:attrNameLst>
                                          <p:attrName>ppt_x</p:attrName>
                                          <p:attrName>ppt_y</p:attrName>
                                        </p:attrNameLst>
                                      </p:cBhvr>
                                      <p:rCtr x="859" y="0"/>
                                    </p:animMotion>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50"/>
                                        <p:tgtEl>
                                          <p:spTgt spid="5"/>
                                        </p:tgtEl>
                                      </p:cBhvr>
                                    </p:animEffect>
                                  </p:childTnLst>
                                </p:cTn>
                              </p:par>
                              <p:par>
                                <p:cTn id="19" presetID="42" presetClass="path" presetSubtype="0" decel="100000" fill="hold" grpId="1" nodeType="withEffect">
                                  <p:stCondLst>
                                    <p:cond delay="0"/>
                                  </p:stCondLst>
                                  <p:childTnLst>
                                    <p:animMotion origin="layout" path="M -0.01719 -0.00023 L -1.25E-6 1.85185E-6 " pathEditMode="relative" rAng="0" ptsTypes="AA">
                                      <p:cBhvr>
                                        <p:cTn id="20"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p:bldP spid="7" grpId="1"/>
      <p:bldP spid="8" grpId="0"/>
      <p:bldP spid="8"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CC34F5-6E59-2DB7-151D-55DD183CD1AE}"/>
              </a:ext>
            </a:extLst>
          </p:cNvPr>
          <p:cNvSpPr>
            <a:spLocks noGrp="1"/>
          </p:cNvSpPr>
          <p:nvPr>
            <p:ph type="sldNum" sz="quarter" idx="10"/>
          </p:nvPr>
        </p:nvSpPr>
        <p:spPr/>
        <p:txBody>
          <a:bodyPr/>
          <a:lstStyle/>
          <a:p>
            <a:fld id="{A8929BE4-9460-4FFC-82AB-40FA3E28D9A3}" type="slidenum">
              <a:rPr lang="en-US" smtClean="0"/>
              <a:pPr/>
              <a:t>35</a:t>
            </a:fld>
            <a:endParaRPr lang="en-US"/>
          </a:p>
        </p:txBody>
      </p:sp>
      <p:sp>
        <p:nvSpPr>
          <p:cNvPr id="5" name="Text Placeholder 4">
            <a:extLst>
              <a:ext uri="{FF2B5EF4-FFF2-40B4-BE49-F238E27FC236}">
                <a16:creationId xmlns:a16="http://schemas.microsoft.com/office/drawing/2014/main" id="{7D3D36B2-DE60-D980-BDFC-FF8FBA20E157}"/>
              </a:ext>
            </a:extLst>
          </p:cNvPr>
          <p:cNvSpPr>
            <a:spLocks noGrp="1"/>
          </p:cNvSpPr>
          <p:nvPr>
            <p:ph type="body" sz="quarter" idx="12"/>
          </p:nvPr>
        </p:nvSpPr>
        <p:spPr>
          <a:xfrm>
            <a:off x="838200" y="2093843"/>
            <a:ext cx="10515600" cy="3868807"/>
          </a:xfrm>
        </p:spPr>
        <p:txBody>
          <a:bodyPr/>
          <a:lstStyle/>
          <a:p>
            <a:r>
              <a:rPr lang="vi-VN" sz="1550" b="1" dirty="0">
                <a:solidFill>
                  <a:schemeClr val="accent5"/>
                </a:solidFill>
              </a:rPr>
              <a:t>Mở rộng ngôn ngữ lập trình: </a:t>
            </a:r>
            <a:r>
              <a:rPr lang="vi-VN" sz="1550" dirty="0"/>
              <a:t>Hệ thống sẽ hỗ trợ thêm nhiều ngôn ngữ ngoài C/C++, như </a:t>
            </a:r>
            <a:r>
              <a:rPr lang="vi-VN" sz="1550" dirty="0" err="1"/>
              <a:t>Python</a:t>
            </a:r>
            <a:r>
              <a:rPr lang="vi-VN" sz="1550" dirty="0"/>
              <a:t>, </a:t>
            </a:r>
            <a:r>
              <a:rPr lang="vi-VN" sz="1550" dirty="0" err="1"/>
              <a:t>Java</a:t>
            </a:r>
            <a:r>
              <a:rPr lang="vi-VN" sz="1550" dirty="0"/>
              <a:t>, </a:t>
            </a:r>
            <a:r>
              <a:rPr lang="vi-VN" sz="1550" dirty="0" err="1"/>
              <a:t>JavaScript</a:t>
            </a:r>
            <a:r>
              <a:rPr lang="vi-VN" sz="1550" dirty="0"/>
              <a:t>…, thông qua </a:t>
            </a:r>
            <a:r>
              <a:rPr lang="vi-VN" sz="1550" dirty="0" err="1"/>
              <a:t>framework</a:t>
            </a:r>
            <a:r>
              <a:rPr lang="vi-VN" sz="1550" dirty="0"/>
              <a:t> phân tích đa ngôn ngữ. Điều này giúp dễ dàng mở rộng, nâng cao khả năng nhận diện </a:t>
            </a:r>
            <a:r>
              <a:rPr lang="vi-VN" sz="1550" dirty="0" err="1"/>
              <a:t>code</a:t>
            </a:r>
            <a:r>
              <a:rPr lang="vi-VN" sz="1550" dirty="0"/>
              <a:t> AI ở nhiều ngữ cảnh khác nhau.</a:t>
            </a:r>
          </a:p>
          <a:p>
            <a:r>
              <a:rPr lang="vi-VN" sz="1550" b="1" dirty="0">
                <a:solidFill>
                  <a:schemeClr val="accent5"/>
                </a:solidFill>
              </a:rPr>
              <a:t>Cải thiện độ chính xác và hiệu năng</a:t>
            </a:r>
            <a:r>
              <a:rPr lang="vi-VN" sz="1550" dirty="0"/>
              <a:t>: Ứng dụng các kỹ thuật tối ưu thuật toán và xử lý song </a:t>
            </a:r>
            <a:r>
              <a:rPr lang="vi-VN" sz="1550" dirty="0" err="1"/>
              <a:t>song</a:t>
            </a:r>
            <a:r>
              <a:rPr lang="vi-VN" sz="1550" dirty="0"/>
              <a:t> để tăng tốc phân tích, đảm bảo độ tin cậy và khả năng hoạt động thời gian thực.</a:t>
            </a:r>
          </a:p>
          <a:p>
            <a:r>
              <a:rPr lang="vi-VN" sz="1550" b="1" dirty="0">
                <a:solidFill>
                  <a:schemeClr val="accent5"/>
                </a:solidFill>
              </a:rPr>
              <a:t>Tích hợp với hệ thống giáo dục: </a:t>
            </a:r>
            <a:r>
              <a:rPr lang="vi-VN" sz="1550" dirty="0"/>
              <a:t>Phát triển API để kết nối với LMS (</a:t>
            </a:r>
            <a:r>
              <a:rPr lang="vi-VN" sz="1550" dirty="0" err="1"/>
              <a:t>Moodle</a:t>
            </a:r>
            <a:r>
              <a:rPr lang="vi-VN" sz="1550" dirty="0"/>
              <a:t>, </a:t>
            </a:r>
            <a:r>
              <a:rPr lang="vi-VN" sz="1550" dirty="0" err="1"/>
              <a:t>Canvas</a:t>
            </a:r>
            <a:r>
              <a:rPr lang="vi-VN" sz="1550" dirty="0"/>
              <a:t>…), hỗ trợ phân tích trực tiếp trên IDE, nền tảng học lập trình </a:t>
            </a:r>
            <a:r>
              <a:rPr lang="vi-VN" sz="1550" dirty="0" err="1"/>
              <a:t>online</a:t>
            </a:r>
            <a:r>
              <a:rPr lang="vi-VN" sz="1550" dirty="0"/>
              <a:t>, và cung cấp </a:t>
            </a:r>
            <a:r>
              <a:rPr lang="vi-VN" sz="1550" dirty="0" err="1"/>
              <a:t>dashboard</a:t>
            </a:r>
            <a:r>
              <a:rPr lang="vi-VN" sz="1550" dirty="0"/>
              <a:t> thống kê cho nhà trường.</a:t>
            </a:r>
          </a:p>
          <a:p>
            <a:r>
              <a:rPr lang="vi-VN" sz="1550" b="1" dirty="0">
                <a:solidFill>
                  <a:schemeClr val="accent5"/>
                </a:solidFill>
              </a:rPr>
              <a:t>Nghiên cứu và phát triển nâng cao: </a:t>
            </a:r>
            <a:r>
              <a:rPr lang="vi-VN" sz="1550" dirty="0"/>
              <a:t>Tiếp tục nghiên cứu kỹ thuật phát hiện AI tinh vi, phát triển AI có khả năng giải thích, phân tích xu hướng tiến hóa của mô hình sinh </a:t>
            </a:r>
            <a:r>
              <a:rPr lang="vi-VN" sz="1550" dirty="0" err="1"/>
              <a:t>code</a:t>
            </a:r>
            <a:r>
              <a:rPr lang="vi-VN" sz="1550" dirty="0"/>
              <a:t>, và hợp tác với các tổ chức học thuật để đóng góp cho cộng đồng nghiên cứu.</a:t>
            </a:r>
          </a:p>
        </p:txBody>
      </p:sp>
      <p:sp>
        <p:nvSpPr>
          <p:cNvPr id="7" name="Text Placeholder 3">
            <a:extLst>
              <a:ext uri="{FF2B5EF4-FFF2-40B4-BE49-F238E27FC236}">
                <a16:creationId xmlns:a16="http://schemas.microsoft.com/office/drawing/2014/main" id="{100BED53-3CBB-0392-FB05-D55CEA3964E9}"/>
              </a:ext>
            </a:extLst>
          </p:cNvPr>
          <p:cNvSpPr>
            <a:spLocks noGrp="1"/>
          </p:cNvSpPr>
          <p:nvPr>
            <p:ph type="body" sz="quarter" idx="11"/>
          </p:nvPr>
        </p:nvSpPr>
        <p:spPr>
          <a:xfrm>
            <a:off x="838200" y="1304925"/>
            <a:ext cx="10515600" cy="295275"/>
          </a:xfrm>
        </p:spPr>
        <p:txBody>
          <a:bodyPr/>
          <a:lstStyle/>
          <a:p>
            <a:r>
              <a:rPr lang="en-US" dirty="0"/>
              <a:t>V. KẾT LUẬN VÀ HƯỚNG PHÁT TRIỂN</a:t>
            </a:r>
          </a:p>
        </p:txBody>
      </p:sp>
      <p:sp>
        <p:nvSpPr>
          <p:cNvPr id="8" name="Text Placeholder 5">
            <a:extLst>
              <a:ext uri="{FF2B5EF4-FFF2-40B4-BE49-F238E27FC236}">
                <a16:creationId xmlns:a16="http://schemas.microsoft.com/office/drawing/2014/main" id="{2B2BC588-2604-DCAB-0F12-8E9C8D9B5A8E}"/>
              </a:ext>
            </a:extLst>
          </p:cNvPr>
          <p:cNvSpPr>
            <a:spLocks noGrp="1"/>
          </p:cNvSpPr>
          <p:nvPr>
            <p:ph type="body" sz="quarter" idx="13"/>
          </p:nvPr>
        </p:nvSpPr>
        <p:spPr>
          <a:xfrm>
            <a:off x="838200" y="1649413"/>
            <a:ext cx="10515600" cy="295275"/>
          </a:xfrm>
        </p:spPr>
        <p:txBody>
          <a:bodyPr/>
          <a:lstStyle/>
          <a:p>
            <a:r>
              <a:rPr lang="en-US" dirty="0"/>
              <a:t>5.2 </a:t>
            </a:r>
            <a:r>
              <a:rPr lang="en-US" dirty="0" err="1"/>
              <a:t>Hướng</a:t>
            </a:r>
            <a:r>
              <a:rPr lang="en-US" dirty="0"/>
              <a:t> </a:t>
            </a:r>
            <a:r>
              <a:rPr lang="en-US" dirty="0" err="1"/>
              <a:t>phát</a:t>
            </a:r>
            <a:r>
              <a:rPr lang="en-US" dirty="0"/>
              <a:t> </a:t>
            </a:r>
            <a:r>
              <a:rPr lang="en-US" dirty="0" err="1"/>
              <a:t>triển</a:t>
            </a:r>
            <a:endParaRPr lang="en-US" dirty="0"/>
          </a:p>
        </p:txBody>
      </p:sp>
      <p:sp>
        <p:nvSpPr>
          <p:cNvPr id="9" name="Title 4">
            <a:extLst>
              <a:ext uri="{FF2B5EF4-FFF2-40B4-BE49-F238E27FC236}">
                <a16:creationId xmlns:a16="http://schemas.microsoft.com/office/drawing/2014/main" id="{0E12B5FB-D18B-F58A-B80B-0A9ABC5988E1}"/>
              </a:ext>
            </a:extLst>
          </p:cNvPr>
          <p:cNvSpPr>
            <a:spLocks noGrp="1"/>
          </p:cNvSpPr>
          <p:nvPr>
            <p:ph type="title"/>
          </p:nvPr>
        </p:nvSpPr>
        <p:spPr>
          <a:xfrm>
            <a:off x="838200" y="285750"/>
            <a:ext cx="10515600" cy="752476"/>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61479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8"/>
                                        </p:tgtEl>
                                        <p:attrNameLst>
                                          <p:attrName>ppt_x</p:attrName>
                                          <p:attrName>ppt_y</p:attrName>
                                        </p:attrNameLst>
                                      </p:cBhvr>
                                      <p:rCtr x="859" y="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50"/>
                                        <p:tgtEl>
                                          <p:spTgt spid="5"/>
                                        </p:tgtEl>
                                      </p:cBhvr>
                                    </p:animEffect>
                                  </p:childTnLst>
                                </p:cTn>
                              </p:par>
                              <p:par>
                                <p:cTn id="14" presetID="42" presetClass="path" presetSubtype="0" decel="100000" fill="hold" grpId="1" nodeType="withEffect">
                                  <p:stCondLst>
                                    <p:cond delay="0"/>
                                  </p:stCondLst>
                                  <p:childTnLst>
                                    <p:animMotion origin="layout" path="M -0.01719 -0.00023 L -1.25E-6 1.85185E-6 " pathEditMode="relative" rAng="0" ptsTypes="AA">
                                      <p:cBhvr>
                                        <p:cTn id="15"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8" grpId="0"/>
      <p:bldP spid="8"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1B4723-F15F-B0DC-094E-C31828469AC8}"/>
              </a:ext>
            </a:extLst>
          </p:cNvPr>
          <p:cNvSpPr>
            <a:spLocks noGrp="1"/>
          </p:cNvSpPr>
          <p:nvPr>
            <p:ph type="sldNum" sz="quarter" idx="10"/>
          </p:nvPr>
        </p:nvSpPr>
        <p:spPr/>
        <p:txBody>
          <a:bodyPr/>
          <a:lstStyle/>
          <a:p>
            <a:fld id="{A8929BE4-9460-4FFC-82AB-40FA3E28D9A3}" type="slidenum">
              <a:rPr lang="en-US" smtClean="0"/>
              <a:pPr/>
              <a:t>36</a:t>
            </a:fld>
            <a:endParaRPr lang="en-US"/>
          </a:p>
        </p:txBody>
      </p:sp>
      <p:sp>
        <p:nvSpPr>
          <p:cNvPr id="3" name="Text Placeholder 2">
            <a:extLst>
              <a:ext uri="{FF2B5EF4-FFF2-40B4-BE49-F238E27FC236}">
                <a16:creationId xmlns:a16="http://schemas.microsoft.com/office/drawing/2014/main" id="{205B3754-07D4-B7A6-9692-D86654E04B6C}"/>
              </a:ext>
            </a:extLst>
          </p:cNvPr>
          <p:cNvSpPr>
            <a:spLocks noGrp="1"/>
          </p:cNvSpPr>
          <p:nvPr>
            <p:ph type="body" sz="quarter" idx="11"/>
          </p:nvPr>
        </p:nvSpPr>
        <p:spPr/>
        <p:txBody>
          <a:bodyPr/>
          <a:lstStyle/>
          <a:p>
            <a:r>
              <a:rPr lang="en-US" dirty="0"/>
              <a:t>06</a:t>
            </a:r>
          </a:p>
        </p:txBody>
      </p:sp>
      <p:sp>
        <p:nvSpPr>
          <p:cNvPr id="4" name="Text Placeholder 3">
            <a:extLst>
              <a:ext uri="{FF2B5EF4-FFF2-40B4-BE49-F238E27FC236}">
                <a16:creationId xmlns:a16="http://schemas.microsoft.com/office/drawing/2014/main" id="{2EAE002A-7FC1-0EA2-17B2-5FF54F42E28A}"/>
              </a:ext>
            </a:extLst>
          </p:cNvPr>
          <p:cNvSpPr>
            <a:spLocks noGrp="1"/>
          </p:cNvSpPr>
          <p:nvPr>
            <p:ph type="body" sz="quarter" idx="12"/>
          </p:nvPr>
        </p:nvSpPr>
        <p:spPr>
          <a:xfrm>
            <a:off x="838200" y="2909887"/>
            <a:ext cx="10515600" cy="1343025"/>
          </a:xfrm>
        </p:spPr>
        <p:txBody>
          <a:bodyPr/>
          <a:lstStyle/>
          <a:p>
            <a:r>
              <a:rPr lang="en-US" sz="5400" dirty="0"/>
              <a:t>DEMO</a:t>
            </a:r>
          </a:p>
        </p:txBody>
      </p:sp>
      <p:sp>
        <p:nvSpPr>
          <p:cNvPr id="5" name="Title 4">
            <a:extLst>
              <a:ext uri="{FF2B5EF4-FFF2-40B4-BE49-F238E27FC236}">
                <a16:creationId xmlns:a16="http://schemas.microsoft.com/office/drawing/2014/main" id="{D1B2F9DA-C6A8-C811-386B-07209B90EFEE}"/>
              </a:ext>
            </a:extLst>
          </p:cNvPr>
          <p:cNvSpPr>
            <a:spLocks noGrp="1"/>
          </p:cNvSpPr>
          <p:nvPr>
            <p:ph type="title"/>
          </p:nvPr>
        </p:nvSpPr>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3500680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EC269E-24B4-2E3E-C88D-667EF4F1E44F}"/>
              </a:ext>
            </a:extLst>
          </p:cNvPr>
          <p:cNvSpPr>
            <a:spLocks noGrp="1"/>
          </p:cNvSpPr>
          <p:nvPr>
            <p:ph type="sldNum" sz="quarter" idx="10"/>
          </p:nvPr>
        </p:nvSpPr>
        <p:spPr/>
        <p:txBody>
          <a:bodyPr/>
          <a:lstStyle/>
          <a:p>
            <a:fld id="{A8929BE4-9460-4FFC-82AB-40FA3E28D9A3}" type="slidenum">
              <a:rPr lang="en-US" smtClean="0"/>
              <a:pPr/>
              <a:t>37</a:t>
            </a:fld>
            <a:endParaRPr lang="en-US"/>
          </a:p>
        </p:txBody>
      </p:sp>
      <p:sp>
        <p:nvSpPr>
          <p:cNvPr id="6" name="Title 4">
            <a:extLst>
              <a:ext uri="{FF2B5EF4-FFF2-40B4-BE49-F238E27FC236}">
                <a16:creationId xmlns:a16="http://schemas.microsoft.com/office/drawing/2014/main" id="{2F377AD3-ADFA-06C2-85B3-943BD11FACFD}"/>
              </a:ext>
            </a:extLst>
          </p:cNvPr>
          <p:cNvSpPr>
            <a:spLocks noGrp="1"/>
          </p:cNvSpPr>
          <p:nvPr>
            <p:ph type="title"/>
          </p:nvPr>
        </p:nvSpPr>
        <p:spPr>
          <a:xfrm>
            <a:off x="838200" y="285750"/>
            <a:ext cx="10515600" cy="752475"/>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
        <p:nvSpPr>
          <p:cNvPr id="7" name="TextBox 6">
            <a:extLst>
              <a:ext uri="{FF2B5EF4-FFF2-40B4-BE49-F238E27FC236}">
                <a16:creationId xmlns:a16="http://schemas.microsoft.com/office/drawing/2014/main" id="{928442B3-5B55-7E02-71E9-88407F4D82B1}"/>
              </a:ext>
            </a:extLst>
          </p:cNvPr>
          <p:cNvSpPr txBox="1"/>
          <p:nvPr/>
        </p:nvSpPr>
        <p:spPr>
          <a:xfrm>
            <a:off x="2829721" y="2497976"/>
            <a:ext cx="6532558" cy="1862048"/>
          </a:xfrm>
          <a:prstGeom prst="rect">
            <a:avLst/>
          </a:prstGeom>
          <a:noFill/>
        </p:spPr>
        <p:txBody>
          <a:bodyPr wrap="none" rtlCol="0">
            <a:spAutoFit/>
          </a:bodyPr>
          <a:lstStyle/>
          <a:p>
            <a:pPr algn="ctr"/>
            <a:r>
              <a:rPr lang="en-US" sz="11500" dirty="0">
                <a:solidFill>
                  <a:schemeClr val="tx2"/>
                </a:solidFill>
                <a:latin typeface="Fz Poppins Black" pitchFamily="2" charset="0"/>
                <a:cs typeface="Fz Poppins Black" pitchFamily="2" charset="0"/>
              </a:rPr>
              <a:t>THANKS</a:t>
            </a:r>
          </a:p>
        </p:txBody>
      </p:sp>
    </p:spTree>
    <p:extLst>
      <p:ext uri="{BB962C8B-B14F-4D97-AF65-F5344CB8AC3E}">
        <p14:creationId xmlns:p14="http://schemas.microsoft.com/office/powerpoint/2010/main" val="20385848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29F656C-040D-3FB5-F4CA-A68B23C4E963}"/>
              </a:ext>
            </a:extLst>
          </p:cNvPr>
          <p:cNvSpPr>
            <a:spLocks noGrp="1"/>
          </p:cNvSpPr>
          <p:nvPr>
            <p:ph type="sldNum" sz="quarter" idx="10"/>
          </p:nvPr>
        </p:nvSpPr>
        <p:spPr/>
        <p:txBody>
          <a:bodyPr/>
          <a:lstStyle/>
          <a:p>
            <a:fld id="{A8929BE4-9460-4FFC-82AB-40FA3E28D9A3}" type="slidenum">
              <a:rPr lang="en-US" smtClean="0"/>
              <a:pPr/>
              <a:t>38</a:t>
            </a:fld>
            <a:endParaRPr lang="en-US"/>
          </a:p>
        </p:txBody>
      </p:sp>
      <p:sp>
        <p:nvSpPr>
          <p:cNvPr id="4" name="Text Placeholder 3">
            <a:extLst>
              <a:ext uri="{FF2B5EF4-FFF2-40B4-BE49-F238E27FC236}">
                <a16:creationId xmlns:a16="http://schemas.microsoft.com/office/drawing/2014/main" id="{34BC38E5-6BD4-4423-F0D3-1B0589DE62BA}"/>
              </a:ext>
            </a:extLst>
          </p:cNvPr>
          <p:cNvSpPr>
            <a:spLocks noGrp="1"/>
          </p:cNvSpPr>
          <p:nvPr>
            <p:ph type="body" sz="quarter" idx="11"/>
          </p:nvPr>
        </p:nvSpPr>
        <p:spPr>
          <a:xfrm>
            <a:off x="838200" y="1601718"/>
            <a:ext cx="10515600" cy="295275"/>
          </a:xfrm>
        </p:spPr>
        <p:txBody>
          <a:bodyPr/>
          <a:lstStyle/>
          <a:p>
            <a:pPr algn="ctr"/>
            <a:r>
              <a:rPr lang="en-US" dirty="0"/>
              <a:t>TÀI LIỆU THAM KHẢO</a:t>
            </a:r>
          </a:p>
        </p:txBody>
      </p:sp>
      <p:sp>
        <p:nvSpPr>
          <p:cNvPr id="5" name="Text Placeholder 4">
            <a:extLst>
              <a:ext uri="{FF2B5EF4-FFF2-40B4-BE49-F238E27FC236}">
                <a16:creationId xmlns:a16="http://schemas.microsoft.com/office/drawing/2014/main" id="{BA6C4020-24FC-8DCC-7F0A-E70DDA0633F8}"/>
              </a:ext>
            </a:extLst>
          </p:cNvPr>
          <p:cNvSpPr>
            <a:spLocks noGrp="1"/>
          </p:cNvSpPr>
          <p:nvPr>
            <p:ph type="body" sz="quarter" idx="12"/>
          </p:nvPr>
        </p:nvSpPr>
        <p:spPr>
          <a:xfrm>
            <a:off x="838200" y="2093843"/>
            <a:ext cx="10515600" cy="3868807"/>
          </a:xfrm>
        </p:spPr>
        <p:txBody>
          <a:bodyPr/>
          <a:lstStyle/>
          <a:p>
            <a:r>
              <a:rPr lang="en-US" sz="1400" spc="-16" dirty="0">
                <a:solidFill>
                  <a:srgbClr val="075985"/>
                </a:solidFill>
              </a:rPr>
              <a:t>1️⃣ "</a:t>
            </a:r>
            <a:r>
              <a:rPr lang="en-US" sz="1400" spc="-16" dirty="0" err="1">
                <a:solidFill>
                  <a:srgbClr val="075985"/>
                </a:solidFill>
              </a:rPr>
              <a:t>Github</a:t>
            </a:r>
            <a:r>
              <a:rPr lang="en-US" sz="1400" spc="-16" dirty="0">
                <a:solidFill>
                  <a:srgbClr val="075985"/>
                </a:solidFill>
              </a:rPr>
              <a:t>," 2025. [Online]. Available: </a:t>
            </a:r>
            <a:r>
              <a:rPr lang="en-US" sz="1400" spc="-16" dirty="0">
                <a:solidFill>
                  <a:srgbClr val="075985"/>
                </a:solidFill>
                <a:hlinkClick r:id="rId2">
                  <a:extLst>
                    <a:ext uri="{A12FA001-AC4F-418D-AE19-62706E023703}">
                      <ahyp:hlinkClr xmlns:ahyp="http://schemas.microsoft.com/office/drawing/2018/hyperlinkcolor" val="tx"/>
                    </a:ext>
                  </a:extLst>
                </a:hlinkClick>
              </a:rPr>
              <a:t>https://github.com/vercel/next.js</a:t>
            </a:r>
            <a:r>
              <a:rPr lang="en-US" sz="1400" spc="-16" dirty="0">
                <a:solidFill>
                  <a:srgbClr val="075985"/>
                </a:solidFill>
              </a:rPr>
              <a:t>.</a:t>
            </a:r>
          </a:p>
          <a:p>
            <a:r>
              <a:rPr lang="en-US" sz="1400" spc="-16" dirty="0">
                <a:solidFill>
                  <a:srgbClr val="075985"/>
                </a:solidFill>
              </a:rPr>
              <a:t>2️⃣ </a:t>
            </a:r>
            <a:r>
              <a:rPr lang="en-GB" sz="1400" spc="-16" dirty="0">
                <a:solidFill>
                  <a:srgbClr val="075985"/>
                </a:solidFill>
              </a:rPr>
              <a:t>"Wikipedia," 9 August 2025. [Online]. Available: </a:t>
            </a:r>
            <a:r>
              <a:rPr lang="en-GB" sz="1400" spc="-16" dirty="0">
                <a:solidFill>
                  <a:srgbClr val="075985"/>
                </a:solidFill>
                <a:hlinkClick r:id="rId3">
                  <a:extLst>
                    <a:ext uri="{A12FA001-AC4F-418D-AE19-62706E023703}">
                      <ahyp:hlinkClr xmlns:ahyp="http://schemas.microsoft.com/office/drawing/2018/hyperlinkcolor" val="tx"/>
                    </a:ext>
                  </a:extLst>
                </a:hlinkClick>
              </a:rPr>
              <a:t>https://en.wikipedia.org/wiki/Abstract_syntax_tree</a:t>
            </a:r>
            <a:r>
              <a:rPr lang="en-GB" sz="1400" spc="-16" dirty="0">
                <a:solidFill>
                  <a:srgbClr val="075985"/>
                </a:solidFill>
              </a:rPr>
              <a:t>.</a:t>
            </a:r>
          </a:p>
          <a:p>
            <a:r>
              <a:rPr lang="en-US" sz="1400" spc="-16" dirty="0">
                <a:solidFill>
                  <a:srgbClr val="075985"/>
                </a:solidFill>
              </a:rPr>
              <a:t>3️⃣ "</a:t>
            </a:r>
            <a:r>
              <a:rPr lang="en-US" sz="1400" spc="-16" dirty="0" err="1">
                <a:solidFill>
                  <a:srgbClr val="075985"/>
                </a:solidFill>
              </a:rPr>
              <a:t>Viblo</a:t>
            </a:r>
            <a:r>
              <a:rPr lang="en-US" sz="1400" spc="-16" dirty="0">
                <a:solidFill>
                  <a:srgbClr val="075985"/>
                </a:solidFill>
              </a:rPr>
              <a:t>," 2021. [Online]. Available: </a:t>
            </a:r>
            <a:r>
              <a:rPr lang="en-US" sz="1400" spc="-16" dirty="0">
                <a:solidFill>
                  <a:srgbClr val="075985"/>
                </a:solidFill>
                <a:hlinkClick r:id="rId4">
                  <a:extLst>
                    <a:ext uri="{A12FA001-AC4F-418D-AE19-62706E023703}">
                      <ahyp:hlinkClr xmlns:ahyp="http://schemas.microsoft.com/office/drawing/2018/hyperlinkcolor" val="tx"/>
                    </a:ext>
                  </a:extLst>
                </a:hlinkClick>
              </a:rPr>
              <a:t>https://viblo.asia/p/phan-tich-source-code-voi-shiftleft-ng-sast-yMnKM8nN57P</a:t>
            </a:r>
            <a:r>
              <a:rPr lang="en-US" sz="1400" spc="-16" dirty="0">
                <a:solidFill>
                  <a:srgbClr val="075985"/>
                </a:solidFill>
              </a:rPr>
              <a:t>.</a:t>
            </a:r>
          </a:p>
          <a:p>
            <a:r>
              <a:rPr lang="en-US" sz="1400" spc="-16" dirty="0">
                <a:solidFill>
                  <a:srgbClr val="075985"/>
                </a:solidFill>
              </a:rPr>
              <a:t>4️⃣ "Wikipedia," 2025. [Online]. Available: </a:t>
            </a:r>
            <a:r>
              <a:rPr lang="en-US" sz="1400" spc="-16" dirty="0">
                <a:solidFill>
                  <a:srgbClr val="075985"/>
                </a:solidFill>
                <a:hlinkClick r:id="rId5">
                  <a:extLst>
                    <a:ext uri="{A12FA001-AC4F-418D-AE19-62706E023703}">
                      <ahyp:hlinkClr xmlns:ahyp="http://schemas.microsoft.com/office/drawing/2018/hyperlinkcolor" val="tx"/>
                    </a:ext>
                  </a:extLst>
                </a:hlinkClick>
              </a:rPr>
              <a:t>https://en.wikipedia.org/wiki/Heuristic_(computer_science)</a:t>
            </a:r>
            <a:r>
              <a:rPr lang="en-US" sz="1400" spc="-16" dirty="0">
                <a:solidFill>
                  <a:srgbClr val="075985"/>
                </a:solidFill>
              </a:rPr>
              <a:t>.</a:t>
            </a:r>
          </a:p>
          <a:p>
            <a:r>
              <a:rPr lang="en-US" sz="1400" spc="-16" dirty="0">
                <a:solidFill>
                  <a:srgbClr val="075985"/>
                </a:solidFill>
              </a:rPr>
              <a:t>5️⃣ </a:t>
            </a:r>
            <a:r>
              <a:rPr lang="en-GB" sz="1400" spc="-16" dirty="0">
                <a:solidFill>
                  <a:srgbClr val="075985"/>
                </a:solidFill>
              </a:rPr>
              <a:t>"</a:t>
            </a:r>
            <a:r>
              <a:rPr lang="en-GB" sz="1400" spc="-16" dirty="0" err="1">
                <a:solidFill>
                  <a:srgbClr val="075985"/>
                </a:solidFill>
              </a:rPr>
              <a:t>Geeksforgeeks</a:t>
            </a:r>
            <a:r>
              <a:rPr lang="en-GB" sz="1400" spc="-16" dirty="0">
                <a:solidFill>
                  <a:srgbClr val="075985"/>
                </a:solidFill>
              </a:rPr>
              <a:t>," 23 July 2025. [Online]. Available: </a:t>
            </a:r>
            <a:r>
              <a:rPr lang="en-GB" sz="1400" spc="-16" dirty="0">
                <a:solidFill>
                  <a:srgbClr val="075985"/>
                </a:solidFill>
                <a:hlinkClick r:id="rId6">
                  <a:extLst>
                    <a:ext uri="{A12FA001-AC4F-418D-AE19-62706E023703}">
                      <ahyp:hlinkClr xmlns:ahyp="http://schemas.microsoft.com/office/drawing/2018/hyperlinkcolor" val="tx"/>
                    </a:ext>
                  </a:extLst>
                </a:hlinkClick>
              </a:rPr>
              <a:t>https://www.geeksforgeeks.org/python/fastapi-architecture/</a:t>
            </a:r>
            <a:r>
              <a:rPr lang="en-GB" sz="1400" spc="-16" dirty="0">
                <a:solidFill>
                  <a:srgbClr val="075985"/>
                </a:solidFill>
              </a:rPr>
              <a:t>.</a:t>
            </a:r>
          </a:p>
          <a:p>
            <a:r>
              <a:rPr lang="en-US" sz="1400" spc="-16" dirty="0">
                <a:solidFill>
                  <a:srgbClr val="075985"/>
                </a:solidFill>
              </a:rPr>
              <a:t>6️⃣ "Uptrace," 17 October 2024. [Online]. Available: </a:t>
            </a:r>
            <a:r>
              <a:rPr lang="en-US" sz="1400" spc="-16" dirty="0">
                <a:solidFill>
                  <a:srgbClr val="075985"/>
                </a:solidFill>
                <a:hlinkClick r:id="rId7">
                  <a:extLst>
                    <a:ext uri="{A12FA001-AC4F-418D-AE19-62706E023703}">
                      <ahyp:hlinkClr xmlns:ahyp="http://schemas.microsoft.com/office/drawing/2018/hyperlinkcolor" val="tx"/>
                    </a:ext>
                  </a:extLst>
                </a:hlinkClick>
              </a:rPr>
              <a:t>https://uptrace.dev/blog/python-fastapi</a:t>
            </a:r>
            <a:r>
              <a:rPr lang="en-US" sz="1400" spc="-16" dirty="0">
                <a:solidFill>
                  <a:srgbClr val="075985"/>
                </a:solidFill>
              </a:rPr>
              <a:t>.</a:t>
            </a:r>
          </a:p>
          <a:p>
            <a:r>
              <a:rPr lang="en-US" sz="1400" spc="-16" dirty="0">
                <a:solidFill>
                  <a:srgbClr val="075985"/>
                </a:solidFill>
              </a:rPr>
              <a:t>7️⃣ </a:t>
            </a:r>
            <a:r>
              <a:rPr lang="fi-FI" sz="1400" spc="-16" dirty="0">
                <a:solidFill>
                  <a:srgbClr val="075985"/>
                </a:solidFill>
              </a:rPr>
              <a:t>"Fastapi - Tiangolo," 2025. [Online]. Available: </a:t>
            </a:r>
            <a:r>
              <a:rPr lang="fi-FI" sz="1400" spc="-16" dirty="0">
                <a:solidFill>
                  <a:srgbClr val="075985"/>
                </a:solidFill>
                <a:hlinkClick r:id="rId8">
                  <a:extLst>
                    <a:ext uri="{A12FA001-AC4F-418D-AE19-62706E023703}">
                      <ahyp:hlinkClr xmlns:ahyp="http://schemas.microsoft.com/office/drawing/2018/hyperlinkcolor" val="tx"/>
                    </a:ext>
                  </a:extLst>
                </a:hlinkClick>
              </a:rPr>
              <a:t>https://fastapi.tiangolo.com/tutorial/bigger-applications/</a:t>
            </a:r>
            <a:r>
              <a:rPr lang="fi-FI" sz="1400" spc="-16" dirty="0">
                <a:solidFill>
                  <a:srgbClr val="075985"/>
                </a:solidFill>
              </a:rPr>
              <a:t>.</a:t>
            </a:r>
          </a:p>
          <a:p>
            <a:endParaRPr lang="fi-FI" sz="1400" dirty="0"/>
          </a:p>
          <a:p>
            <a:endParaRPr lang="en-US" sz="1400" dirty="0"/>
          </a:p>
          <a:p>
            <a:endParaRPr lang="en-GB" sz="1400" dirty="0"/>
          </a:p>
          <a:p>
            <a:endParaRPr lang="en-GB" sz="1400" dirty="0"/>
          </a:p>
          <a:p>
            <a:endParaRPr lang="en-GB" sz="1400" dirty="0"/>
          </a:p>
        </p:txBody>
      </p:sp>
      <p:sp>
        <p:nvSpPr>
          <p:cNvPr id="12" name="Title 4">
            <a:extLst>
              <a:ext uri="{FF2B5EF4-FFF2-40B4-BE49-F238E27FC236}">
                <a16:creationId xmlns:a16="http://schemas.microsoft.com/office/drawing/2014/main" id="{4968E5B5-ABDA-5F41-EA16-52F0DBD35426}"/>
              </a:ext>
            </a:extLst>
          </p:cNvPr>
          <p:cNvSpPr>
            <a:spLocks noGrp="1"/>
          </p:cNvSpPr>
          <p:nvPr>
            <p:ph type="title"/>
          </p:nvPr>
        </p:nvSpPr>
        <p:spPr>
          <a:xfrm>
            <a:off x="838200" y="285750"/>
            <a:ext cx="10515600" cy="752475"/>
          </a:xfrm>
        </p:spPr>
        <p:txBody>
          <a:bodyPr/>
          <a:lstStyle/>
          <a:p>
            <a:pPr>
              <a:lnSpc>
                <a:spcPct val="120000"/>
              </a:lnSpc>
              <a:spcBef>
                <a:spcPts val="0"/>
              </a:spcBef>
            </a:pPr>
            <a:r>
              <a:rPr lang="vi-VN" sz="2000" spc="100" dirty="0">
                <a:solidFill>
                  <a:schemeClr val="tx2"/>
                </a:solidFill>
                <a:latin typeface="Fz Poppins Black" pitchFamily="2" charset="0"/>
                <a:cs typeface="Fz Poppins Black" pitchFamily="2" charset="0"/>
              </a:rPr>
              <a:t>XÂY DỰNG CƠ CHẾ PHÁT HIỆN AI-GENERATED </a:t>
            </a:r>
            <a:br>
              <a:rPr lang="vi-VN" sz="2000" spc="100" dirty="0">
                <a:solidFill>
                  <a:schemeClr val="tx2"/>
                </a:solidFill>
                <a:latin typeface="Fz Poppins Black" pitchFamily="2" charset="0"/>
                <a:cs typeface="Fz Poppins Black" pitchFamily="2" charset="0"/>
              </a:rPr>
            </a:br>
            <a:r>
              <a:rPr lang="vi-VN" sz="2000" spc="100" dirty="0">
                <a:solidFill>
                  <a:schemeClr val="tx2"/>
                </a:solidFill>
                <a:latin typeface="Fz Poppins Black" pitchFamily="2" charset="0"/>
                <a:cs typeface="Fz Poppins Black" pitchFamily="2" charset="0"/>
              </a:rPr>
              <a:t>CODE TRONG BÀI TẬP LẬP TRÌNH SINH VIÊN</a:t>
            </a:r>
            <a:endParaRPr lang="en-US" sz="2000" spc="100" dirty="0">
              <a:solidFill>
                <a:schemeClr val="tx2"/>
              </a:solidFill>
              <a:latin typeface="Fz Poppins Black" pitchFamily="2" charset="0"/>
              <a:cs typeface="Fz Poppins Black" pitchFamily="2" charset="0"/>
            </a:endParaRPr>
          </a:p>
        </p:txBody>
      </p:sp>
    </p:spTree>
    <p:extLst>
      <p:ext uri="{BB962C8B-B14F-4D97-AF65-F5344CB8AC3E}">
        <p14:creationId xmlns:p14="http://schemas.microsoft.com/office/powerpoint/2010/main" val="317776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theme/theme1.xml><?xml version="1.0" encoding="utf-8"?>
<a:theme xmlns:a="http://schemas.openxmlformats.org/drawingml/2006/main" name="Main">
  <a:themeElements>
    <a:clrScheme name="Master">
      <a:dk1>
        <a:sysClr val="windowText" lastClr="000000"/>
      </a:dk1>
      <a:lt1>
        <a:sysClr val="window" lastClr="FFFFFF"/>
      </a:lt1>
      <a:dk2>
        <a:srgbClr val="075985"/>
      </a:dk2>
      <a:lt2>
        <a:srgbClr val="E7E6E6"/>
      </a:lt2>
      <a:accent1>
        <a:srgbClr val="4472C4"/>
      </a:accent1>
      <a:accent2>
        <a:srgbClr val="FF8225"/>
      </a:accent2>
      <a:accent3>
        <a:srgbClr val="FF334E"/>
      </a:accent3>
      <a:accent4>
        <a:srgbClr val="FFAF00"/>
      </a:accent4>
      <a:accent5>
        <a:srgbClr val="5AB2FF"/>
      </a:accent5>
      <a:accent6>
        <a:srgbClr val="77E4C8"/>
      </a:accent6>
      <a:hlink>
        <a:srgbClr val="8576FF"/>
      </a:hlink>
      <a:folHlink>
        <a:srgbClr val="FF8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ain">
  <a:themeElements>
    <a:clrScheme name="Master">
      <a:dk1>
        <a:sysClr val="windowText" lastClr="000000"/>
      </a:dk1>
      <a:lt1>
        <a:sysClr val="window" lastClr="FFFFFF"/>
      </a:lt1>
      <a:dk2>
        <a:srgbClr val="075985"/>
      </a:dk2>
      <a:lt2>
        <a:srgbClr val="E7E6E6"/>
      </a:lt2>
      <a:accent1>
        <a:srgbClr val="4472C4"/>
      </a:accent1>
      <a:accent2>
        <a:srgbClr val="FF8225"/>
      </a:accent2>
      <a:accent3>
        <a:srgbClr val="FF334E"/>
      </a:accent3>
      <a:accent4>
        <a:srgbClr val="FFAF00"/>
      </a:accent4>
      <a:accent5>
        <a:srgbClr val="5AB2FF"/>
      </a:accent5>
      <a:accent6>
        <a:srgbClr val="77E4C8"/>
      </a:accent6>
      <a:hlink>
        <a:srgbClr val="8576FF"/>
      </a:hlink>
      <a:folHlink>
        <a:srgbClr val="FF8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ain">
  <a:themeElements>
    <a:clrScheme name="Master">
      <a:dk1>
        <a:sysClr val="windowText" lastClr="000000"/>
      </a:dk1>
      <a:lt1>
        <a:sysClr val="window" lastClr="FFFFFF"/>
      </a:lt1>
      <a:dk2>
        <a:srgbClr val="075985"/>
      </a:dk2>
      <a:lt2>
        <a:srgbClr val="E7E6E6"/>
      </a:lt2>
      <a:accent1>
        <a:srgbClr val="4472C4"/>
      </a:accent1>
      <a:accent2>
        <a:srgbClr val="FF8225"/>
      </a:accent2>
      <a:accent3>
        <a:srgbClr val="FF334E"/>
      </a:accent3>
      <a:accent4>
        <a:srgbClr val="FFAF00"/>
      </a:accent4>
      <a:accent5>
        <a:srgbClr val="5AB2FF"/>
      </a:accent5>
      <a:accent6>
        <a:srgbClr val="77E4C8"/>
      </a:accent6>
      <a:hlink>
        <a:srgbClr val="8576FF"/>
      </a:hlink>
      <a:folHlink>
        <a:srgbClr val="FF8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728</TotalTime>
  <Words>3485</Words>
  <Application>Microsoft Office PowerPoint</Application>
  <PresentationFormat>Widescreen</PresentationFormat>
  <Paragraphs>294</Paragraphs>
  <Slides>38</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38</vt:i4>
      </vt:variant>
    </vt:vector>
  </HeadingPairs>
  <TitlesOfParts>
    <vt:vector size="49" baseType="lpstr">
      <vt:lpstr>Wingdings</vt:lpstr>
      <vt:lpstr>Fz Poppins Med</vt:lpstr>
      <vt:lpstr>Gadugi</vt:lpstr>
      <vt:lpstr>Arial</vt:lpstr>
      <vt:lpstr>Fz Poppins ExtBd</vt:lpstr>
      <vt:lpstr>Calibri</vt:lpstr>
      <vt:lpstr>Fz Poppins Black</vt:lpstr>
      <vt:lpstr>Fz Poppins SemBd</vt:lpstr>
      <vt:lpstr>Main</vt:lpstr>
      <vt:lpstr>1_Main</vt:lpstr>
      <vt:lpstr>2_Main</vt:lpstr>
      <vt:lpstr>PowerPoint Presentation</vt:lpstr>
      <vt:lpstr>TÓM TẮT NỘI DUNG</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lpstr>XÂY DỰNG CƠ CHẾ PHÁT HIỆN AI-GENERATED  CODE TRONG BÀI TẬP LẬP TRÌNH SINH VIÊN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 Pham</dc:creator>
  <cp:lastModifiedBy>Pham Huu Loc</cp:lastModifiedBy>
  <cp:revision>251</cp:revision>
  <dcterms:created xsi:type="dcterms:W3CDTF">2024-08-12T05:13:20Z</dcterms:created>
  <dcterms:modified xsi:type="dcterms:W3CDTF">2025-09-04T07:03:19Z</dcterms:modified>
</cp:coreProperties>
</file>